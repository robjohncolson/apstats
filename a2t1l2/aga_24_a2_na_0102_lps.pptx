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8" r:id="rId3"/>
    <p:sldId id="263" r:id="rId4"/>
    <p:sldId id="275" r:id="rId5"/>
    <p:sldId id="276" r:id="rId6"/>
    <p:sldId id="277" r:id="rId7"/>
    <p:sldId id="278" r:id="rId8"/>
    <p:sldId id="279" r:id="rId9"/>
    <p:sldId id="280" r:id="rId10"/>
    <p:sldId id="289" r:id="rId11"/>
    <p:sldId id="282" r:id="rId12"/>
    <p:sldId id="290" r:id="rId13"/>
    <p:sldId id="284" r:id="rId14"/>
    <p:sldId id="295" r:id="rId15"/>
    <p:sldId id="285" r:id="rId16"/>
    <p:sldId id="286" r:id="rId17"/>
    <p:sldId id="296" r:id="rId18"/>
    <p:sldId id="288" r:id="rId19"/>
    <p:sldId id="291" r:id="rId20"/>
    <p:sldId id="297" r:id="rId21"/>
    <p:sldId id="293" r:id="rId22"/>
    <p:sldId id="283" r:id="rId23"/>
    <p:sldId id="294" r:id="rId24"/>
    <p:sldId id="298" r:id="rId25"/>
    <p:sldId id="273" r:id="rId26"/>
    <p:sldId id="274" r:id="rId27"/>
  </p:sldIdLst>
  <p:sldSz cx="9144000" cy="6858000" type="screen4x3"/>
  <p:notesSz cx="6858000" cy="9144000"/>
  <p:embeddedFontLst>
    <p:embeddedFont>
      <p:font typeface="Calibri" panose="020F050202020403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2">
          <p15:clr>
            <a:srgbClr val="9AA0A6"/>
          </p15:clr>
        </p15:guide>
        <p15:guide id="2" pos="2880">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uBirG7ZPSvPNLrAnDSwPhBAMD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2B31"/>
    <a:srgbClr val="256BB9"/>
    <a:srgbClr val="D92B30"/>
    <a:srgbClr val="168446"/>
    <a:srgbClr val="C02B43"/>
    <a:srgbClr val="90057A"/>
    <a:srgbClr val="0A7E97"/>
    <a:srgbClr val="58595B"/>
    <a:srgbClr val="137F97"/>
    <a:srgbClr val="5858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4541"/>
  </p:normalViewPr>
  <p:slideViewPr>
    <p:cSldViewPr snapToGrid="0">
      <p:cViewPr varScale="1">
        <p:scale>
          <a:sx n="119" d="100"/>
          <a:sy n="119" d="100"/>
        </p:scale>
        <p:origin x="880" y="192"/>
      </p:cViewPr>
      <p:guideLst>
        <p:guide orient="horz" pos="302"/>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109394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extLst>
      <p:ext uri="{BB962C8B-B14F-4D97-AF65-F5344CB8AC3E}">
        <p14:creationId xmlns:p14="http://schemas.microsoft.com/office/powerpoint/2010/main" val="725595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317085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3772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85475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2001657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887122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1232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extLst>
      <p:ext uri="{BB962C8B-B14F-4D97-AF65-F5344CB8AC3E}">
        <p14:creationId xmlns:p14="http://schemas.microsoft.com/office/powerpoint/2010/main" val="2781563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2781563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344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extLst>
      <p:ext uri="{BB962C8B-B14F-4D97-AF65-F5344CB8AC3E}">
        <p14:creationId xmlns:p14="http://schemas.microsoft.com/office/powerpoint/2010/main" val="1020331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extLst>
      <p:ext uri="{BB962C8B-B14F-4D97-AF65-F5344CB8AC3E}">
        <p14:creationId xmlns:p14="http://schemas.microsoft.com/office/powerpoint/2010/main" val="10203310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extLst>
      <p:ext uri="{BB962C8B-B14F-4D97-AF65-F5344CB8AC3E}">
        <p14:creationId xmlns:p14="http://schemas.microsoft.com/office/powerpoint/2010/main" val="1020331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extLst>
      <p:ext uri="{BB962C8B-B14F-4D97-AF65-F5344CB8AC3E}">
        <p14:creationId xmlns:p14="http://schemas.microsoft.com/office/powerpoint/2010/main" val="21725658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0ebb404171_0_1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10ebb404171_0_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10ebb404171_0_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extLst>
      <p:ext uri="{BB962C8B-B14F-4D97-AF65-F5344CB8AC3E}">
        <p14:creationId xmlns:p14="http://schemas.microsoft.com/office/powerpoint/2010/main" val="3390440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7" name="Google Shape;175;g10ebb404171_0_179">
            <a:extLst>
              <a:ext uri="{FF2B5EF4-FFF2-40B4-BE49-F238E27FC236}">
                <a16:creationId xmlns:a16="http://schemas.microsoft.com/office/drawing/2014/main" id="{FD3CDB3A-FFC8-B14A-BE88-DC4557E54454}"/>
              </a:ext>
            </a:extLst>
          </p:cNvPr>
          <p:cNvSpPr/>
          <p:nvPr userDrawn="1"/>
        </p:nvSpPr>
        <p:spPr>
          <a:xfrm>
            <a:off x="0" y="6352925"/>
            <a:ext cx="9153300" cy="505200"/>
          </a:xfrm>
          <a:prstGeom prst="rect">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178;g10ebb404171_0_179">
            <a:extLst>
              <a:ext uri="{FF2B5EF4-FFF2-40B4-BE49-F238E27FC236}">
                <a16:creationId xmlns:a16="http://schemas.microsoft.com/office/drawing/2014/main" id="{C23092A7-FD2F-7848-A40F-9A3A2B4511CD}"/>
              </a:ext>
            </a:extLst>
          </p:cNvPr>
          <p:cNvSpPr/>
          <p:nvPr userDrawn="1"/>
        </p:nvSpPr>
        <p:spPr>
          <a:xfrm>
            <a:off x="276474" y="6581700"/>
            <a:ext cx="8622900" cy="221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800" dirty="0">
                <a:solidFill>
                  <a:srgbClr val="595959"/>
                </a:solidFill>
                <a:latin typeface="Arial" panose="020B0604020202020204" pitchFamily="34" charset="0"/>
                <a:ea typeface="Avenir"/>
                <a:cs typeface="Arial" panose="020B0604020202020204" pitchFamily="34" charset="0"/>
                <a:sym typeface="Avenir"/>
              </a:rPr>
              <a:t>Copyright © </a:t>
            </a:r>
            <a:r>
              <a:rPr lang="en-US" sz="800" dirty="0" err="1">
                <a:solidFill>
                  <a:srgbClr val="595959"/>
                </a:solidFill>
                <a:latin typeface="Arial" panose="020B0604020202020204" pitchFamily="34" charset="0"/>
                <a:ea typeface="Avenir"/>
                <a:cs typeface="Arial" panose="020B0604020202020204" pitchFamily="34" charset="0"/>
                <a:sym typeface="Avenir"/>
              </a:rPr>
              <a:t>Savvas</a:t>
            </a:r>
            <a:r>
              <a:rPr lang="en-US" sz="800" dirty="0">
                <a:solidFill>
                  <a:srgbClr val="595959"/>
                </a:solidFill>
                <a:latin typeface="Arial" panose="020B0604020202020204" pitchFamily="34" charset="0"/>
                <a:ea typeface="Avenir"/>
                <a:cs typeface="Arial" panose="020B0604020202020204" pitchFamily="34" charset="0"/>
                <a:sym typeface="Avenir"/>
              </a:rPr>
              <a:t> Learning Company LLC. All Rights Reserved. </a:t>
            </a:r>
            <a:r>
              <a:rPr lang="en-US" sz="800" dirty="0" err="1">
                <a:solidFill>
                  <a:srgbClr val="595959"/>
                </a:solidFill>
                <a:latin typeface="Arial" panose="020B0604020202020204" pitchFamily="34" charset="0"/>
                <a:ea typeface="Avenir"/>
                <a:cs typeface="Arial" panose="020B0604020202020204" pitchFamily="34" charset="0"/>
                <a:sym typeface="Avenir"/>
              </a:rPr>
              <a:t>Savvas</a:t>
            </a:r>
            <a:r>
              <a:rPr lang="en-US" sz="800" dirty="0">
                <a:solidFill>
                  <a:srgbClr val="595959"/>
                </a:solidFill>
                <a:latin typeface="Arial" panose="020B0604020202020204" pitchFamily="34" charset="0"/>
                <a:ea typeface="Avenir"/>
                <a:cs typeface="Arial" panose="020B0604020202020204" pitchFamily="34" charset="0"/>
                <a:sym typeface="Avenir"/>
              </a:rPr>
              <a:t> is not responsible for any modifications made by end users to the content posted in its original format.</a:t>
            </a:r>
            <a:endParaRPr sz="800" dirty="0">
              <a:solidFill>
                <a:srgbClr val="595959"/>
              </a:solidFill>
              <a:latin typeface="Arial" panose="020B0604020202020204" pitchFamily="34" charset="0"/>
              <a:ea typeface="Avenir"/>
              <a:cs typeface="Arial" panose="020B0604020202020204" pitchFamily="34" charset="0"/>
              <a:sym typeface="Avenir"/>
            </a:endParaRPr>
          </a:p>
        </p:txBody>
      </p:sp>
      <p:sp>
        <p:nvSpPr>
          <p:cNvPr id="11" name="Google Shape;174;g10ebb404171_0_179">
            <a:extLst>
              <a:ext uri="{FF2B5EF4-FFF2-40B4-BE49-F238E27FC236}">
                <a16:creationId xmlns:a16="http://schemas.microsoft.com/office/drawing/2014/main" id="{4D281886-AC8C-2540-8EB7-87D378C9FD2A}"/>
              </a:ext>
            </a:extLst>
          </p:cNvPr>
          <p:cNvSpPr/>
          <p:nvPr userDrawn="1"/>
        </p:nvSpPr>
        <p:spPr>
          <a:xfrm rot="10800000">
            <a:off x="7760700" y="-1000"/>
            <a:ext cx="1392600" cy="270300"/>
          </a:xfrm>
          <a:prstGeom prst="round1Rect">
            <a:avLst>
              <a:gd name="adj" fmla="val 16667"/>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77;g10ebb404171_0_179">
            <a:extLst>
              <a:ext uri="{FF2B5EF4-FFF2-40B4-BE49-F238E27FC236}">
                <a16:creationId xmlns:a16="http://schemas.microsoft.com/office/drawing/2014/main" id="{0822B5BD-E7E2-F744-9194-3BF22C6BC3BF}"/>
              </a:ext>
            </a:extLst>
          </p:cNvPr>
          <p:cNvSpPr/>
          <p:nvPr userDrawn="1"/>
        </p:nvSpPr>
        <p:spPr>
          <a:xfrm>
            <a:off x="0" y="-1000"/>
            <a:ext cx="7757700" cy="135300"/>
          </a:xfrm>
          <a:prstGeom prst="rect">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76;g10ebb404171_0_179">
            <a:extLst>
              <a:ext uri="{FF2B5EF4-FFF2-40B4-BE49-F238E27FC236}">
                <a16:creationId xmlns:a16="http://schemas.microsoft.com/office/drawing/2014/main" id="{A4833768-1218-5848-AC2B-00F2790F9ED5}"/>
              </a:ext>
            </a:extLst>
          </p:cNvPr>
          <p:cNvSpPr/>
          <p:nvPr userDrawn="1"/>
        </p:nvSpPr>
        <p:spPr>
          <a:xfrm>
            <a:off x="7787175" y="81349"/>
            <a:ext cx="1366125" cy="18795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de-DE" sz="1000" b="1" i="0" u="none" strike="noStrike" cap="none" dirty="0">
                <a:solidFill>
                  <a:schemeClr val="lt1"/>
                </a:solidFill>
                <a:latin typeface="Arial"/>
                <a:ea typeface="Arial"/>
                <a:cs typeface="Arial"/>
                <a:sym typeface="Arial"/>
              </a:rPr>
              <a:t>Topic 1  </a:t>
            </a:r>
            <a:r>
              <a:rPr lang="de-DE" sz="1000" b="0" i="0" u="none" strike="noStrike" cap="none" dirty="0" err="1">
                <a:solidFill>
                  <a:schemeClr val="lt1"/>
                </a:solidFill>
                <a:latin typeface="Arial"/>
                <a:ea typeface="Arial"/>
                <a:cs typeface="Arial"/>
                <a:sym typeface="Arial"/>
              </a:rPr>
              <a:t>Lesson</a:t>
            </a:r>
            <a:r>
              <a:rPr lang="de-DE" sz="1000" b="0" i="0" u="none" strike="noStrike" cap="none" dirty="0">
                <a:solidFill>
                  <a:schemeClr val="lt1"/>
                </a:solidFill>
                <a:latin typeface="Arial"/>
                <a:ea typeface="Arial"/>
                <a:cs typeface="Arial"/>
                <a:sym typeface="Arial"/>
              </a:rPr>
              <a:t> 2</a:t>
            </a: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3" name="TextBox 2">
            <a:extLst>
              <a:ext uri="{FF2B5EF4-FFF2-40B4-BE49-F238E27FC236}">
                <a16:creationId xmlns:a16="http://schemas.microsoft.com/office/drawing/2014/main" id="{A0A69635-3DB8-9F4E-A50E-054B36AB8B4A}"/>
              </a:ext>
            </a:extLst>
          </p:cNvPr>
          <p:cNvSpPr txBox="1"/>
          <p:nvPr/>
        </p:nvSpPr>
        <p:spPr>
          <a:xfrm>
            <a:off x="353868" y="329857"/>
            <a:ext cx="6844374" cy="400110"/>
          </a:xfrm>
          <a:prstGeom prst="rect">
            <a:avLst/>
          </a:prstGeom>
          <a:noFill/>
        </p:spPr>
        <p:txBody>
          <a:bodyPr wrap="square" rtlCol="0">
            <a:spAutoFit/>
          </a:bodyPr>
          <a:lstStyle/>
          <a:p>
            <a:r>
              <a:rPr lang="en-US" sz="2000" b="1" dirty="0">
                <a:solidFill>
                  <a:srgbClr val="206AAA"/>
                </a:solidFill>
              </a:rPr>
              <a:t>Transformations of Functions</a:t>
            </a:r>
            <a:endParaRPr lang="en-IN" sz="2000" dirty="0">
              <a:solidFill>
                <a:srgbClr val="206AAA"/>
              </a:solidFill>
            </a:endParaRPr>
          </a:p>
        </p:txBody>
      </p:sp>
      <p:sp>
        <p:nvSpPr>
          <p:cNvPr id="29" name="Rounded Rectangle 28">
            <a:extLst>
              <a:ext uri="{FF2B5EF4-FFF2-40B4-BE49-F238E27FC236}">
                <a16:creationId xmlns:a16="http://schemas.microsoft.com/office/drawing/2014/main" id="{06EE5264-7408-674B-8BDC-744261C90E89}"/>
              </a:ext>
            </a:extLst>
          </p:cNvPr>
          <p:cNvSpPr/>
          <p:nvPr/>
        </p:nvSpPr>
        <p:spPr>
          <a:xfrm>
            <a:off x="445055" y="815611"/>
            <a:ext cx="7920000" cy="812298"/>
          </a:xfrm>
          <a:prstGeom prst="roundRect">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en-IN" sz="1800" b="1" dirty="0">
                <a:solidFill>
                  <a:srgbClr val="256BB9"/>
                </a:solidFill>
              </a:rPr>
              <a:t>I CAN…</a:t>
            </a:r>
            <a:endParaRPr lang="en-IN" sz="1800" dirty="0">
              <a:solidFill>
                <a:srgbClr val="256BB9"/>
              </a:solidFill>
            </a:endParaRPr>
          </a:p>
          <a:p>
            <a:r>
              <a:rPr lang="en-US" sz="1600" dirty="0">
                <a:solidFill>
                  <a:schemeClr val="tx1"/>
                </a:solidFill>
                <a:latin typeface="Arial" panose="020B0604020202020204" pitchFamily="34" charset="0"/>
                <a:cs typeface="Arial" panose="020B0604020202020204" pitchFamily="34" charset="0"/>
              </a:rPr>
              <a:t>apply transformations to graph functions and write equations.</a:t>
            </a:r>
            <a:endParaRPr lang="en-IN" sz="1600" dirty="0">
              <a:solidFill>
                <a:schemeClr val="tx1"/>
              </a:solidFill>
              <a:latin typeface="Arial" panose="020B0604020202020204" pitchFamily="34" charset="0"/>
              <a:cs typeface="Arial" panose="020B0604020202020204" pitchFamily="34" charset="0"/>
            </a:endParaRPr>
          </a:p>
        </p:txBody>
      </p:sp>
      <p:sp>
        <p:nvSpPr>
          <p:cNvPr id="6" name="Rounded Rectangle 5">
            <a:extLst>
              <a:ext uri="{FF2B5EF4-FFF2-40B4-BE49-F238E27FC236}">
                <a16:creationId xmlns:a16="http://schemas.microsoft.com/office/drawing/2014/main" id="{EBF565AE-266A-5840-8C1E-2C6220422C7A}"/>
              </a:ext>
            </a:extLst>
          </p:cNvPr>
          <p:cNvSpPr/>
          <p:nvPr/>
        </p:nvSpPr>
        <p:spPr>
          <a:xfrm>
            <a:off x="445055" y="1805255"/>
            <a:ext cx="7920000" cy="1854511"/>
          </a:xfrm>
          <a:prstGeom prst="roundRect">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en-IN" sz="1800" b="1" dirty="0">
                <a:solidFill>
                  <a:srgbClr val="90057A"/>
                </a:solidFill>
              </a:rPr>
              <a:t>VOCABULARY</a:t>
            </a:r>
          </a:p>
          <a:p>
            <a:pPr marL="180000" indent="-180000">
              <a:spcAft>
                <a:spcPts val="3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compression</a:t>
            </a:r>
          </a:p>
          <a:p>
            <a:pPr marL="180000" indent="-180000">
              <a:spcAft>
                <a:spcPts val="3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reflection</a:t>
            </a:r>
          </a:p>
          <a:p>
            <a:pPr marL="180000" indent="-180000">
              <a:spcAft>
                <a:spcPts val="3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stretch</a:t>
            </a:r>
          </a:p>
          <a:p>
            <a:pPr marL="180000" indent="-180000">
              <a:spcAft>
                <a:spcPts val="3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transformation</a:t>
            </a:r>
          </a:p>
          <a:p>
            <a:pPr marL="180000" indent="-180000">
              <a:spcAft>
                <a:spcPts val="3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translation</a:t>
            </a:r>
            <a:endParaRPr lang="en-IN" sz="1600"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0" name="TextBox 9">
            <a:extLst>
              <a:ext uri="{FF2B5EF4-FFF2-40B4-BE49-F238E27FC236}">
                <a16:creationId xmlns:a16="http://schemas.microsoft.com/office/drawing/2014/main" id="{5E033CF7-964E-904E-B8F6-4DC8B0D5C047}"/>
              </a:ext>
            </a:extLst>
          </p:cNvPr>
          <p:cNvSpPr txBox="1"/>
          <p:nvPr/>
        </p:nvSpPr>
        <p:spPr>
          <a:xfrm>
            <a:off x="355758" y="765706"/>
            <a:ext cx="8403231" cy="338554"/>
          </a:xfrm>
          <a:prstGeom prst="rect">
            <a:avLst/>
          </a:prstGeom>
          <a:noFill/>
        </p:spPr>
        <p:txBody>
          <a:bodyPr wrap="square" rtlCol="0">
            <a:spAutoFit/>
          </a:bodyPr>
          <a:lstStyle/>
          <a:p>
            <a:r>
              <a:rPr lang="en-US" sz="1600" b="1" dirty="0">
                <a:solidFill>
                  <a:schemeClr val="tx1"/>
                </a:solidFill>
              </a:rPr>
              <a:t>The graph of the function </a:t>
            </a:r>
            <a:r>
              <a:rPr lang="en-US" sz="1600" b="1" i="1" dirty="0">
                <a:solidFill>
                  <a:schemeClr val="tx1"/>
                </a:solidFill>
              </a:rPr>
              <a:t>f</a:t>
            </a:r>
            <a:r>
              <a:rPr lang="en-US" sz="1600" b="1" dirty="0">
                <a:solidFill>
                  <a:schemeClr val="tx1"/>
                </a:solidFill>
              </a:rPr>
              <a:t>(</a:t>
            </a:r>
            <a:r>
              <a:rPr lang="en-US" sz="1600" b="1" i="1" dirty="0">
                <a:solidFill>
                  <a:schemeClr val="tx1"/>
                </a:solidFill>
              </a:rPr>
              <a:t>x</a:t>
            </a:r>
            <a:r>
              <a:rPr lang="en-US" sz="1600" b="1" dirty="0">
                <a:solidFill>
                  <a:schemeClr val="tx1"/>
                </a:solidFill>
              </a:rPr>
              <a:t>) = ∣</a:t>
            </a:r>
            <a:r>
              <a:rPr lang="en-US" sz="1600" b="1" i="1" dirty="0">
                <a:solidFill>
                  <a:schemeClr val="tx1"/>
                </a:solidFill>
              </a:rPr>
              <a:t>x</a:t>
            </a:r>
            <a:r>
              <a:rPr lang="en-US" sz="1600" b="1" dirty="0">
                <a:solidFill>
                  <a:schemeClr val="tx1"/>
                </a:solidFill>
              </a:rPr>
              <a:t>∣ is shown.</a:t>
            </a:r>
            <a:endParaRPr lang="en-IN" sz="1600" b="1" dirty="0">
              <a:solidFill>
                <a:schemeClr val="tx1"/>
              </a:solidFill>
            </a:endParaRPr>
          </a:p>
        </p:txBody>
      </p:sp>
      <p:sp>
        <p:nvSpPr>
          <p:cNvPr id="8" name="TextBox 7">
            <a:extLst>
              <a:ext uri="{FF2B5EF4-FFF2-40B4-BE49-F238E27FC236}">
                <a16:creationId xmlns:a16="http://schemas.microsoft.com/office/drawing/2014/main" id="{34546DB7-47C6-1448-8CE9-C4BBBB4A73B5}"/>
              </a:ext>
            </a:extLst>
          </p:cNvPr>
          <p:cNvSpPr txBox="1"/>
          <p:nvPr/>
        </p:nvSpPr>
        <p:spPr>
          <a:xfrm>
            <a:off x="355757" y="1175237"/>
            <a:ext cx="8321210" cy="3000821"/>
          </a:xfrm>
          <a:prstGeom prst="rect">
            <a:avLst/>
          </a:prstGeom>
          <a:noFill/>
        </p:spPr>
        <p:txBody>
          <a:bodyPr wrap="square" rtlCol="0">
            <a:spAutoFit/>
          </a:bodyPr>
          <a:lstStyle/>
          <a:p>
            <a:pPr marL="360000" indent="-360000">
              <a:spcAft>
                <a:spcPts val="14400"/>
              </a:spcAft>
              <a:buClr>
                <a:schemeClr val="tx1"/>
              </a:buClr>
              <a:buSzPct val="100000"/>
              <a:buFont typeface="+mj-lt"/>
              <a:buAutoNum type="alphaUcPeriod"/>
            </a:pPr>
            <a:r>
              <a:rPr lang="en-IN" sz="1600" b="1" dirty="0">
                <a:solidFill>
                  <a:schemeClr val="tx1"/>
                </a:solidFill>
              </a:rPr>
              <a:t>​</a:t>
            </a:r>
            <a:r>
              <a:rPr lang="en-US" sz="1600" dirty="0">
                <a:solidFill>
                  <a:schemeClr val="tx1"/>
                </a:solidFill>
              </a:rPr>
              <a:t>Graph the function </a:t>
            </a:r>
            <a:r>
              <a:rPr lang="en-US" sz="1600" i="1" dirty="0">
                <a:solidFill>
                  <a:schemeClr val="tx1"/>
                </a:solidFill>
              </a:rPr>
              <a:t>g</a:t>
            </a:r>
            <a:r>
              <a:rPr lang="en-US" sz="1600" dirty="0">
                <a:solidFill>
                  <a:schemeClr val="tx1"/>
                </a:solidFill>
              </a:rPr>
              <a:t>(</a:t>
            </a:r>
            <a:r>
              <a:rPr lang="en-US" sz="1600" i="1" dirty="0">
                <a:solidFill>
                  <a:schemeClr val="tx1"/>
                </a:solidFill>
              </a:rPr>
              <a:t>x</a:t>
            </a:r>
            <a:r>
              <a:rPr lang="en-US" sz="1600" dirty="0">
                <a:solidFill>
                  <a:schemeClr val="tx1"/>
                </a:solidFill>
              </a:rPr>
              <a:t>) = ∣</a:t>
            </a:r>
            <a:r>
              <a:rPr lang="en-US" sz="1600" i="1" dirty="0">
                <a:solidFill>
                  <a:schemeClr val="tx1"/>
                </a:solidFill>
              </a:rPr>
              <a:t>x</a:t>
            </a:r>
            <a:r>
              <a:rPr lang="en-US" sz="1600" dirty="0">
                <a:solidFill>
                  <a:schemeClr val="tx1"/>
                </a:solidFill>
              </a:rPr>
              <a:t> + </a:t>
            </a:r>
            <a:r>
              <a:rPr lang="en-US" sz="1600" i="1" dirty="0">
                <a:solidFill>
                  <a:schemeClr val="tx1"/>
                </a:solidFill>
              </a:rPr>
              <a:t>c</a:t>
            </a:r>
            <a:r>
              <a:rPr lang="en-US" sz="1600" dirty="0">
                <a:solidFill>
                  <a:schemeClr val="tx1"/>
                </a:solidFill>
              </a:rPr>
              <a:t>∣ several times with different values for </a:t>
            </a:r>
            <a:r>
              <a:rPr lang="en-US" sz="1600" i="1" dirty="0">
                <a:solidFill>
                  <a:schemeClr val="tx1"/>
                </a:solidFill>
              </a:rPr>
              <a:t>c</a:t>
            </a:r>
            <a:r>
              <a:rPr lang="en-US" sz="1600" dirty="0">
                <a:solidFill>
                  <a:schemeClr val="tx1"/>
                </a:solidFill>
              </a:rPr>
              <a:t> (any value from −5 to 5).</a:t>
            </a:r>
          </a:p>
          <a:p>
            <a:pPr marL="360000" indent="-360000">
              <a:spcAft>
                <a:spcPts val="600"/>
              </a:spcAft>
              <a:buClr>
                <a:schemeClr val="tx1"/>
              </a:buClr>
              <a:buSzPct val="100000"/>
              <a:buFont typeface="+mj-lt"/>
              <a:buAutoNum type="alphaUcPeriod"/>
            </a:pPr>
            <a:r>
              <a:rPr lang="en-IN" sz="1600" b="1" dirty="0">
                <a:solidFill>
                  <a:schemeClr val="tx1"/>
                </a:solidFill>
              </a:rPr>
              <a:t>​</a:t>
            </a:r>
            <a:r>
              <a:rPr lang="en-US" sz="1600" b="1" dirty="0">
                <a:solidFill>
                  <a:srgbClr val="C02B43"/>
                </a:solidFill>
              </a:rPr>
              <a:t>Look for Relationships </a:t>
            </a:r>
            <a:r>
              <a:rPr lang="en-US" sz="1600" dirty="0">
                <a:solidFill>
                  <a:schemeClr val="tx1"/>
                </a:solidFill>
              </a:rPr>
              <a:t>Predict what will happen to the graph if </a:t>
            </a:r>
            <a:r>
              <a:rPr lang="en-US" sz="1600" i="1" dirty="0">
                <a:solidFill>
                  <a:schemeClr val="tx1"/>
                </a:solidFill>
              </a:rPr>
              <a:t>c</a:t>
            </a:r>
            <a:r>
              <a:rPr lang="en-US" sz="1600" dirty="0">
                <a:solidFill>
                  <a:schemeClr val="tx1"/>
                </a:solidFill>
              </a:rPr>
              <a:t> is a number</a:t>
            </a:r>
          </a:p>
          <a:p>
            <a:pPr marL="360000" indent="-360000">
              <a:spcAft>
                <a:spcPts val="600"/>
              </a:spcAft>
              <a:buClr>
                <a:schemeClr val="tx1"/>
              </a:buClr>
              <a:buSzPct val="100000"/>
            </a:pPr>
            <a:r>
              <a:rPr lang="en-US" sz="1600" dirty="0">
                <a:solidFill>
                  <a:schemeClr val="tx1"/>
                </a:solidFill>
              </a:rPr>
              <a:t>	greater than 100. What if </a:t>
            </a:r>
            <a:r>
              <a:rPr lang="en-US" sz="1600" i="1" dirty="0">
                <a:solidFill>
                  <a:schemeClr val="tx1"/>
                </a:solidFill>
              </a:rPr>
              <a:t>c</a:t>
            </a:r>
            <a:r>
              <a:rPr lang="en-US" sz="1600" dirty="0">
                <a:solidFill>
                  <a:schemeClr val="tx1"/>
                </a:solidFill>
              </a:rPr>
              <a:t> is a number between 0 and</a:t>
            </a:r>
            <a:endParaRPr lang="en-IN" sz="1600" dirty="0">
              <a:solidFill>
                <a:schemeClr val="tx1"/>
              </a:solidFill>
            </a:endParaRPr>
          </a:p>
        </p:txBody>
      </p:sp>
      <p:sp>
        <p:nvSpPr>
          <p:cNvPr id="7" name="Rectangle 6">
            <a:extLst>
              <a:ext uri="{FF2B5EF4-FFF2-40B4-BE49-F238E27FC236}">
                <a16:creationId xmlns:a16="http://schemas.microsoft.com/office/drawing/2014/main" id="{FAF09BFE-0C3C-E84B-9556-A66F805E246C}"/>
              </a:ext>
            </a:extLst>
          </p:cNvPr>
          <p:cNvSpPr/>
          <p:nvPr/>
        </p:nvSpPr>
        <p:spPr>
          <a:xfrm>
            <a:off x="452745" y="458341"/>
            <a:ext cx="2569129"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dirty="0">
                <a:solidFill>
                  <a:schemeClr val="bg1"/>
                </a:solidFill>
                <a:latin typeface="Arial" panose="020B0604020202020204" pitchFamily="34" charset="0"/>
                <a:cs typeface="Arial" panose="020B0604020202020204" pitchFamily="34" charset="0"/>
              </a:rPr>
              <a:t>EXPLORE &amp; REASON</a:t>
            </a:r>
            <a:endParaRPr lang="en-US" sz="1800" dirty="0">
              <a:latin typeface="Arial" panose="020B0604020202020204" pitchFamily="34" charset="0"/>
              <a:cs typeface="Arial" panose="020B0604020202020204" pitchFamily="34" charset="0"/>
            </a:endParaRPr>
          </a:p>
        </p:txBody>
      </p:sp>
      <p:pic>
        <p:nvPicPr>
          <p:cNvPr id="12" name="Picture 11"/>
          <p:cNvPicPr>
            <a:picLocks noChangeAspect="1"/>
          </p:cNvPicPr>
          <p:nvPr/>
        </p:nvPicPr>
        <p:blipFill>
          <a:blip r:embed="rId3"/>
          <a:stretch>
            <a:fillRect/>
          </a:stretch>
        </p:blipFill>
        <p:spPr>
          <a:xfrm>
            <a:off x="5755351" y="3774269"/>
            <a:ext cx="323969" cy="509094"/>
          </a:xfrm>
          <a:prstGeom prst="rect">
            <a:avLst/>
          </a:prstGeom>
        </p:spPr>
      </p:pic>
      <p:pic>
        <p:nvPicPr>
          <p:cNvPr id="4" name="Picture 3">
            <a:extLst>
              <a:ext uri="{FF2B5EF4-FFF2-40B4-BE49-F238E27FC236}">
                <a16:creationId xmlns:a16="http://schemas.microsoft.com/office/drawing/2014/main" id="{9468A865-7826-1360-BE64-8864DF2770FC}"/>
              </a:ext>
            </a:extLst>
          </p:cNvPr>
          <p:cNvPicPr>
            <a:picLocks noChangeAspect="1"/>
          </p:cNvPicPr>
          <p:nvPr/>
        </p:nvPicPr>
        <p:blipFill>
          <a:blip r:embed="rId4"/>
          <a:stretch>
            <a:fillRect/>
          </a:stretch>
        </p:blipFill>
        <p:spPr>
          <a:xfrm>
            <a:off x="607652" y="1617872"/>
            <a:ext cx="2373284" cy="1939197"/>
          </a:xfrm>
          <a:prstGeom prst="rect">
            <a:avLst/>
          </a:prstGeom>
        </p:spPr>
      </p:pic>
    </p:spTree>
    <p:extLst>
      <p:ext uri="{BB962C8B-B14F-4D97-AF65-F5344CB8AC3E}">
        <p14:creationId xmlns:p14="http://schemas.microsoft.com/office/powerpoint/2010/main" val="1747861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069A29FC-C154-9D4D-B7D9-3B00886A339A}"/>
              </a:ext>
            </a:extLst>
          </p:cNvPr>
          <p:cNvGraphicFramePr>
            <a:graphicFrameLocks noGrp="1"/>
          </p:cNvGraphicFramePr>
          <p:nvPr>
            <p:extLst>
              <p:ext uri="{D42A27DB-BD31-4B8C-83A1-F6EECF244321}">
                <p14:modId xmlns:p14="http://schemas.microsoft.com/office/powerpoint/2010/main" val="1373633660"/>
              </p:ext>
            </p:extLst>
          </p:nvPr>
        </p:nvGraphicFramePr>
        <p:xfrm>
          <a:off x="464125" y="461818"/>
          <a:ext cx="8222675" cy="1036782"/>
        </p:xfrm>
        <a:graphic>
          <a:graphicData uri="http://schemas.openxmlformats.org/drawingml/2006/table">
            <a:tbl>
              <a:tblPr bandRow="1">
                <a:tableStyleId>{5C22544A-7EE6-4342-B048-85BDC9FD1C3A}</a:tableStyleId>
              </a:tblPr>
              <a:tblGrid>
                <a:gridCol w="8222675">
                  <a:extLst>
                    <a:ext uri="{9D8B030D-6E8A-4147-A177-3AD203B41FA5}">
                      <a16:colId xmlns:a16="http://schemas.microsoft.com/office/drawing/2014/main" val="2383579709"/>
                    </a:ext>
                  </a:extLst>
                </a:gridCol>
              </a:tblGrid>
              <a:tr h="40473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1" cap="all" baseline="0" dirty="0">
                          <a:solidFill>
                            <a:schemeClr val="bg1"/>
                          </a:solidFill>
                          <a:latin typeface="Arial" panose="020B0604020202020204" pitchFamily="34" charset="0"/>
                          <a:cs typeface="Arial" panose="020B0604020202020204" pitchFamily="34" charset="0"/>
                        </a:rPr>
                        <a:t> Essential Question</a:t>
                      </a:r>
                      <a:endParaRPr lang="en-US" sz="1800" cap="all" baseline="0" dirty="0">
                        <a:latin typeface="Arial" panose="020B0604020202020204" pitchFamily="34" charset="0"/>
                        <a:cs typeface="Arial" panose="020B0604020202020204" pitchFamily="34" charset="0"/>
                      </a:endParaRPr>
                    </a:p>
                  </a:txBody>
                  <a:tcPr>
                    <a:lnL w="12700" cap="flat" cmpd="sng" algn="ctr">
                      <a:solidFill>
                        <a:srgbClr val="168446"/>
                      </a:solidFill>
                      <a:prstDash val="solid"/>
                      <a:round/>
                      <a:headEnd type="none" w="med" len="med"/>
                      <a:tailEnd type="none" w="med" len="med"/>
                    </a:lnL>
                    <a:lnR w="12700" cap="flat" cmpd="sng" algn="ctr">
                      <a:solidFill>
                        <a:srgbClr val="168446"/>
                      </a:solidFill>
                      <a:prstDash val="solid"/>
                      <a:round/>
                      <a:headEnd type="none" w="med" len="med"/>
                      <a:tailEnd type="none" w="med" len="med"/>
                    </a:lnR>
                    <a:lnT w="12700" cap="flat" cmpd="sng" algn="ctr">
                      <a:solidFill>
                        <a:srgbClr val="168446"/>
                      </a:solidFill>
                      <a:prstDash val="solid"/>
                      <a:round/>
                      <a:headEnd type="none" w="med" len="med"/>
                      <a:tailEnd type="none" w="med" len="med"/>
                    </a:lnT>
                    <a:lnB w="12700" cap="flat" cmpd="sng" algn="ctr">
                      <a:solidFill>
                        <a:srgbClr val="168446"/>
                      </a:solidFill>
                      <a:prstDash val="solid"/>
                      <a:round/>
                      <a:headEnd type="none" w="med" len="med"/>
                      <a:tailEnd type="none" w="med" len="med"/>
                    </a:lnB>
                    <a:solidFill>
                      <a:srgbClr val="168446"/>
                    </a:solidFill>
                  </a:tcPr>
                </a:tc>
                <a:extLst>
                  <a:ext uri="{0D108BD9-81ED-4DB2-BD59-A6C34878D82A}">
                    <a16:rowId xmlns:a16="http://schemas.microsoft.com/office/drawing/2014/main" val="2426677018"/>
                  </a:ext>
                </a:extLst>
              </a:tr>
              <a:tr h="632049">
                <a:tc>
                  <a:txBody>
                    <a:bodyPr/>
                    <a:lstStyle/>
                    <a:p>
                      <a:r>
                        <a:rPr lang="en-US" sz="1600" b="1" spc="0" baseline="0" dirty="0">
                          <a:latin typeface="Arial" panose="020B0604020202020204" pitchFamily="34" charset="0"/>
                          <a:cs typeface="Arial" panose="020B0604020202020204" pitchFamily="34" charset="0"/>
                        </a:rPr>
                        <a:t>How do the values </a:t>
                      </a:r>
                      <a:r>
                        <a:rPr lang="en-US" sz="1600" b="1" i="1" spc="0" baseline="0" dirty="0">
                          <a:latin typeface="Arial" panose="020B0604020202020204" pitchFamily="34" charset="0"/>
                          <a:cs typeface="Arial" panose="020B0604020202020204" pitchFamily="34" charset="0"/>
                        </a:rPr>
                        <a:t>a, b, h,</a:t>
                      </a:r>
                      <a:r>
                        <a:rPr lang="en-US" sz="1600" b="1" spc="0" baseline="0" dirty="0">
                          <a:latin typeface="Arial" panose="020B0604020202020204" pitchFamily="34" charset="0"/>
                          <a:cs typeface="Arial" panose="020B0604020202020204" pitchFamily="34" charset="0"/>
                        </a:rPr>
                        <a:t> and </a:t>
                      </a:r>
                      <a:r>
                        <a:rPr lang="en-US" sz="1600" b="1" i="1" spc="0" baseline="0" dirty="0">
                          <a:latin typeface="Arial" panose="020B0604020202020204" pitchFamily="34" charset="0"/>
                          <a:cs typeface="Arial" panose="020B0604020202020204" pitchFamily="34" charset="0"/>
                        </a:rPr>
                        <a:t>k</a:t>
                      </a:r>
                      <a:r>
                        <a:rPr lang="en-US" sz="1600" b="1" spc="0" baseline="0" dirty="0">
                          <a:latin typeface="Arial" panose="020B0604020202020204" pitchFamily="34" charset="0"/>
                          <a:cs typeface="Arial" panose="020B0604020202020204" pitchFamily="34" charset="0"/>
                        </a:rPr>
                        <a:t> in </a:t>
                      </a:r>
                      <a:r>
                        <a:rPr lang="en-US" sz="1600" b="1" i="1" spc="0" baseline="0" dirty="0">
                          <a:latin typeface="Arial" panose="020B0604020202020204" pitchFamily="34" charset="0"/>
                          <a:cs typeface="Arial" panose="020B0604020202020204" pitchFamily="34" charset="0"/>
                        </a:rPr>
                        <a:t>a </a:t>
                      </a:r>
                      <a:r>
                        <a:rPr lang="en-IN" sz="1600" i="1" dirty="0">
                          <a:solidFill>
                            <a:schemeClr val="tx1"/>
                          </a:solidFill>
                        </a:rPr>
                        <a:t>•</a:t>
                      </a:r>
                      <a:r>
                        <a:rPr lang="en-US" sz="1600" b="1" i="1" spc="0" baseline="0" dirty="0">
                          <a:latin typeface="Arial" panose="020B0604020202020204" pitchFamily="34" charset="0"/>
                          <a:cs typeface="Arial" panose="020B0604020202020204" pitchFamily="34" charset="0"/>
                        </a:rPr>
                        <a:t> f</a:t>
                      </a:r>
                      <a:r>
                        <a:rPr lang="en-US" sz="1600" b="1" spc="0" baseline="0" dirty="0">
                          <a:latin typeface="Arial" panose="020B0604020202020204" pitchFamily="34" charset="0"/>
                          <a:cs typeface="Arial" panose="020B0604020202020204" pitchFamily="34" charset="0"/>
                        </a:rPr>
                        <a:t> [</a:t>
                      </a:r>
                      <a:r>
                        <a:rPr lang="en-US" sz="1600" b="1" i="1" spc="0" baseline="0" dirty="0">
                          <a:latin typeface="Arial" panose="020B0604020202020204" pitchFamily="34" charset="0"/>
                          <a:cs typeface="Arial" panose="020B0604020202020204" pitchFamily="34" charset="0"/>
                        </a:rPr>
                        <a:t>b</a:t>
                      </a:r>
                      <a:r>
                        <a:rPr lang="en-US" sz="1600" b="1" spc="0" baseline="0" dirty="0">
                          <a:latin typeface="Arial" panose="020B0604020202020204" pitchFamily="34" charset="0"/>
                          <a:cs typeface="Arial" panose="020B0604020202020204" pitchFamily="34" charset="0"/>
                        </a:rPr>
                        <a:t>(</a:t>
                      </a:r>
                      <a:r>
                        <a:rPr lang="en-US" sz="1600" b="1" i="1" spc="0" baseline="0" dirty="0">
                          <a:latin typeface="Arial" panose="020B0604020202020204" pitchFamily="34" charset="0"/>
                          <a:cs typeface="Arial" panose="020B0604020202020204" pitchFamily="34" charset="0"/>
                        </a:rPr>
                        <a:t>x</a:t>
                      </a:r>
                      <a:r>
                        <a:rPr lang="en-US" sz="1600" b="1" spc="0" baseline="0" dirty="0">
                          <a:latin typeface="Arial" panose="020B0604020202020204" pitchFamily="34" charset="0"/>
                          <a:cs typeface="Arial" panose="020B0604020202020204" pitchFamily="34" charset="0"/>
                        </a:rPr>
                        <a:t> − </a:t>
                      </a:r>
                      <a:r>
                        <a:rPr lang="en-US" sz="1600" b="1" i="1" spc="0" baseline="0" dirty="0">
                          <a:latin typeface="Arial" panose="020B0604020202020204" pitchFamily="34" charset="0"/>
                          <a:cs typeface="Arial" panose="020B0604020202020204" pitchFamily="34" charset="0"/>
                        </a:rPr>
                        <a:t>h</a:t>
                      </a:r>
                      <a:r>
                        <a:rPr lang="en-US" sz="1600" b="1" spc="0" baseline="0" dirty="0">
                          <a:latin typeface="Arial" panose="020B0604020202020204" pitchFamily="34" charset="0"/>
                          <a:cs typeface="Arial" panose="020B0604020202020204" pitchFamily="34" charset="0"/>
                        </a:rPr>
                        <a:t>)] + </a:t>
                      </a:r>
                      <a:r>
                        <a:rPr lang="en-US" sz="1600" b="1" i="1" spc="0" baseline="0" dirty="0">
                          <a:latin typeface="Arial" panose="020B0604020202020204" pitchFamily="34" charset="0"/>
                          <a:cs typeface="Arial" panose="020B0604020202020204" pitchFamily="34" charset="0"/>
                        </a:rPr>
                        <a:t>k</a:t>
                      </a:r>
                      <a:r>
                        <a:rPr lang="en-US" sz="1600" b="1" spc="0" baseline="0" dirty="0">
                          <a:latin typeface="Arial" panose="020B0604020202020204" pitchFamily="34" charset="0"/>
                          <a:cs typeface="Arial" panose="020B0604020202020204" pitchFamily="34" charset="0"/>
                        </a:rPr>
                        <a:t> transform the graph of a parent function, </a:t>
                      </a:r>
                      <a:r>
                        <a:rPr lang="en-US" sz="1600" b="1" i="1" spc="0" baseline="0" dirty="0">
                          <a:latin typeface="Arial" panose="020B0604020202020204" pitchFamily="34" charset="0"/>
                          <a:cs typeface="Arial" panose="020B0604020202020204" pitchFamily="34" charset="0"/>
                        </a:rPr>
                        <a:t>f</a:t>
                      </a:r>
                      <a:r>
                        <a:rPr lang="en-US" sz="1600" b="1" i="0" spc="0" baseline="0" dirty="0">
                          <a:latin typeface="Arial" panose="020B0604020202020204" pitchFamily="34" charset="0"/>
                          <a:cs typeface="Arial" panose="020B0604020202020204" pitchFamily="34" charset="0"/>
                        </a:rPr>
                        <a:t>(</a:t>
                      </a:r>
                      <a:r>
                        <a:rPr lang="en-US" sz="1600" b="1" i="1" spc="0" baseline="0" dirty="0">
                          <a:latin typeface="Arial" panose="020B0604020202020204" pitchFamily="34" charset="0"/>
                          <a:cs typeface="Arial" panose="020B0604020202020204" pitchFamily="34" charset="0"/>
                        </a:rPr>
                        <a:t>x</a:t>
                      </a:r>
                      <a:r>
                        <a:rPr lang="en-US" sz="1600" b="1" i="0" spc="0" baseline="0" dirty="0">
                          <a:latin typeface="Arial" panose="020B0604020202020204" pitchFamily="34" charset="0"/>
                          <a:cs typeface="Arial" panose="020B0604020202020204" pitchFamily="34" charset="0"/>
                        </a:rPr>
                        <a:t>)</a:t>
                      </a:r>
                      <a:r>
                        <a:rPr lang="en-US" sz="1600" b="1" spc="0" baseline="0"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168446"/>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378183"/>
                  </a:ext>
                </a:extLst>
              </a:tr>
            </a:tbl>
          </a:graphicData>
        </a:graphic>
      </p:graphicFrame>
      <p:sp>
        <p:nvSpPr>
          <p:cNvPr id="5" name="TextBox 4">
            <a:extLst>
              <a:ext uri="{FF2B5EF4-FFF2-40B4-BE49-F238E27FC236}">
                <a16:creationId xmlns:a16="http://schemas.microsoft.com/office/drawing/2014/main" id="{6E8F0502-F26D-4842-97A7-E6A7B55ABA0B}"/>
              </a:ext>
            </a:extLst>
          </p:cNvPr>
          <p:cNvSpPr txBox="1"/>
          <p:nvPr/>
        </p:nvSpPr>
        <p:spPr>
          <a:xfrm>
            <a:off x="355758" y="1944206"/>
            <a:ext cx="8321209" cy="4360168"/>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Translate a Function</a:t>
            </a:r>
            <a:endParaRPr lang="en-IN" sz="1800" b="1" dirty="0">
              <a:solidFill>
                <a:srgbClr val="58585A"/>
              </a:solidFill>
            </a:endParaRPr>
          </a:p>
          <a:p>
            <a:pPr marL="360000" indent="-360000">
              <a:spcAft>
                <a:spcPts val="600"/>
              </a:spcAft>
              <a:buFont typeface="+mj-lt"/>
              <a:buAutoNum type="alphaUcPeriod"/>
            </a:pPr>
            <a:r>
              <a:rPr lang="en-IN" sz="1600" b="1" dirty="0">
                <a:solidFill>
                  <a:schemeClr val="tx1"/>
                </a:solidFill>
              </a:rPr>
              <a:t>​</a:t>
            </a:r>
            <a:r>
              <a:rPr lang="en-US" sz="1600" b="1" dirty="0">
                <a:solidFill>
                  <a:schemeClr val="tx1"/>
                </a:solidFill>
              </a:rPr>
              <a:t>Graph the function  </a:t>
            </a:r>
            <a:r>
              <a:rPr lang="en-US" sz="1600" b="1" i="1" dirty="0">
                <a:solidFill>
                  <a:schemeClr val="tx1"/>
                </a:solidFill>
              </a:rPr>
              <a:t>f</a:t>
            </a:r>
            <a:r>
              <a:rPr lang="en-US" sz="1600" b="1" dirty="0">
                <a:solidFill>
                  <a:schemeClr val="tx1"/>
                </a:solidFill>
              </a:rPr>
              <a:t>(</a:t>
            </a:r>
            <a:r>
              <a:rPr lang="en-US" sz="1600" b="1" i="1" dirty="0">
                <a:solidFill>
                  <a:schemeClr val="tx1"/>
                </a:solidFill>
              </a:rPr>
              <a:t>x</a:t>
            </a:r>
            <a:r>
              <a:rPr lang="en-US" sz="1600" b="1" dirty="0">
                <a:solidFill>
                  <a:schemeClr val="tx1"/>
                </a:solidFill>
              </a:rPr>
              <a:t>) = </a:t>
            </a:r>
            <a:r>
              <a:rPr lang="en-US" sz="1600" b="1" i="1" dirty="0">
                <a:solidFill>
                  <a:schemeClr val="tx1"/>
                </a:solidFill>
              </a:rPr>
              <a:t>x</a:t>
            </a:r>
            <a:r>
              <a:rPr lang="en-US" sz="1600" b="1" baseline="30000" dirty="0">
                <a:solidFill>
                  <a:schemeClr val="tx1"/>
                </a:solidFill>
              </a:rPr>
              <a:t>2</a:t>
            </a:r>
            <a:r>
              <a:rPr lang="en-US" sz="1600" b="1" i="1" dirty="0">
                <a:solidFill>
                  <a:schemeClr val="tx1"/>
                </a:solidFill>
              </a:rPr>
              <a:t> </a:t>
            </a:r>
            <a:r>
              <a:rPr lang="en-US" sz="1600" b="1" dirty="0">
                <a:solidFill>
                  <a:schemeClr val="tx1"/>
                </a:solidFill>
              </a:rPr>
              <a:t>for the domain [−2, 2]. The graph of </a:t>
            </a:r>
            <a:r>
              <a:rPr lang="en-US" sz="1600" b="1" i="1" dirty="0">
                <a:solidFill>
                  <a:schemeClr val="tx1"/>
                </a:solidFill>
              </a:rPr>
              <a:t>g</a:t>
            </a:r>
            <a:r>
              <a:rPr lang="en-US" sz="1600" b="1" dirty="0">
                <a:solidFill>
                  <a:schemeClr val="tx1"/>
                </a:solidFill>
              </a:rPr>
              <a:t> is the graph of </a:t>
            </a:r>
            <a:r>
              <a:rPr lang="en-US" sz="1600" b="1" i="1" dirty="0">
                <a:solidFill>
                  <a:schemeClr val="tx1"/>
                </a:solidFill>
              </a:rPr>
              <a:t>f</a:t>
            </a:r>
            <a:r>
              <a:rPr lang="en-US" sz="1600" b="1" dirty="0">
                <a:solidFill>
                  <a:schemeClr val="tx1"/>
                </a:solidFill>
              </a:rPr>
              <a:t> after a translation of 3 units down. How are the functions, domains, and ranges of </a:t>
            </a:r>
            <a:r>
              <a:rPr lang="en-US" sz="1600" b="1" i="1" dirty="0">
                <a:solidFill>
                  <a:schemeClr val="tx1"/>
                </a:solidFill>
              </a:rPr>
              <a:t>f</a:t>
            </a:r>
            <a:r>
              <a:rPr lang="en-US" sz="1600" b="1" dirty="0">
                <a:solidFill>
                  <a:schemeClr val="tx1"/>
                </a:solidFill>
              </a:rPr>
              <a:t> and </a:t>
            </a:r>
            <a:r>
              <a:rPr lang="en-US" sz="1600" b="1" i="1" dirty="0">
                <a:solidFill>
                  <a:schemeClr val="tx1"/>
                </a:solidFill>
              </a:rPr>
              <a:t>g</a:t>
            </a:r>
            <a:r>
              <a:rPr lang="en-US" sz="1600" b="1" dirty="0">
                <a:solidFill>
                  <a:schemeClr val="tx1"/>
                </a:solidFill>
              </a:rPr>
              <a:t> related?</a:t>
            </a:r>
          </a:p>
          <a:p>
            <a:pPr marL="360000">
              <a:spcAft>
                <a:spcPts val="600"/>
              </a:spcAft>
            </a:pPr>
            <a:r>
              <a:rPr lang="en-US" dirty="0">
                <a:solidFill>
                  <a:schemeClr val="tx1"/>
                </a:solidFill>
              </a:rPr>
              <a:t>Every point on the graph of </a:t>
            </a:r>
            <a:r>
              <a:rPr lang="en-US" i="1" dirty="0">
                <a:solidFill>
                  <a:srgbClr val="D92B30"/>
                </a:solidFill>
              </a:rPr>
              <a:t>g</a:t>
            </a:r>
            <a:r>
              <a:rPr lang="en-US" dirty="0">
                <a:solidFill>
                  <a:srgbClr val="D92B30"/>
                </a:solidFill>
              </a:rPr>
              <a:t> </a:t>
            </a:r>
            <a:r>
              <a:rPr lang="en-US" dirty="0">
                <a:solidFill>
                  <a:schemeClr val="tx1"/>
                </a:solidFill>
              </a:rPr>
              <a:t>is 3 units below a corresponding </a:t>
            </a:r>
            <a:br>
              <a:rPr lang="en-US" dirty="0">
                <a:solidFill>
                  <a:schemeClr val="tx1"/>
                </a:solidFill>
              </a:rPr>
            </a:br>
            <a:r>
              <a:rPr lang="en-US" dirty="0">
                <a:solidFill>
                  <a:schemeClr val="tx1"/>
                </a:solidFill>
              </a:rPr>
              <a:t>point on the graph of </a:t>
            </a:r>
            <a:r>
              <a:rPr lang="en-US" i="1" dirty="0">
                <a:solidFill>
                  <a:srgbClr val="137F97"/>
                </a:solidFill>
              </a:rPr>
              <a:t>f</a:t>
            </a:r>
            <a:r>
              <a:rPr lang="en-US" dirty="0">
                <a:solidFill>
                  <a:schemeClr val="tx1"/>
                </a:solidFill>
              </a:rPr>
              <a:t>.</a:t>
            </a:r>
          </a:p>
          <a:p>
            <a:pPr marL="360000">
              <a:spcAft>
                <a:spcPts val="600"/>
              </a:spcAft>
            </a:pPr>
            <a:r>
              <a:rPr lang="en-US" dirty="0">
                <a:solidFill>
                  <a:schemeClr val="tx1"/>
                </a:solidFill>
              </a:rPr>
              <a:t>	                            </a:t>
            </a:r>
            <a:r>
              <a:rPr lang="en-US" i="1" dirty="0">
                <a:solidFill>
                  <a:srgbClr val="D92B30"/>
                </a:solidFill>
              </a:rPr>
              <a:t> g</a:t>
            </a:r>
            <a:r>
              <a:rPr lang="en-US" dirty="0">
                <a:solidFill>
                  <a:srgbClr val="D92B30"/>
                </a:solidFill>
              </a:rPr>
              <a:t>(</a:t>
            </a:r>
            <a:r>
              <a:rPr lang="en-US" i="1" dirty="0">
                <a:solidFill>
                  <a:srgbClr val="D92B30"/>
                </a:solidFill>
              </a:rPr>
              <a:t>x</a:t>
            </a:r>
            <a:r>
              <a:rPr lang="en-US" dirty="0">
                <a:solidFill>
                  <a:srgbClr val="D92B30"/>
                </a:solidFill>
              </a:rPr>
              <a:t>)</a:t>
            </a:r>
            <a:r>
              <a:rPr lang="en-US" dirty="0">
                <a:solidFill>
                  <a:schemeClr val="tx1"/>
                </a:solidFill>
              </a:rPr>
              <a:t> = </a:t>
            </a:r>
            <a:r>
              <a:rPr lang="en-US" i="1" dirty="0">
                <a:solidFill>
                  <a:srgbClr val="137F97"/>
                </a:solidFill>
              </a:rPr>
              <a:t>f</a:t>
            </a:r>
            <a:r>
              <a:rPr lang="en-US" dirty="0">
                <a:solidFill>
                  <a:srgbClr val="137F97"/>
                </a:solidFill>
              </a:rPr>
              <a:t>(</a:t>
            </a:r>
            <a:r>
              <a:rPr lang="en-US" i="1" dirty="0">
                <a:solidFill>
                  <a:srgbClr val="137F97"/>
                </a:solidFill>
              </a:rPr>
              <a:t>x</a:t>
            </a:r>
            <a:r>
              <a:rPr lang="en-US" dirty="0">
                <a:solidFill>
                  <a:srgbClr val="137F97"/>
                </a:solidFill>
              </a:rPr>
              <a:t>)</a:t>
            </a:r>
            <a:r>
              <a:rPr lang="en-US" dirty="0">
                <a:solidFill>
                  <a:schemeClr val="tx1"/>
                </a:solidFill>
              </a:rPr>
              <a:t> − 3              </a:t>
            </a:r>
          </a:p>
          <a:p>
            <a:pPr marL="360000">
              <a:spcAft>
                <a:spcPts val="600"/>
              </a:spcAft>
            </a:pPr>
            <a:r>
              <a:rPr lang="en-US" dirty="0">
                <a:solidFill>
                  <a:schemeClr val="tx1"/>
                </a:solidFill>
              </a:rPr>
              <a:t>	 	          </a:t>
            </a:r>
            <a:r>
              <a:rPr lang="en-US" i="1" dirty="0">
                <a:solidFill>
                  <a:schemeClr val="tx1"/>
                </a:solidFill>
              </a:rPr>
              <a:t>g</a:t>
            </a:r>
            <a:r>
              <a:rPr lang="en-US" dirty="0">
                <a:solidFill>
                  <a:schemeClr val="tx1"/>
                </a:solidFill>
              </a:rPr>
              <a:t>(</a:t>
            </a:r>
            <a:r>
              <a:rPr lang="en-US" i="1" dirty="0">
                <a:solidFill>
                  <a:schemeClr val="tx1"/>
                </a:solidFill>
              </a:rPr>
              <a:t>x</a:t>
            </a:r>
            <a:r>
              <a:rPr lang="en-US" dirty="0">
                <a:solidFill>
                  <a:schemeClr val="tx1"/>
                </a:solidFill>
              </a:rPr>
              <a:t>)</a:t>
            </a:r>
            <a:r>
              <a:rPr lang="en-US" i="1" dirty="0">
                <a:solidFill>
                  <a:schemeClr val="tx1"/>
                </a:solidFill>
              </a:rPr>
              <a:t> </a:t>
            </a:r>
            <a:r>
              <a:rPr lang="en-US" dirty="0">
                <a:solidFill>
                  <a:schemeClr val="tx1"/>
                </a:solidFill>
              </a:rPr>
              <a:t>=</a:t>
            </a:r>
            <a:r>
              <a:rPr lang="en-US" i="1" dirty="0">
                <a:solidFill>
                  <a:schemeClr val="tx1"/>
                </a:solidFill>
              </a:rPr>
              <a:t> x</a:t>
            </a:r>
            <a:r>
              <a:rPr lang="en-US" baseline="30000" dirty="0">
                <a:solidFill>
                  <a:schemeClr val="tx1"/>
                </a:solidFill>
              </a:rPr>
              <a:t>2</a:t>
            </a:r>
            <a:r>
              <a:rPr lang="en-US" dirty="0">
                <a:solidFill>
                  <a:schemeClr val="tx1"/>
                </a:solidFill>
              </a:rPr>
              <a:t> − 3</a:t>
            </a:r>
          </a:p>
          <a:p>
            <a:pPr marL="360000">
              <a:spcAft>
                <a:spcPts val="600"/>
              </a:spcAft>
            </a:pPr>
            <a:r>
              <a:rPr lang="en-US" dirty="0">
                <a:solidFill>
                  <a:schemeClr val="tx1"/>
                </a:solidFill>
              </a:rPr>
              <a:t>The domains of </a:t>
            </a:r>
            <a:r>
              <a:rPr lang="en-US" i="1" dirty="0">
                <a:solidFill>
                  <a:schemeClr val="tx1"/>
                </a:solidFill>
              </a:rPr>
              <a:t>f</a:t>
            </a:r>
            <a:r>
              <a:rPr lang="en-US" dirty="0">
                <a:solidFill>
                  <a:schemeClr val="tx1"/>
                </a:solidFill>
              </a:rPr>
              <a:t> and </a:t>
            </a:r>
            <a:r>
              <a:rPr lang="en-US" i="1" dirty="0">
                <a:solidFill>
                  <a:schemeClr val="tx1"/>
                </a:solidFill>
              </a:rPr>
              <a:t>g</a:t>
            </a:r>
            <a:r>
              <a:rPr lang="en-US" dirty="0">
                <a:solidFill>
                  <a:schemeClr val="tx1"/>
                </a:solidFill>
              </a:rPr>
              <a:t> are the same: [−2, 2]. The range values of </a:t>
            </a:r>
            <a:r>
              <a:rPr lang="en-US" i="1" dirty="0">
                <a:solidFill>
                  <a:schemeClr val="tx1"/>
                </a:solidFill>
              </a:rPr>
              <a:t>g</a:t>
            </a:r>
            <a:r>
              <a:rPr lang="en-US" dirty="0">
                <a:solidFill>
                  <a:schemeClr val="tx1"/>
                </a:solidFill>
              </a:rPr>
              <a:t> are 3 units less than the range values of </a:t>
            </a:r>
            <a:r>
              <a:rPr lang="en-US" i="1" dirty="0">
                <a:solidFill>
                  <a:schemeClr val="tx1"/>
                </a:solidFill>
              </a:rPr>
              <a:t>f</a:t>
            </a:r>
            <a:r>
              <a:rPr lang="en-US" dirty="0">
                <a:solidFill>
                  <a:schemeClr val="tx1"/>
                </a:solidFill>
              </a:rPr>
              <a:t>. The range of </a:t>
            </a:r>
            <a:r>
              <a:rPr lang="en-US" i="1" dirty="0">
                <a:solidFill>
                  <a:schemeClr val="tx1"/>
                </a:solidFill>
              </a:rPr>
              <a:t>f</a:t>
            </a:r>
            <a:r>
              <a:rPr lang="en-US" dirty="0">
                <a:solidFill>
                  <a:schemeClr val="tx1"/>
                </a:solidFill>
              </a:rPr>
              <a:t> is [0, 4] and the range of </a:t>
            </a:r>
            <a:r>
              <a:rPr lang="en-US" i="1" dirty="0">
                <a:solidFill>
                  <a:schemeClr val="tx1"/>
                </a:solidFill>
              </a:rPr>
              <a:t>g</a:t>
            </a:r>
            <a:r>
              <a:rPr lang="en-US" dirty="0">
                <a:solidFill>
                  <a:schemeClr val="tx1"/>
                </a:solidFill>
              </a:rPr>
              <a:t> is [−3, 1].</a:t>
            </a:r>
          </a:p>
          <a:p>
            <a:pPr marL="360000"/>
            <a:r>
              <a:rPr lang="en-US" dirty="0">
                <a:solidFill>
                  <a:schemeClr val="tx1"/>
                </a:solidFill>
              </a:rPr>
              <a:t>A </a:t>
            </a:r>
            <a:r>
              <a:rPr lang="en-US" sz="1400" b="1" dirty="0">
                <a:solidFill>
                  <a:schemeClr val="tx1"/>
                </a:solidFill>
                <a:highlight>
                  <a:srgbClr val="FFFF00"/>
                </a:highlight>
                <a:latin typeface="Arial" panose="020B0604020202020204" pitchFamily="34" charset="0"/>
                <a:cs typeface="Arial" panose="020B0604020202020204" pitchFamily="34" charset="0"/>
              </a:rPr>
              <a:t>translation</a:t>
            </a:r>
            <a:r>
              <a:rPr lang="en-US" dirty="0">
                <a:solidFill>
                  <a:schemeClr val="tx1"/>
                </a:solidFill>
              </a:rPr>
              <a:t> is a type of transformation </a:t>
            </a:r>
          </a:p>
          <a:p>
            <a:pPr marL="360000"/>
            <a:r>
              <a:rPr lang="en-US" dirty="0">
                <a:solidFill>
                  <a:schemeClr val="tx1"/>
                </a:solidFill>
              </a:rPr>
              <a:t>of a function, one that shifts each point </a:t>
            </a:r>
          </a:p>
          <a:p>
            <a:pPr marL="360000"/>
            <a:r>
              <a:rPr lang="en-US" dirty="0">
                <a:solidFill>
                  <a:schemeClr val="tx1"/>
                </a:solidFill>
              </a:rPr>
              <a:t>on a graph the same distance and </a:t>
            </a:r>
          </a:p>
          <a:p>
            <a:pPr marL="360000">
              <a:spcAft>
                <a:spcPts val="600"/>
              </a:spcAft>
            </a:pPr>
            <a:r>
              <a:rPr lang="en-US" dirty="0">
                <a:solidFill>
                  <a:schemeClr val="tx1"/>
                </a:solidFill>
              </a:rPr>
              <a:t>direction.</a:t>
            </a:r>
          </a:p>
          <a:p>
            <a:pPr marL="360000"/>
            <a:r>
              <a:rPr lang="en-US" dirty="0">
                <a:solidFill>
                  <a:schemeClr val="tx1"/>
                </a:solidFill>
              </a:rPr>
              <a:t>In general, if </a:t>
            </a:r>
            <a:r>
              <a:rPr lang="en-US" i="1" dirty="0">
                <a:solidFill>
                  <a:schemeClr val="tx1"/>
                </a:solidFill>
              </a:rPr>
              <a:t>g</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k</a:t>
            </a:r>
            <a:r>
              <a:rPr lang="en-US" dirty="0">
                <a:solidFill>
                  <a:schemeClr val="tx1"/>
                </a:solidFill>
              </a:rPr>
              <a:t>, then the </a:t>
            </a:r>
          </a:p>
          <a:p>
            <a:pPr marL="360000">
              <a:spcAft>
                <a:spcPts val="600"/>
              </a:spcAft>
            </a:pPr>
            <a:r>
              <a:rPr lang="en-US" dirty="0">
                <a:solidFill>
                  <a:schemeClr val="tx1"/>
                </a:solidFill>
              </a:rPr>
              <a:t>graph of </a:t>
            </a:r>
            <a:r>
              <a:rPr lang="en-US" i="1" dirty="0">
                <a:solidFill>
                  <a:schemeClr val="tx1"/>
                </a:solidFill>
              </a:rPr>
              <a:t>g</a:t>
            </a:r>
            <a:r>
              <a:rPr lang="en-US" dirty="0">
                <a:solidFill>
                  <a:schemeClr val="tx1"/>
                </a:solidFill>
              </a:rPr>
              <a:t> is a vertical translation of the graph of </a:t>
            </a:r>
            <a:r>
              <a:rPr lang="en-US" i="1" dirty="0">
                <a:solidFill>
                  <a:schemeClr val="tx1"/>
                </a:solidFill>
              </a:rPr>
              <a:t>f</a:t>
            </a:r>
            <a:r>
              <a:rPr lang="en-US" dirty="0">
                <a:solidFill>
                  <a:schemeClr val="tx1"/>
                </a:solidFill>
              </a:rPr>
              <a:t> by </a:t>
            </a:r>
            <a:r>
              <a:rPr lang="en-US" i="1" dirty="0">
                <a:solidFill>
                  <a:schemeClr val="tx1"/>
                </a:solidFill>
              </a:rPr>
              <a:t>k</a:t>
            </a:r>
            <a:r>
              <a:rPr lang="en-US" dirty="0">
                <a:solidFill>
                  <a:schemeClr val="tx1"/>
                </a:solidFill>
              </a:rPr>
              <a:t> units.</a:t>
            </a:r>
          </a:p>
        </p:txBody>
      </p:sp>
      <p:sp>
        <p:nvSpPr>
          <p:cNvPr id="6" name="Rectangle 5">
            <a:extLst>
              <a:ext uri="{FF2B5EF4-FFF2-40B4-BE49-F238E27FC236}">
                <a16:creationId xmlns:a16="http://schemas.microsoft.com/office/drawing/2014/main" id="{33341DDE-51A7-BB4A-A5D0-B99BDB557C68}"/>
              </a:ext>
            </a:extLst>
          </p:cNvPr>
          <p:cNvSpPr/>
          <p:nvPr/>
        </p:nvSpPr>
        <p:spPr>
          <a:xfrm>
            <a:off x="452745" y="1978816"/>
            <a:ext cx="1480558"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1</a:t>
            </a:r>
            <a:endParaRPr lang="en-US" sz="1800" cap="all" dirty="0"/>
          </a:p>
        </p:txBody>
      </p:sp>
      <p:sp>
        <p:nvSpPr>
          <p:cNvPr id="9" name="Rounded Rectangle 8">
            <a:extLst>
              <a:ext uri="{FF2B5EF4-FFF2-40B4-BE49-F238E27FC236}">
                <a16:creationId xmlns:a16="http://schemas.microsoft.com/office/drawing/2014/main" id="{8F64C450-5A2A-B44B-B667-D61D459945DB}"/>
              </a:ext>
            </a:extLst>
          </p:cNvPr>
          <p:cNvSpPr/>
          <p:nvPr/>
        </p:nvSpPr>
        <p:spPr>
          <a:xfrm>
            <a:off x="6637268" y="4548408"/>
            <a:ext cx="2296911" cy="1764796"/>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tr-TR" sz="1200" b="1" dirty="0">
                <a:solidFill>
                  <a:srgbClr val="C02B43"/>
                </a:solidFill>
              </a:rPr>
              <a:t>LOOK FOR RELATIONSHIPS</a:t>
            </a:r>
          </a:p>
          <a:p>
            <a:pPr>
              <a:spcAft>
                <a:spcPts val="300"/>
              </a:spcAft>
            </a:pPr>
            <a:r>
              <a:rPr lang="en-US" sz="1200" dirty="0">
                <a:solidFill>
                  <a:schemeClr val="tx1"/>
                </a:solidFill>
                <a:latin typeface="Arial" panose="020B0604020202020204" pitchFamily="34" charset="0"/>
                <a:cs typeface="Arial" panose="020B0604020202020204" pitchFamily="34" charset="0"/>
              </a:rPr>
              <a:t>This type of transformation slides the graph up or down. You could perform a transformation like this </a:t>
            </a:r>
            <a:r>
              <a:rPr lang="en-IN" sz="1200" dirty="0">
                <a:solidFill>
                  <a:schemeClr val="tx1"/>
                </a:solidFill>
                <a:latin typeface="Arial" panose="020B0604020202020204" pitchFamily="34" charset="0"/>
                <a:cs typeface="Arial" panose="020B0604020202020204" pitchFamily="34" charset="0"/>
              </a:rPr>
              <a:t>to a non-vertical line and produce a parallel line.</a:t>
            </a:r>
          </a:p>
        </p:txBody>
      </p:sp>
      <p:pic>
        <p:nvPicPr>
          <p:cNvPr id="4" name="Picture 3">
            <a:extLst>
              <a:ext uri="{FF2B5EF4-FFF2-40B4-BE49-F238E27FC236}">
                <a16:creationId xmlns:a16="http://schemas.microsoft.com/office/drawing/2014/main" id="{3008812C-F85C-9902-5459-76147CF1D52C}"/>
              </a:ext>
            </a:extLst>
          </p:cNvPr>
          <p:cNvPicPr>
            <a:picLocks noChangeAspect="1"/>
          </p:cNvPicPr>
          <p:nvPr/>
        </p:nvPicPr>
        <p:blipFill>
          <a:blip r:embed="rId3"/>
          <a:stretch>
            <a:fillRect/>
          </a:stretch>
        </p:blipFill>
        <p:spPr>
          <a:xfrm>
            <a:off x="5730725" y="2657861"/>
            <a:ext cx="3203455" cy="1764796"/>
          </a:xfrm>
          <a:prstGeom prst="rect">
            <a:avLst/>
          </a:prstGeom>
        </p:spPr>
      </p:pic>
      <p:pic>
        <p:nvPicPr>
          <p:cNvPr id="11" name="Picture 10">
            <a:extLst>
              <a:ext uri="{FF2B5EF4-FFF2-40B4-BE49-F238E27FC236}">
                <a16:creationId xmlns:a16="http://schemas.microsoft.com/office/drawing/2014/main" id="{9ADA80B5-10F7-C572-50F3-A5A092309B46}"/>
              </a:ext>
            </a:extLst>
          </p:cNvPr>
          <p:cNvPicPr>
            <a:picLocks noChangeAspect="1"/>
          </p:cNvPicPr>
          <p:nvPr/>
        </p:nvPicPr>
        <p:blipFill>
          <a:blip r:embed="rId4"/>
          <a:stretch>
            <a:fillRect/>
          </a:stretch>
        </p:blipFill>
        <p:spPr>
          <a:xfrm>
            <a:off x="3628166" y="4482684"/>
            <a:ext cx="3164380" cy="1651157"/>
          </a:xfrm>
          <a:prstGeom prst="rect">
            <a:avLst/>
          </a:prstGeom>
        </p:spPr>
      </p:pic>
      <p:sp>
        <p:nvSpPr>
          <p:cNvPr id="2" name="TextBox 1">
            <a:extLst>
              <a:ext uri="{FF2B5EF4-FFF2-40B4-BE49-F238E27FC236}">
                <a16:creationId xmlns:a16="http://schemas.microsoft.com/office/drawing/2014/main" id="{96141B56-E04E-B183-FB65-4286836E751A}"/>
              </a:ext>
            </a:extLst>
          </p:cNvPr>
          <p:cNvSpPr txBox="1"/>
          <p:nvPr/>
        </p:nvSpPr>
        <p:spPr>
          <a:xfrm>
            <a:off x="344212" y="1563806"/>
            <a:ext cx="8341433" cy="369332"/>
          </a:xfrm>
          <a:prstGeom prst="rect">
            <a:avLst/>
          </a:prstGeom>
          <a:noFill/>
        </p:spPr>
        <p:txBody>
          <a:bodyPr wrap="square" rIns="36000" rtlCol="0">
            <a:spAutoFit/>
          </a:bodyPr>
          <a:lstStyle/>
          <a:p>
            <a:r>
              <a:rPr lang="en-IN" sz="1800" b="1" dirty="0">
                <a:solidFill>
                  <a:srgbClr val="137F97"/>
                </a:solidFill>
              </a:rPr>
              <a:t>CONCEPTUAL UNDERSTANDING</a:t>
            </a:r>
            <a:endParaRPr lang="en-IN" sz="1800" dirty="0">
              <a:solidFill>
                <a:srgbClr val="137F97"/>
              </a:solidFill>
            </a:endParaRPr>
          </a:p>
        </p:txBody>
      </p:sp>
    </p:spTree>
    <p:extLst>
      <p:ext uri="{BB962C8B-B14F-4D97-AF65-F5344CB8AC3E}">
        <p14:creationId xmlns:p14="http://schemas.microsoft.com/office/powerpoint/2010/main" val="1099024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5" name="TextBox 4">
            <a:extLst>
              <a:ext uri="{FF2B5EF4-FFF2-40B4-BE49-F238E27FC236}">
                <a16:creationId xmlns:a16="http://schemas.microsoft.com/office/drawing/2014/main" id="{6E8F0502-F26D-4842-97A7-E6A7B55ABA0B}"/>
              </a:ext>
            </a:extLst>
          </p:cNvPr>
          <p:cNvSpPr txBox="1"/>
          <p:nvPr/>
        </p:nvSpPr>
        <p:spPr>
          <a:xfrm>
            <a:off x="355758" y="745170"/>
            <a:ext cx="8488060" cy="3559949"/>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Translate a Function</a:t>
            </a:r>
            <a:endParaRPr lang="en-IN" sz="1800" b="1" dirty="0">
              <a:solidFill>
                <a:srgbClr val="58585A"/>
              </a:solidFill>
            </a:endParaRPr>
          </a:p>
          <a:p>
            <a:pPr marL="360000" indent="-360000">
              <a:spcAft>
                <a:spcPts val="600"/>
              </a:spcAft>
              <a:buFont typeface="+mj-lt"/>
              <a:buAutoNum type="alphaUcPeriod" startAt="2"/>
            </a:pPr>
            <a:r>
              <a:rPr lang="en-IN" b="1" dirty="0">
                <a:solidFill>
                  <a:schemeClr val="tx1"/>
                </a:solidFill>
              </a:rPr>
              <a:t>​</a:t>
            </a:r>
            <a:r>
              <a:rPr lang="en-US" sz="1600" b="1" dirty="0"/>
              <a:t>Graph the function </a:t>
            </a:r>
            <a:r>
              <a:rPr lang="en-US" sz="1600" b="1" i="1" dirty="0"/>
              <a:t>f</a:t>
            </a:r>
            <a:r>
              <a:rPr lang="en-US" sz="1600" b="1" dirty="0"/>
              <a:t>(</a:t>
            </a:r>
            <a:r>
              <a:rPr lang="en-US" sz="1600" b="1" i="1" dirty="0"/>
              <a:t>x</a:t>
            </a:r>
            <a:r>
              <a:rPr lang="en-US" sz="1600" b="1" dirty="0"/>
              <a:t>) = </a:t>
            </a:r>
            <a:r>
              <a:rPr lang="en-US" sz="1600" b="1" i="1" dirty="0"/>
              <a:t>x</a:t>
            </a:r>
            <a:r>
              <a:rPr lang="en-US" sz="1600" b="1" baseline="30000" dirty="0"/>
              <a:t>2</a:t>
            </a:r>
            <a:r>
              <a:rPr lang="en-US" sz="1600" b="1" i="1" dirty="0"/>
              <a:t> </a:t>
            </a:r>
            <a:r>
              <a:rPr lang="en-US" sz="1600" b="1" dirty="0"/>
              <a:t>for the domain [−2, 2]. The graph of the function </a:t>
            </a:r>
            <a:br>
              <a:rPr lang="en-US" sz="1600" b="1" dirty="0"/>
            </a:br>
            <a:r>
              <a:rPr lang="en-US" sz="1600" b="1" i="1" dirty="0"/>
              <a:t>g</a:t>
            </a:r>
            <a:r>
              <a:rPr lang="en-US" sz="1600" b="1" dirty="0"/>
              <a:t> is the graph of </a:t>
            </a:r>
            <a:r>
              <a:rPr lang="en-US" sz="1600" b="1" i="1" dirty="0"/>
              <a:t>f</a:t>
            </a:r>
            <a:r>
              <a:rPr lang="en-US" sz="1600" b="1" dirty="0"/>
              <a:t> after a translation 3 units to the right. How are the functions, domains, and ranges of </a:t>
            </a:r>
            <a:r>
              <a:rPr lang="en-US" sz="1600" b="1" i="1" dirty="0"/>
              <a:t>f</a:t>
            </a:r>
            <a:r>
              <a:rPr lang="en-US" sz="1600" b="1" dirty="0"/>
              <a:t> and </a:t>
            </a:r>
            <a:r>
              <a:rPr lang="en-US" sz="1600" b="1" i="1" dirty="0"/>
              <a:t>g</a:t>
            </a:r>
            <a:r>
              <a:rPr lang="en-US" sz="1600" b="1" dirty="0"/>
              <a:t> related?</a:t>
            </a:r>
            <a:endParaRPr lang="en-IN" sz="1600" b="1" dirty="0"/>
          </a:p>
          <a:p>
            <a:pPr marL="360000">
              <a:spcAft>
                <a:spcPts val="600"/>
              </a:spcAft>
            </a:pPr>
            <a:r>
              <a:rPr lang="en-US" dirty="0">
                <a:solidFill>
                  <a:schemeClr val="tx1"/>
                </a:solidFill>
              </a:rPr>
              <a:t>Every point on the graph of </a:t>
            </a:r>
            <a:r>
              <a:rPr lang="en-US" i="1" dirty="0">
                <a:solidFill>
                  <a:srgbClr val="168446"/>
                </a:solidFill>
              </a:rPr>
              <a:t>g</a:t>
            </a:r>
            <a:r>
              <a:rPr lang="en-US" dirty="0">
                <a:solidFill>
                  <a:schemeClr val="tx1"/>
                </a:solidFill>
              </a:rPr>
              <a:t> is 3 units to the right of the corresponding </a:t>
            </a:r>
            <a:br>
              <a:rPr lang="en-US" dirty="0">
                <a:solidFill>
                  <a:schemeClr val="tx1"/>
                </a:solidFill>
              </a:rPr>
            </a:br>
            <a:r>
              <a:rPr lang="en-US" dirty="0">
                <a:solidFill>
                  <a:schemeClr val="tx1"/>
                </a:solidFill>
              </a:rPr>
              <a:t>point on the graph of </a:t>
            </a:r>
            <a:r>
              <a:rPr lang="en-US" i="1" dirty="0">
                <a:solidFill>
                  <a:srgbClr val="137F97"/>
                </a:solidFill>
              </a:rPr>
              <a:t>f</a:t>
            </a:r>
            <a:r>
              <a:rPr lang="en-US" dirty="0">
                <a:solidFill>
                  <a:schemeClr val="tx1"/>
                </a:solidFill>
              </a:rPr>
              <a:t>. Express </a:t>
            </a:r>
            <a:r>
              <a:rPr lang="en-US" i="1" dirty="0">
                <a:solidFill>
                  <a:schemeClr val="tx1"/>
                </a:solidFill>
              </a:rPr>
              <a:t>g</a:t>
            </a:r>
            <a:r>
              <a:rPr lang="en-US" dirty="0">
                <a:solidFill>
                  <a:schemeClr val="tx1"/>
                </a:solidFill>
              </a:rPr>
              <a:t>(</a:t>
            </a:r>
            <a:r>
              <a:rPr lang="en-US" i="1" dirty="0">
                <a:solidFill>
                  <a:schemeClr val="tx1"/>
                </a:solidFill>
              </a:rPr>
              <a:t>x</a:t>
            </a:r>
            <a:r>
              <a:rPr lang="en-US" dirty="0">
                <a:solidFill>
                  <a:schemeClr val="tx1"/>
                </a:solidFill>
              </a:rPr>
              <a:t>) in terms of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a:t>
            </a:r>
          </a:p>
          <a:p>
            <a:pPr marL="360000">
              <a:spcAft>
                <a:spcPts val="600"/>
              </a:spcAft>
            </a:pPr>
            <a:r>
              <a:rPr lang="en-US" i="1" dirty="0">
                <a:solidFill>
                  <a:schemeClr val="tx1"/>
                </a:solidFill>
              </a:rPr>
              <a:t>g</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− 3)</a:t>
            </a:r>
          </a:p>
          <a:p>
            <a:pPr marL="360000">
              <a:spcAft>
                <a:spcPts val="600"/>
              </a:spcAft>
            </a:pPr>
            <a:r>
              <a:rPr lang="en-US" i="1" dirty="0">
                <a:solidFill>
                  <a:schemeClr val="tx1"/>
                </a:solidFill>
              </a:rPr>
              <a:t>g</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x</a:t>
            </a:r>
            <a:r>
              <a:rPr lang="en-US" dirty="0">
                <a:solidFill>
                  <a:schemeClr val="tx1"/>
                </a:solidFill>
              </a:rPr>
              <a:t> − 3)</a:t>
            </a:r>
            <a:r>
              <a:rPr lang="en-US" baseline="30000" dirty="0">
                <a:solidFill>
                  <a:schemeClr val="tx1"/>
                </a:solidFill>
              </a:rPr>
              <a:t>2</a:t>
            </a:r>
          </a:p>
          <a:p>
            <a:pPr marL="360000">
              <a:spcAft>
                <a:spcPts val="600"/>
              </a:spcAft>
            </a:pPr>
            <a:r>
              <a:rPr lang="en-US" dirty="0">
                <a:solidFill>
                  <a:schemeClr val="tx1"/>
                </a:solidFill>
              </a:rPr>
              <a:t>The range values of </a:t>
            </a:r>
            <a:r>
              <a:rPr lang="en-US" i="1" dirty="0">
                <a:solidFill>
                  <a:schemeClr val="tx1"/>
                </a:solidFill>
              </a:rPr>
              <a:t>f</a:t>
            </a:r>
            <a:r>
              <a:rPr lang="en-US" dirty="0">
                <a:solidFill>
                  <a:schemeClr val="tx1"/>
                </a:solidFill>
              </a:rPr>
              <a:t> and </a:t>
            </a:r>
            <a:r>
              <a:rPr lang="en-US" i="1" dirty="0">
                <a:solidFill>
                  <a:schemeClr val="tx1"/>
                </a:solidFill>
              </a:rPr>
              <a:t>g</a:t>
            </a:r>
            <a:r>
              <a:rPr lang="en-US" dirty="0">
                <a:solidFill>
                  <a:schemeClr val="tx1"/>
                </a:solidFill>
              </a:rPr>
              <a:t> are the same: [0, 4]. The domain values </a:t>
            </a:r>
            <a:br>
              <a:rPr lang="en-US" dirty="0">
                <a:solidFill>
                  <a:schemeClr val="tx1"/>
                </a:solidFill>
              </a:rPr>
            </a:br>
            <a:r>
              <a:rPr lang="en-US" dirty="0">
                <a:solidFill>
                  <a:schemeClr val="tx1"/>
                </a:solidFill>
              </a:rPr>
              <a:t>of </a:t>
            </a:r>
            <a:r>
              <a:rPr lang="en-US" i="1" dirty="0">
                <a:solidFill>
                  <a:schemeClr val="tx1"/>
                </a:solidFill>
              </a:rPr>
              <a:t>g</a:t>
            </a:r>
            <a:r>
              <a:rPr lang="en-US" dirty="0">
                <a:solidFill>
                  <a:schemeClr val="tx1"/>
                </a:solidFill>
              </a:rPr>
              <a:t> are 3 units more than the domain values of </a:t>
            </a:r>
            <a:r>
              <a:rPr lang="en-US" i="1" dirty="0">
                <a:solidFill>
                  <a:schemeClr val="tx1"/>
                </a:solidFill>
              </a:rPr>
              <a:t>f</a:t>
            </a:r>
            <a:r>
              <a:rPr lang="en-US" dirty="0">
                <a:solidFill>
                  <a:schemeClr val="tx1"/>
                </a:solidFill>
              </a:rPr>
              <a:t>. The domain of </a:t>
            </a:r>
            <a:br>
              <a:rPr lang="en-US" dirty="0">
                <a:solidFill>
                  <a:schemeClr val="tx1"/>
                </a:solidFill>
              </a:rPr>
            </a:br>
            <a:r>
              <a:rPr lang="en-US" i="1" dirty="0">
                <a:solidFill>
                  <a:schemeClr val="tx1"/>
                </a:solidFill>
              </a:rPr>
              <a:t>f</a:t>
            </a:r>
            <a:r>
              <a:rPr lang="en-US" dirty="0">
                <a:solidFill>
                  <a:schemeClr val="tx1"/>
                </a:solidFill>
              </a:rPr>
              <a:t> is [−2, 2] and the domain of </a:t>
            </a:r>
            <a:r>
              <a:rPr lang="en-US" i="1" dirty="0">
                <a:solidFill>
                  <a:schemeClr val="tx1"/>
                </a:solidFill>
              </a:rPr>
              <a:t>g</a:t>
            </a:r>
            <a:r>
              <a:rPr lang="en-US" dirty="0">
                <a:solidFill>
                  <a:schemeClr val="tx1"/>
                </a:solidFill>
              </a:rPr>
              <a:t> is [1, 5].</a:t>
            </a:r>
          </a:p>
          <a:p>
            <a:pPr marL="360000">
              <a:spcAft>
                <a:spcPts val="600"/>
              </a:spcAft>
            </a:pPr>
            <a:r>
              <a:rPr lang="en-US" dirty="0">
                <a:solidFill>
                  <a:schemeClr val="tx1"/>
                </a:solidFill>
              </a:rPr>
              <a:t>In general, if </a:t>
            </a:r>
            <a:r>
              <a:rPr lang="en-US" i="1" dirty="0">
                <a:solidFill>
                  <a:schemeClr val="tx1"/>
                </a:solidFill>
              </a:rPr>
              <a:t>g</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h</a:t>
            </a:r>
            <a:r>
              <a:rPr lang="en-US" dirty="0">
                <a:solidFill>
                  <a:schemeClr val="tx1"/>
                </a:solidFill>
              </a:rPr>
              <a:t>), then the graph of </a:t>
            </a:r>
            <a:r>
              <a:rPr lang="en-US" i="1" dirty="0">
                <a:solidFill>
                  <a:schemeClr val="tx1"/>
                </a:solidFill>
              </a:rPr>
              <a:t>g</a:t>
            </a:r>
            <a:r>
              <a:rPr lang="en-US" dirty="0">
                <a:solidFill>
                  <a:schemeClr val="tx1"/>
                </a:solidFill>
              </a:rPr>
              <a:t> is a horizontal </a:t>
            </a:r>
            <a:br>
              <a:rPr lang="en-US" dirty="0">
                <a:solidFill>
                  <a:schemeClr val="tx1"/>
                </a:solidFill>
              </a:rPr>
            </a:br>
            <a:r>
              <a:rPr lang="en-US" dirty="0">
                <a:solidFill>
                  <a:schemeClr val="tx1"/>
                </a:solidFill>
              </a:rPr>
              <a:t>translation of the graph of </a:t>
            </a:r>
            <a:r>
              <a:rPr lang="en-US" i="1" dirty="0">
                <a:solidFill>
                  <a:schemeClr val="tx1"/>
                </a:solidFill>
              </a:rPr>
              <a:t>f</a:t>
            </a:r>
            <a:r>
              <a:rPr lang="en-US" dirty="0">
                <a:solidFill>
                  <a:schemeClr val="tx1"/>
                </a:solidFill>
              </a:rPr>
              <a:t> by </a:t>
            </a:r>
            <a:r>
              <a:rPr lang="en-US" i="1" dirty="0">
                <a:solidFill>
                  <a:schemeClr val="tx1"/>
                </a:solidFill>
              </a:rPr>
              <a:t>h</a:t>
            </a:r>
            <a:r>
              <a:rPr lang="en-US" dirty="0">
                <a:solidFill>
                  <a:schemeClr val="tx1"/>
                </a:solidFill>
              </a:rPr>
              <a:t> units.</a:t>
            </a:r>
            <a:endParaRPr lang="en-IN" dirty="0">
              <a:solidFill>
                <a:schemeClr val="tx1"/>
              </a:solidFill>
            </a:endParaRPr>
          </a:p>
        </p:txBody>
      </p:sp>
      <p:sp>
        <p:nvSpPr>
          <p:cNvPr id="6" name="Rectangle 5">
            <a:extLst>
              <a:ext uri="{FF2B5EF4-FFF2-40B4-BE49-F238E27FC236}">
                <a16:creationId xmlns:a16="http://schemas.microsoft.com/office/drawing/2014/main" id="{33341DDE-51A7-BB4A-A5D0-B99BDB557C68}"/>
              </a:ext>
            </a:extLst>
          </p:cNvPr>
          <p:cNvSpPr/>
          <p:nvPr/>
        </p:nvSpPr>
        <p:spPr>
          <a:xfrm>
            <a:off x="452745" y="795682"/>
            <a:ext cx="1497975"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1</a:t>
            </a:r>
            <a:endParaRPr lang="en-US" sz="1800" cap="all" dirty="0"/>
          </a:p>
        </p:txBody>
      </p:sp>
      <p:pic>
        <p:nvPicPr>
          <p:cNvPr id="7" name="Picture 6">
            <a:extLst>
              <a:ext uri="{FF2B5EF4-FFF2-40B4-BE49-F238E27FC236}">
                <a16:creationId xmlns:a16="http://schemas.microsoft.com/office/drawing/2014/main" id="{2A8E44C7-BA49-5545-B159-710538A28A12}"/>
              </a:ext>
            </a:extLst>
          </p:cNvPr>
          <p:cNvPicPr>
            <a:picLocks noChangeAspect="1"/>
          </p:cNvPicPr>
          <p:nvPr/>
        </p:nvPicPr>
        <p:blipFill>
          <a:blip r:embed="rId3"/>
          <a:stretch>
            <a:fillRect/>
          </a:stretch>
        </p:blipFill>
        <p:spPr>
          <a:xfrm>
            <a:off x="6323203" y="1784751"/>
            <a:ext cx="2570597" cy="3157002"/>
          </a:xfrm>
          <a:prstGeom prst="rect">
            <a:avLst/>
          </a:prstGeom>
        </p:spPr>
      </p:pic>
      <p:sp>
        <p:nvSpPr>
          <p:cNvPr id="2" name="TextBox 1">
            <a:extLst>
              <a:ext uri="{FF2B5EF4-FFF2-40B4-BE49-F238E27FC236}">
                <a16:creationId xmlns:a16="http://schemas.microsoft.com/office/drawing/2014/main" id="{7ECBE6CB-81B5-CA04-0D2A-994A0DCEF92F}"/>
              </a:ext>
            </a:extLst>
          </p:cNvPr>
          <p:cNvSpPr txBox="1"/>
          <p:nvPr/>
        </p:nvSpPr>
        <p:spPr>
          <a:xfrm>
            <a:off x="355758" y="351588"/>
            <a:ext cx="8341433" cy="369332"/>
          </a:xfrm>
          <a:prstGeom prst="rect">
            <a:avLst/>
          </a:prstGeom>
          <a:noFill/>
        </p:spPr>
        <p:txBody>
          <a:bodyPr wrap="square" rIns="36000" rtlCol="0">
            <a:spAutoFit/>
          </a:bodyPr>
          <a:lstStyle/>
          <a:p>
            <a:r>
              <a:rPr lang="en-IN" sz="1800" b="1" dirty="0">
                <a:solidFill>
                  <a:srgbClr val="137F97"/>
                </a:solidFill>
              </a:rPr>
              <a:t>CONCEPTUAL UNDERSTANDING</a:t>
            </a:r>
            <a:endParaRPr lang="en-IN" sz="1800" dirty="0">
              <a:solidFill>
                <a:srgbClr val="137F97"/>
              </a:solidFill>
            </a:endParaRPr>
          </a:p>
        </p:txBody>
      </p:sp>
    </p:spTree>
    <p:extLst>
      <p:ext uri="{BB962C8B-B14F-4D97-AF65-F5344CB8AC3E}">
        <p14:creationId xmlns:p14="http://schemas.microsoft.com/office/powerpoint/2010/main" val="2683763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5" name="TextBox 4">
            <a:extLst>
              <a:ext uri="{FF2B5EF4-FFF2-40B4-BE49-F238E27FC236}">
                <a16:creationId xmlns:a16="http://schemas.microsoft.com/office/drawing/2014/main" id="{6E8F0502-F26D-4842-97A7-E6A7B55ABA0B}"/>
              </a:ext>
            </a:extLst>
          </p:cNvPr>
          <p:cNvSpPr txBox="1"/>
          <p:nvPr/>
        </p:nvSpPr>
        <p:spPr>
          <a:xfrm>
            <a:off x="355758" y="422051"/>
            <a:ext cx="8341433" cy="1549142"/>
          </a:xfrm>
          <a:prstGeom prst="rect">
            <a:avLst/>
          </a:prstGeom>
          <a:noFill/>
        </p:spPr>
        <p:txBody>
          <a:bodyPr wrap="square" rIns="36000" rtlCol="0">
            <a:spAutoFit/>
          </a:bodyPr>
          <a:lstStyle/>
          <a:p>
            <a:pPr>
              <a:spcAft>
                <a:spcPts val="2000"/>
              </a:spcAft>
              <a:tabLst>
                <a:tab pos="1584000" algn="l"/>
              </a:tabLst>
            </a:pPr>
            <a:r>
              <a:rPr lang="en-IN" sz="1800" b="1" dirty="0">
                <a:solidFill>
                  <a:srgbClr val="0078AE"/>
                </a:solidFill>
              </a:rPr>
              <a:t>	</a:t>
            </a:r>
            <a:r>
              <a:rPr lang="en-US" sz="1800" b="1" dirty="0">
                <a:solidFill>
                  <a:srgbClr val="58585A"/>
                </a:solidFill>
              </a:rPr>
              <a:t>Translate a Function</a:t>
            </a:r>
            <a:endParaRPr lang="en-IN" sz="1800" b="1" dirty="0">
              <a:solidFill>
                <a:srgbClr val="58585A"/>
              </a:solidFill>
            </a:endParaRPr>
          </a:p>
          <a:p>
            <a:pPr marL="1476375" indent="-1466850">
              <a:spcAft>
                <a:spcPts val="600"/>
              </a:spcAft>
              <a:tabLst>
                <a:tab pos="1062038" algn="l"/>
                <a:tab pos="1465263" algn="l"/>
              </a:tabLst>
            </a:pPr>
            <a:r>
              <a:rPr lang="en-IN" sz="1800" b="1" dirty="0">
                <a:solidFill>
                  <a:srgbClr val="D92B31"/>
                </a:solidFill>
              </a:rPr>
              <a:t>Try It!</a:t>
            </a:r>
            <a:endParaRPr lang="en-IN" sz="1800" b="1" dirty="0">
              <a:solidFill>
                <a:schemeClr val="tx1"/>
              </a:solidFill>
            </a:endParaRPr>
          </a:p>
          <a:p>
            <a:pPr marL="367200" indent="-2340000">
              <a:spcAft>
                <a:spcPts val="600"/>
              </a:spcAft>
              <a:tabLst>
                <a:tab pos="1062038" algn="l"/>
                <a:tab pos="1465263" algn="l"/>
              </a:tabLst>
            </a:pPr>
            <a:r>
              <a:rPr lang="en-IN" sz="1600" b="1" dirty="0"/>
              <a:t>1.	a.</a:t>
            </a:r>
            <a:r>
              <a:rPr lang="x-none" sz="1600" b="1" dirty="0"/>
              <a:t>   </a:t>
            </a:r>
            <a:r>
              <a:rPr lang="en-US" sz="1600" dirty="0"/>
              <a:t>Compare the intercepts of </a:t>
            </a:r>
            <a:r>
              <a:rPr lang="en-US" sz="1600" i="1" dirty="0"/>
              <a:t>f</a:t>
            </a:r>
            <a:r>
              <a:rPr lang="en-US" sz="1600" dirty="0"/>
              <a:t> to the intercepts of </a:t>
            </a:r>
            <a:r>
              <a:rPr lang="en-US" sz="1600" i="1" dirty="0"/>
              <a:t>g</a:t>
            </a:r>
            <a:r>
              <a:rPr lang="en-US" sz="1600" dirty="0"/>
              <a:t> in part (a).</a:t>
            </a:r>
            <a:endParaRPr lang="en-IN" sz="1600" dirty="0"/>
          </a:p>
          <a:p>
            <a:pPr marL="359637">
              <a:spcAft>
                <a:spcPts val="600"/>
              </a:spcAft>
              <a:tabLst>
                <a:tab pos="1103313" algn="l"/>
              </a:tabLst>
            </a:pPr>
            <a:r>
              <a:rPr lang="en-US" sz="1600" b="1" dirty="0"/>
              <a:t>b.   </a:t>
            </a:r>
            <a:r>
              <a:rPr lang="en-US" sz="1600" dirty="0"/>
              <a:t>Compare the intercepts of </a:t>
            </a:r>
            <a:r>
              <a:rPr lang="en-US" sz="1600" i="1" dirty="0"/>
              <a:t>f</a:t>
            </a:r>
            <a:r>
              <a:rPr lang="en-US" sz="1600" dirty="0"/>
              <a:t> to the intercepts of </a:t>
            </a:r>
            <a:r>
              <a:rPr lang="en-US" sz="1600" i="1" dirty="0"/>
              <a:t>g</a:t>
            </a:r>
            <a:r>
              <a:rPr lang="en-US" sz="1600" dirty="0"/>
              <a:t> in part (b).</a:t>
            </a:r>
          </a:p>
        </p:txBody>
      </p:sp>
      <p:cxnSp>
        <p:nvCxnSpPr>
          <p:cNvPr id="7" name="Straight Connector 6">
            <a:extLst>
              <a:ext uri="{FF2B5EF4-FFF2-40B4-BE49-F238E27FC236}">
                <a16:creationId xmlns:a16="http://schemas.microsoft.com/office/drawing/2014/main" id="{31B7182A-C8F1-EE46-81E8-5086BBD1F876}"/>
              </a:ext>
            </a:extLst>
          </p:cNvPr>
          <p:cNvCxnSpPr/>
          <p:nvPr/>
        </p:nvCxnSpPr>
        <p:spPr>
          <a:xfrm>
            <a:off x="425301" y="894900"/>
            <a:ext cx="8304028" cy="0"/>
          </a:xfrm>
          <a:prstGeom prst="line">
            <a:avLst/>
          </a:prstGeom>
          <a:ln w="25400">
            <a:solidFill>
              <a:srgbClr val="0078AE"/>
            </a:solidFill>
            <a:prstDash val="dash"/>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028C062-BEFD-C343-AA04-1BF22FA999C7}"/>
              </a:ext>
            </a:extLst>
          </p:cNvPr>
          <p:cNvSpPr/>
          <p:nvPr/>
        </p:nvSpPr>
        <p:spPr>
          <a:xfrm>
            <a:off x="452746" y="464612"/>
            <a:ext cx="1489266"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1</a:t>
            </a:r>
            <a:endParaRPr lang="en-US" sz="1800" cap="all" dirty="0"/>
          </a:p>
        </p:txBody>
      </p:sp>
    </p:spTree>
    <p:extLst>
      <p:ext uri="{BB962C8B-B14F-4D97-AF65-F5344CB8AC3E}">
        <p14:creationId xmlns:p14="http://schemas.microsoft.com/office/powerpoint/2010/main" val="3461112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5" name="TextBox 4">
            <a:extLst>
              <a:ext uri="{FF2B5EF4-FFF2-40B4-BE49-F238E27FC236}">
                <a16:creationId xmlns:a16="http://schemas.microsoft.com/office/drawing/2014/main" id="{6E8F0502-F26D-4842-97A7-E6A7B55ABA0B}"/>
              </a:ext>
            </a:extLst>
          </p:cNvPr>
          <p:cNvSpPr txBox="1"/>
          <p:nvPr/>
        </p:nvSpPr>
        <p:spPr>
          <a:xfrm>
            <a:off x="355758" y="406216"/>
            <a:ext cx="8321209" cy="4190891"/>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Reflect a Function Across the </a:t>
            </a:r>
            <a:r>
              <a:rPr lang="en-US" sz="1800" b="1" i="1" dirty="0">
                <a:solidFill>
                  <a:srgbClr val="58585A"/>
                </a:solidFill>
              </a:rPr>
              <a:t>x</a:t>
            </a:r>
            <a:r>
              <a:rPr lang="en-US" sz="1800" b="1" dirty="0">
                <a:solidFill>
                  <a:srgbClr val="58585A"/>
                </a:solidFill>
              </a:rPr>
              <a:t>- or </a:t>
            </a:r>
            <a:r>
              <a:rPr lang="en-US" sz="1800" b="1" i="1" dirty="0">
                <a:solidFill>
                  <a:srgbClr val="58585A"/>
                </a:solidFill>
              </a:rPr>
              <a:t>y</a:t>
            </a:r>
            <a:r>
              <a:rPr lang="en-US" sz="1800" b="1" dirty="0">
                <a:solidFill>
                  <a:srgbClr val="58585A"/>
                </a:solidFill>
              </a:rPr>
              <a:t>-Axis</a:t>
            </a:r>
            <a:endParaRPr lang="en-IN" sz="1800" b="1" dirty="0">
              <a:solidFill>
                <a:srgbClr val="58585A"/>
              </a:solidFill>
            </a:endParaRPr>
          </a:p>
          <a:p>
            <a:pPr marL="360000" indent="-378000">
              <a:spcAft>
                <a:spcPts val="600"/>
              </a:spcAft>
              <a:buFont typeface="+mj-lt"/>
              <a:buAutoNum type="alphaUcPeriod"/>
            </a:pPr>
            <a:r>
              <a:rPr lang="en-US" sz="1600" b="1" dirty="0">
                <a:solidFill>
                  <a:schemeClr val="tx1"/>
                </a:solidFill>
              </a:rPr>
              <a:t>Graph </a:t>
            </a:r>
            <a:r>
              <a:rPr lang="en-US" sz="1600" b="1" i="1" dirty="0">
                <a:solidFill>
                  <a:schemeClr val="tx1"/>
                </a:solidFill>
              </a:rPr>
              <a:t>f</a:t>
            </a:r>
            <a:r>
              <a:rPr lang="en-US" sz="1600" b="1" dirty="0">
                <a:solidFill>
                  <a:schemeClr val="tx1"/>
                </a:solidFill>
              </a:rPr>
              <a:t>(</a:t>
            </a:r>
            <a:r>
              <a:rPr lang="en-US" sz="1600" b="1" i="1" dirty="0">
                <a:solidFill>
                  <a:schemeClr val="tx1"/>
                </a:solidFill>
              </a:rPr>
              <a:t>x</a:t>
            </a:r>
            <a:r>
              <a:rPr lang="en-US" sz="1600" b="1" dirty="0">
                <a:solidFill>
                  <a:schemeClr val="tx1"/>
                </a:solidFill>
              </a:rPr>
              <a:t>) = 2</a:t>
            </a:r>
            <a:r>
              <a:rPr lang="en-US" sz="1600" b="1" i="1" dirty="0">
                <a:solidFill>
                  <a:schemeClr val="tx1"/>
                </a:solidFill>
              </a:rPr>
              <a:t>x</a:t>
            </a:r>
            <a:r>
              <a:rPr lang="en-US" sz="1600" b="1" dirty="0">
                <a:solidFill>
                  <a:schemeClr val="tx1"/>
                </a:solidFill>
              </a:rPr>
              <a:t> − 6 for the domain (0, ∞) and the function </a:t>
            </a:r>
            <a:r>
              <a:rPr lang="en-US" sz="1600" b="1" i="1" dirty="0">
                <a:solidFill>
                  <a:schemeClr val="tx1"/>
                </a:solidFill>
              </a:rPr>
              <a:t>g</a:t>
            </a:r>
            <a:r>
              <a:rPr lang="en-US" sz="1600" b="1" dirty="0">
                <a:solidFill>
                  <a:schemeClr val="tx1"/>
                </a:solidFill>
              </a:rPr>
              <a:t>, whose graph is the reflection of the graph of </a:t>
            </a:r>
            <a:r>
              <a:rPr lang="en-US" sz="1600" b="1" i="1" dirty="0">
                <a:solidFill>
                  <a:schemeClr val="tx1"/>
                </a:solidFill>
              </a:rPr>
              <a:t>f</a:t>
            </a:r>
            <a:r>
              <a:rPr lang="en-US" sz="1600" b="1" dirty="0">
                <a:solidFill>
                  <a:schemeClr val="tx1"/>
                </a:solidFill>
              </a:rPr>
              <a:t> across the </a:t>
            </a:r>
            <a:r>
              <a:rPr lang="en-US" sz="1600" b="1" i="1" dirty="0">
                <a:solidFill>
                  <a:schemeClr val="tx1"/>
                </a:solidFill>
              </a:rPr>
              <a:t>x</a:t>
            </a:r>
            <a:r>
              <a:rPr lang="en-US" sz="1600" b="1" dirty="0">
                <a:solidFill>
                  <a:schemeClr val="tx1"/>
                </a:solidFill>
              </a:rPr>
              <a:t>-axis. How are their functions related?</a:t>
            </a:r>
            <a:endParaRPr lang="en-US" dirty="0">
              <a:solidFill>
                <a:schemeClr val="tx1"/>
              </a:solidFill>
            </a:endParaRPr>
          </a:p>
          <a:p>
            <a:pPr marL="360000">
              <a:spcAft>
                <a:spcPts val="600"/>
              </a:spcAft>
            </a:pPr>
            <a:r>
              <a:rPr lang="en-US" dirty="0">
                <a:solidFill>
                  <a:schemeClr val="tx1"/>
                </a:solidFill>
              </a:rPr>
              <a:t>Graph </a:t>
            </a:r>
            <a:r>
              <a:rPr lang="en-US" i="1" dirty="0">
                <a:solidFill>
                  <a:schemeClr val="tx1"/>
                </a:solidFill>
              </a:rPr>
              <a:t>f</a:t>
            </a:r>
            <a:r>
              <a:rPr lang="en-US" dirty="0">
                <a:solidFill>
                  <a:schemeClr val="tx1"/>
                </a:solidFill>
              </a:rPr>
              <a:t>. Then graph </a:t>
            </a:r>
            <a:r>
              <a:rPr lang="en-US" i="1" dirty="0">
                <a:solidFill>
                  <a:schemeClr val="tx1"/>
                </a:solidFill>
              </a:rPr>
              <a:t>g</a:t>
            </a:r>
            <a:r>
              <a:rPr lang="en-US" dirty="0">
                <a:solidFill>
                  <a:schemeClr val="tx1"/>
                </a:solidFill>
              </a:rPr>
              <a:t> by reflecting each point of the </a:t>
            </a:r>
            <a:br>
              <a:rPr lang="en-US" dirty="0">
                <a:solidFill>
                  <a:schemeClr val="tx1"/>
                </a:solidFill>
              </a:rPr>
            </a:br>
            <a:r>
              <a:rPr lang="en-US" dirty="0">
                <a:solidFill>
                  <a:schemeClr val="tx1"/>
                </a:solidFill>
              </a:rPr>
              <a:t>graph of </a:t>
            </a:r>
            <a:r>
              <a:rPr lang="en-US" i="1" dirty="0">
                <a:solidFill>
                  <a:schemeClr val="tx1"/>
                </a:solidFill>
              </a:rPr>
              <a:t>f</a:t>
            </a:r>
            <a:r>
              <a:rPr lang="en-US" dirty="0">
                <a:solidFill>
                  <a:schemeClr val="tx1"/>
                </a:solidFill>
              </a:rPr>
              <a:t> across the </a:t>
            </a:r>
            <a:r>
              <a:rPr lang="en-US" i="1" dirty="0">
                <a:solidFill>
                  <a:schemeClr val="tx1"/>
                </a:solidFill>
              </a:rPr>
              <a:t>x</a:t>
            </a:r>
            <a:r>
              <a:rPr lang="en-US" dirty="0">
                <a:solidFill>
                  <a:schemeClr val="tx1"/>
                </a:solidFill>
              </a:rPr>
              <a:t>-axis. For each point (</a:t>
            </a:r>
            <a:r>
              <a:rPr lang="en-US" i="1" dirty="0">
                <a:solidFill>
                  <a:schemeClr val="tx1"/>
                </a:solidFill>
              </a:rPr>
              <a:t>x</a:t>
            </a:r>
            <a:r>
              <a:rPr lang="en-US" dirty="0">
                <a:solidFill>
                  <a:schemeClr val="tx1"/>
                </a:solidFill>
              </a:rPr>
              <a:t>, </a:t>
            </a:r>
            <a:r>
              <a:rPr lang="en-US" i="1" dirty="0">
                <a:solidFill>
                  <a:schemeClr val="tx1"/>
                </a:solidFill>
              </a:rPr>
              <a:t>y</a:t>
            </a:r>
            <a:r>
              <a:rPr lang="en-US" dirty="0">
                <a:solidFill>
                  <a:schemeClr val="tx1"/>
                </a:solidFill>
              </a:rPr>
              <a:t>) on the </a:t>
            </a:r>
            <a:br>
              <a:rPr lang="en-US" dirty="0">
                <a:solidFill>
                  <a:schemeClr val="tx1"/>
                </a:solidFill>
              </a:rPr>
            </a:br>
            <a:r>
              <a:rPr lang="en-US" dirty="0">
                <a:solidFill>
                  <a:schemeClr val="tx1"/>
                </a:solidFill>
              </a:rPr>
              <a:t>graph of </a:t>
            </a:r>
            <a:r>
              <a:rPr lang="en-US" i="1" dirty="0">
                <a:solidFill>
                  <a:schemeClr val="tx1"/>
                </a:solidFill>
              </a:rPr>
              <a:t>f</a:t>
            </a:r>
            <a:r>
              <a:rPr lang="en-US" dirty="0">
                <a:solidFill>
                  <a:schemeClr val="tx1"/>
                </a:solidFill>
              </a:rPr>
              <a:t>, plot the point (</a:t>
            </a:r>
            <a:r>
              <a:rPr lang="en-US" i="1" dirty="0">
                <a:solidFill>
                  <a:schemeClr val="tx1"/>
                </a:solidFill>
              </a:rPr>
              <a:t>x</a:t>
            </a:r>
            <a:r>
              <a:rPr lang="en-US" dirty="0">
                <a:solidFill>
                  <a:schemeClr val="tx1"/>
                </a:solidFill>
              </a:rPr>
              <a:t>, −</a:t>
            </a:r>
            <a:r>
              <a:rPr lang="en-US" i="1" dirty="0">
                <a:solidFill>
                  <a:schemeClr val="tx1"/>
                </a:solidFill>
              </a:rPr>
              <a:t>y</a:t>
            </a:r>
            <a:r>
              <a:rPr lang="en-US" dirty="0">
                <a:solidFill>
                  <a:schemeClr val="tx1"/>
                </a:solidFill>
              </a:rPr>
              <a:t>) to get the graph of </a:t>
            </a:r>
            <a:r>
              <a:rPr lang="en-US" i="1" dirty="0">
                <a:solidFill>
                  <a:schemeClr val="tx1"/>
                </a:solidFill>
              </a:rPr>
              <a:t>g</a:t>
            </a:r>
            <a:r>
              <a:rPr lang="en-US" dirty="0">
                <a:solidFill>
                  <a:schemeClr val="tx1"/>
                </a:solidFill>
              </a:rPr>
              <a:t>.</a:t>
            </a:r>
          </a:p>
          <a:p>
            <a:pPr marL="360000">
              <a:spcAft>
                <a:spcPts val="600"/>
              </a:spcAft>
            </a:pPr>
            <a:endParaRPr lang="en-US" dirty="0">
              <a:solidFill>
                <a:schemeClr val="tx1"/>
              </a:solidFill>
            </a:endParaRPr>
          </a:p>
          <a:p>
            <a:pPr marL="360000">
              <a:spcAft>
                <a:spcPts val="600"/>
              </a:spcAft>
            </a:pPr>
            <a:endParaRPr lang="en-US" dirty="0">
              <a:solidFill>
                <a:schemeClr val="tx1"/>
              </a:solidFill>
            </a:endParaRPr>
          </a:p>
          <a:p>
            <a:pPr marL="360000">
              <a:spcAft>
                <a:spcPts val="600"/>
              </a:spcAft>
            </a:pPr>
            <a:endParaRPr lang="en-US" dirty="0">
              <a:solidFill>
                <a:schemeClr val="tx1"/>
              </a:solidFill>
            </a:endParaRPr>
          </a:p>
          <a:p>
            <a:pPr marL="360000">
              <a:spcAft>
                <a:spcPts val="600"/>
              </a:spcAft>
            </a:pPr>
            <a:r>
              <a:rPr lang="en-US" dirty="0">
                <a:solidFill>
                  <a:schemeClr val="tx1"/>
                </a:solidFill>
              </a:rPr>
              <a:t>	</a:t>
            </a:r>
            <a:r>
              <a:rPr lang="en-US" i="1" dirty="0">
                <a:solidFill>
                  <a:schemeClr val="tx1"/>
                </a:solidFill>
              </a:rPr>
              <a:t>g</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a:t>
            </a:r>
          </a:p>
          <a:p>
            <a:pPr marL="360000">
              <a:spcAft>
                <a:spcPts val="600"/>
              </a:spcAft>
            </a:pPr>
            <a:r>
              <a:rPr lang="en-US" dirty="0">
                <a:solidFill>
                  <a:schemeClr val="tx1"/>
                </a:solidFill>
              </a:rPr>
              <a:t>	       = −(2</a:t>
            </a:r>
            <a:r>
              <a:rPr lang="en-US" i="1" dirty="0">
                <a:solidFill>
                  <a:schemeClr val="tx1"/>
                </a:solidFill>
              </a:rPr>
              <a:t>x</a:t>
            </a:r>
            <a:r>
              <a:rPr lang="en-US" dirty="0">
                <a:solidFill>
                  <a:schemeClr val="tx1"/>
                </a:solidFill>
              </a:rPr>
              <a:t> − 6)</a:t>
            </a:r>
          </a:p>
          <a:p>
            <a:pPr marL="360000">
              <a:spcAft>
                <a:spcPts val="600"/>
              </a:spcAft>
            </a:pPr>
            <a:r>
              <a:rPr lang="en-US" dirty="0">
                <a:solidFill>
                  <a:schemeClr val="tx1"/>
                </a:solidFill>
              </a:rPr>
              <a:t>	</a:t>
            </a:r>
            <a:r>
              <a:rPr lang="en-US" i="1" dirty="0">
                <a:solidFill>
                  <a:srgbClr val="137F97"/>
                </a:solidFill>
              </a:rPr>
              <a:t>g</a:t>
            </a:r>
            <a:r>
              <a:rPr lang="en-US" dirty="0">
                <a:solidFill>
                  <a:srgbClr val="137F97"/>
                </a:solidFill>
              </a:rPr>
              <a:t>(</a:t>
            </a:r>
            <a:r>
              <a:rPr lang="en-US" i="1" dirty="0">
                <a:solidFill>
                  <a:srgbClr val="137F97"/>
                </a:solidFill>
              </a:rPr>
              <a:t>x</a:t>
            </a:r>
            <a:r>
              <a:rPr lang="en-US" dirty="0">
                <a:solidFill>
                  <a:srgbClr val="137F97"/>
                </a:solidFill>
              </a:rPr>
              <a:t>) = −2</a:t>
            </a:r>
            <a:r>
              <a:rPr lang="en-US" i="1" dirty="0">
                <a:solidFill>
                  <a:srgbClr val="137F97"/>
                </a:solidFill>
              </a:rPr>
              <a:t>x</a:t>
            </a:r>
            <a:r>
              <a:rPr lang="en-US" dirty="0">
                <a:solidFill>
                  <a:srgbClr val="137F97"/>
                </a:solidFill>
              </a:rPr>
              <a:t> + 6</a:t>
            </a:r>
          </a:p>
          <a:p>
            <a:pPr marL="360000">
              <a:spcAft>
                <a:spcPts val="600"/>
              </a:spcAft>
            </a:pPr>
            <a:r>
              <a:rPr lang="en-US" dirty="0">
                <a:solidFill>
                  <a:schemeClr val="tx1"/>
                </a:solidFill>
              </a:rPr>
              <a:t>The expression that defines </a:t>
            </a:r>
            <a:r>
              <a:rPr lang="en-US" i="1" dirty="0">
                <a:solidFill>
                  <a:schemeClr val="tx1"/>
                </a:solidFill>
              </a:rPr>
              <a:t>g</a:t>
            </a:r>
            <a:r>
              <a:rPr lang="en-US" dirty="0">
                <a:solidFill>
                  <a:schemeClr val="tx1"/>
                </a:solidFill>
              </a:rPr>
              <a:t> is the opposite of the </a:t>
            </a:r>
            <a:br>
              <a:rPr lang="en-US" dirty="0">
                <a:solidFill>
                  <a:schemeClr val="tx1"/>
                </a:solidFill>
              </a:rPr>
            </a:br>
            <a:r>
              <a:rPr lang="en-US" dirty="0">
                <a:solidFill>
                  <a:schemeClr val="tx1"/>
                </a:solidFill>
              </a:rPr>
              <a:t>expression that defines </a:t>
            </a:r>
            <a:r>
              <a:rPr lang="en-US" i="1" dirty="0">
                <a:solidFill>
                  <a:schemeClr val="tx1"/>
                </a:solidFill>
              </a:rPr>
              <a:t>f</a:t>
            </a:r>
            <a:r>
              <a:rPr lang="en-US" dirty="0">
                <a:solidFill>
                  <a:schemeClr val="tx1"/>
                </a:solidFill>
              </a:rPr>
              <a:t>. The domain of </a:t>
            </a:r>
            <a:r>
              <a:rPr lang="en-US" i="1" dirty="0">
                <a:solidFill>
                  <a:schemeClr val="tx1"/>
                </a:solidFill>
              </a:rPr>
              <a:t>g</a:t>
            </a:r>
            <a:r>
              <a:rPr lang="en-US" dirty="0">
                <a:solidFill>
                  <a:schemeClr val="tx1"/>
                </a:solidFill>
              </a:rPr>
              <a:t> is the same as </a:t>
            </a:r>
            <a:r>
              <a:rPr lang="en-US" i="1" dirty="0">
                <a:solidFill>
                  <a:schemeClr val="tx1"/>
                </a:solidFill>
              </a:rPr>
              <a:t>f</a:t>
            </a:r>
            <a:r>
              <a:rPr lang="en-US" dirty="0">
                <a:solidFill>
                  <a:schemeClr val="tx1"/>
                </a:solidFill>
              </a:rPr>
              <a:t>. </a:t>
            </a:r>
            <a:br>
              <a:rPr lang="en-US" dirty="0">
                <a:solidFill>
                  <a:schemeClr val="tx1"/>
                </a:solidFill>
              </a:rPr>
            </a:br>
            <a:r>
              <a:rPr lang="en-US" dirty="0">
                <a:solidFill>
                  <a:schemeClr val="tx1"/>
                </a:solidFill>
              </a:rPr>
              <a:t>The range of </a:t>
            </a:r>
            <a:r>
              <a:rPr lang="en-US" i="1" dirty="0">
                <a:solidFill>
                  <a:schemeClr val="tx1"/>
                </a:solidFill>
              </a:rPr>
              <a:t>f</a:t>
            </a:r>
            <a:r>
              <a:rPr lang="en-US" dirty="0">
                <a:solidFill>
                  <a:schemeClr val="tx1"/>
                </a:solidFill>
              </a:rPr>
              <a:t> is [−6, ∞) and the range of </a:t>
            </a:r>
            <a:r>
              <a:rPr lang="en-US" i="1" dirty="0">
                <a:solidFill>
                  <a:schemeClr val="tx1"/>
                </a:solidFill>
              </a:rPr>
              <a:t>g</a:t>
            </a:r>
            <a:r>
              <a:rPr lang="en-US" dirty="0">
                <a:solidFill>
                  <a:schemeClr val="tx1"/>
                </a:solidFill>
              </a:rPr>
              <a:t> is (−∞, 6].</a:t>
            </a:r>
            <a:endParaRPr lang="en-IN" dirty="0">
              <a:solidFill>
                <a:schemeClr val="tx1"/>
              </a:solidFill>
            </a:endParaRPr>
          </a:p>
        </p:txBody>
      </p:sp>
      <p:sp>
        <p:nvSpPr>
          <p:cNvPr id="6" name="Rectangle 5">
            <a:extLst>
              <a:ext uri="{FF2B5EF4-FFF2-40B4-BE49-F238E27FC236}">
                <a16:creationId xmlns:a16="http://schemas.microsoft.com/office/drawing/2014/main" id="{33341DDE-51A7-BB4A-A5D0-B99BDB557C68}"/>
              </a:ext>
            </a:extLst>
          </p:cNvPr>
          <p:cNvSpPr/>
          <p:nvPr/>
        </p:nvSpPr>
        <p:spPr>
          <a:xfrm>
            <a:off x="452746" y="448777"/>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2</a:t>
            </a:r>
            <a:endParaRPr lang="en-US" sz="1800" cap="all" dirty="0"/>
          </a:p>
        </p:txBody>
      </p:sp>
      <p:sp>
        <p:nvSpPr>
          <p:cNvPr id="7" name="Rounded Rectangle 6">
            <a:extLst>
              <a:ext uri="{FF2B5EF4-FFF2-40B4-BE49-F238E27FC236}">
                <a16:creationId xmlns:a16="http://schemas.microsoft.com/office/drawing/2014/main" id="{8F64C450-5A2A-B44B-B667-D61D459945DB}"/>
              </a:ext>
            </a:extLst>
          </p:cNvPr>
          <p:cNvSpPr/>
          <p:nvPr/>
        </p:nvSpPr>
        <p:spPr>
          <a:xfrm>
            <a:off x="772996" y="5148855"/>
            <a:ext cx="7555530" cy="715622"/>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tr-TR" sz="1200" b="1" dirty="0">
                <a:solidFill>
                  <a:srgbClr val="90057A"/>
                </a:solidFill>
              </a:rPr>
              <a:t>VOCABULARY</a:t>
            </a:r>
          </a:p>
          <a:p>
            <a:pPr>
              <a:spcAft>
                <a:spcPts val="300"/>
              </a:spcAft>
            </a:pPr>
            <a:r>
              <a:rPr lang="en-US" sz="1200" dirty="0">
                <a:solidFill>
                  <a:schemeClr val="tx1"/>
                </a:solidFill>
                <a:latin typeface="Arial" panose="020B0604020202020204" pitchFamily="34" charset="0"/>
                <a:cs typeface="Arial" panose="020B0604020202020204" pitchFamily="34" charset="0"/>
              </a:rPr>
              <a:t>Recall that a </a:t>
            </a:r>
            <a:r>
              <a:rPr lang="en-US" sz="1200" b="1" dirty="0">
                <a:solidFill>
                  <a:schemeClr val="tx1"/>
                </a:solidFill>
                <a:highlight>
                  <a:srgbClr val="FFFF00"/>
                </a:highlight>
                <a:latin typeface="Arial" panose="020B0604020202020204" pitchFamily="34" charset="0"/>
                <a:cs typeface="Arial" panose="020B0604020202020204" pitchFamily="34" charset="0"/>
              </a:rPr>
              <a:t>reflection</a:t>
            </a:r>
            <a:r>
              <a:rPr lang="en-US" sz="1200" dirty="0">
                <a:solidFill>
                  <a:schemeClr val="tx1"/>
                </a:solidFill>
                <a:latin typeface="Arial" panose="020B0604020202020204" pitchFamily="34" charset="0"/>
                <a:cs typeface="Arial" panose="020B0604020202020204" pitchFamily="34" charset="0"/>
              </a:rPr>
              <a:t> is a transformation that maps each point to a new point across a given line, called the </a:t>
            </a:r>
            <a:r>
              <a:rPr lang="en-US" sz="1200" i="1" dirty="0">
                <a:solidFill>
                  <a:schemeClr val="tx1"/>
                </a:solidFill>
                <a:latin typeface="Arial" panose="020B0604020202020204" pitchFamily="34" charset="0"/>
                <a:cs typeface="Arial" panose="020B0604020202020204" pitchFamily="34" charset="0"/>
              </a:rPr>
              <a:t>line of reflection</a:t>
            </a:r>
            <a:r>
              <a:rPr lang="en-US" sz="1200" dirty="0">
                <a:solidFill>
                  <a:schemeClr val="tx1"/>
                </a:solidFill>
                <a:latin typeface="Arial" panose="020B0604020202020204" pitchFamily="34" charset="0"/>
                <a:cs typeface="Arial" panose="020B0604020202020204" pitchFamily="34" charset="0"/>
              </a:rPr>
              <a:t>.</a:t>
            </a:r>
            <a:endParaRPr lang="en-IN" sz="1200" dirty="0">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1C3FCB3-1D6E-44B7-ED19-E4819594AA9A}"/>
              </a:ext>
            </a:extLst>
          </p:cNvPr>
          <p:cNvPicPr>
            <a:picLocks noChangeAspect="1"/>
          </p:cNvPicPr>
          <p:nvPr/>
        </p:nvPicPr>
        <p:blipFill>
          <a:blip r:embed="rId3"/>
          <a:stretch>
            <a:fillRect/>
          </a:stretch>
        </p:blipFill>
        <p:spPr>
          <a:xfrm>
            <a:off x="3703027" y="1214449"/>
            <a:ext cx="4857211" cy="4049520"/>
          </a:xfrm>
          <a:prstGeom prst="rect">
            <a:avLst/>
          </a:prstGeom>
        </p:spPr>
      </p:pic>
    </p:spTree>
    <p:extLst>
      <p:ext uri="{BB962C8B-B14F-4D97-AF65-F5344CB8AC3E}">
        <p14:creationId xmlns:p14="http://schemas.microsoft.com/office/powerpoint/2010/main" val="3072923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7" name="TextBox 6">
            <a:extLst>
              <a:ext uri="{FF2B5EF4-FFF2-40B4-BE49-F238E27FC236}">
                <a16:creationId xmlns:a16="http://schemas.microsoft.com/office/drawing/2014/main" id="{6E8F0502-F26D-4842-97A7-E6A7B55ABA0B}"/>
              </a:ext>
            </a:extLst>
          </p:cNvPr>
          <p:cNvSpPr txBox="1"/>
          <p:nvPr/>
        </p:nvSpPr>
        <p:spPr>
          <a:xfrm>
            <a:off x="355758" y="406216"/>
            <a:ext cx="8321209" cy="3313728"/>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Reflect a Function Across the </a:t>
            </a:r>
            <a:r>
              <a:rPr lang="en-US" sz="1800" b="1" i="1" dirty="0">
                <a:solidFill>
                  <a:srgbClr val="58585A"/>
                </a:solidFill>
              </a:rPr>
              <a:t>x</a:t>
            </a:r>
            <a:r>
              <a:rPr lang="en-US" sz="1800" b="1" dirty="0">
                <a:solidFill>
                  <a:srgbClr val="58585A"/>
                </a:solidFill>
              </a:rPr>
              <a:t>- or </a:t>
            </a:r>
            <a:r>
              <a:rPr lang="en-US" sz="1800" b="1" i="1" dirty="0">
                <a:solidFill>
                  <a:srgbClr val="58585A"/>
                </a:solidFill>
              </a:rPr>
              <a:t>y</a:t>
            </a:r>
            <a:r>
              <a:rPr lang="en-US" sz="1800" b="1" dirty="0">
                <a:solidFill>
                  <a:srgbClr val="58585A"/>
                </a:solidFill>
              </a:rPr>
              <a:t>-Axis</a:t>
            </a:r>
            <a:endParaRPr lang="en-IN" sz="1800" b="1" dirty="0">
              <a:solidFill>
                <a:srgbClr val="58585A"/>
              </a:solidFill>
            </a:endParaRPr>
          </a:p>
          <a:p>
            <a:pPr marL="360000" indent="-378000">
              <a:spcAft>
                <a:spcPts val="600"/>
              </a:spcAft>
              <a:buFont typeface="+mj-lt"/>
              <a:buAutoNum type="alphaUcPeriod" startAt="2"/>
            </a:pPr>
            <a:r>
              <a:rPr lang="en-US" sz="1600" b="1" dirty="0">
                <a:solidFill>
                  <a:schemeClr val="tx1"/>
                </a:solidFill>
              </a:rPr>
              <a:t>Graph </a:t>
            </a:r>
            <a:r>
              <a:rPr lang="en-US" sz="1600" b="1" i="1" dirty="0">
                <a:solidFill>
                  <a:schemeClr val="tx1"/>
                </a:solidFill>
              </a:rPr>
              <a:t>f</a:t>
            </a:r>
            <a:r>
              <a:rPr lang="en-US" sz="1600" b="1" dirty="0">
                <a:solidFill>
                  <a:schemeClr val="tx1"/>
                </a:solidFill>
              </a:rPr>
              <a:t>(</a:t>
            </a:r>
            <a:r>
              <a:rPr lang="en-US" sz="1600" b="1" i="1" dirty="0">
                <a:solidFill>
                  <a:schemeClr val="tx1"/>
                </a:solidFill>
              </a:rPr>
              <a:t>x</a:t>
            </a:r>
            <a:r>
              <a:rPr lang="en-US" sz="1600" b="1" dirty="0">
                <a:solidFill>
                  <a:schemeClr val="tx1"/>
                </a:solidFill>
              </a:rPr>
              <a:t>) = 2</a:t>
            </a:r>
            <a:r>
              <a:rPr lang="en-US" sz="1600" b="1" i="1" dirty="0">
                <a:solidFill>
                  <a:schemeClr val="tx1"/>
                </a:solidFill>
              </a:rPr>
              <a:t>x</a:t>
            </a:r>
            <a:r>
              <a:rPr lang="en-US" sz="1600" b="1" dirty="0">
                <a:solidFill>
                  <a:schemeClr val="tx1"/>
                </a:solidFill>
              </a:rPr>
              <a:t> − 6 for the domain [0, ∞) and the function </a:t>
            </a:r>
            <a:r>
              <a:rPr lang="en-US" sz="1600" b="1" i="1" dirty="0">
                <a:solidFill>
                  <a:schemeClr val="tx1"/>
                </a:solidFill>
              </a:rPr>
              <a:t>h</a:t>
            </a:r>
            <a:r>
              <a:rPr lang="en-US" sz="1600" b="1" dirty="0">
                <a:solidFill>
                  <a:schemeClr val="tx1"/>
                </a:solidFill>
              </a:rPr>
              <a:t>, whose graph is the reflection of the graph of </a:t>
            </a:r>
            <a:r>
              <a:rPr lang="en-US" sz="1600" b="1" i="1" dirty="0">
                <a:solidFill>
                  <a:schemeClr val="tx1"/>
                </a:solidFill>
              </a:rPr>
              <a:t>f</a:t>
            </a:r>
            <a:r>
              <a:rPr lang="en-US" sz="1600" b="1" dirty="0">
                <a:solidFill>
                  <a:schemeClr val="tx1"/>
                </a:solidFill>
              </a:rPr>
              <a:t> across the </a:t>
            </a:r>
            <a:r>
              <a:rPr lang="en-US" sz="1600" b="1" i="1" dirty="0">
                <a:solidFill>
                  <a:schemeClr val="tx1"/>
                </a:solidFill>
              </a:rPr>
              <a:t>y</a:t>
            </a:r>
            <a:r>
              <a:rPr lang="en-US" sz="1600" b="1" dirty="0">
                <a:solidFill>
                  <a:schemeClr val="tx1"/>
                </a:solidFill>
              </a:rPr>
              <a:t>-axis. How are their functions related?</a:t>
            </a:r>
            <a:endParaRPr lang="en-US" sz="1600" dirty="0">
              <a:solidFill>
                <a:schemeClr val="tx1"/>
              </a:solidFill>
            </a:endParaRPr>
          </a:p>
          <a:p>
            <a:pPr marL="360000">
              <a:spcAft>
                <a:spcPts val="600"/>
              </a:spcAft>
            </a:pPr>
            <a:r>
              <a:rPr lang="en-US" dirty="0">
                <a:solidFill>
                  <a:schemeClr val="tx1"/>
                </a:solidFill>
              </a:rPr>
              <a:t>Graph </a:t>
            </a:r>
            <a:r>
              <a:rPr lang="en-US" i="1" dirty="0">
                <a:solidFill>
                  <a:schemeClr val="tx1"/>
                </a:solidFill>
              </a:rPr>
              <a:t>f</a:t>
            </a:r>
            <a:r>
              <a:rPr lang="en-US" dirty="0">
                <a:solidFill>
                  <a:schemeClr val="tx1"/>
                </a:solidFill>
              </a:rPr>
              <a:t>. Then reflect every point on the graph </a:t>
            </a:r>
            <a:br>
              <a:rPr lang="en-US" dirty="0">
                <a:solidFill>
                  <a:schemeClr val="tx1"/>
                </a:solidFill>
              </a:rPr>
            </a:br>
            <a:r>
              <a:rPr lang="en-US" dirty="0">
                <a:solidFill>
                  <a:schemeClr val="tx1"/>
                </a:solidFill>
              </a:rPr>
              <a:t>of </a:t>
            </a:r>
            <a:r>
              <a:rPr lang="en-US" i="1" dirty="0">
                <a:solidFill>
                  <a:schemeClr val="tx1"/>
                </a:solidFill>
              </a:rPr>
              <a:t>f</a:t>
            </a:r>
            <a:r>
              <a:rPr lang="en-US" dirty="0">
                <a:solidFill>
                  <a:schemeClr val="tx1"/>
                </a:solidFill>
              </a:rPr>
              <a:t> over the </a:t>
            </a:r>
            <a:r>
              <a:rPr lang="en-US" i="1" dirty="0">
                <a:solidFill>
                  <a:schemeClr val="tx1"/>
                </a:solidFill>
              </a:rPr>
              <a:t>y</a:t>
            </a:r>
            <a:r>
              <a:rPr lang="en-US" dirty="0">
                <a:solidFill>
                  <a:schemeClr val="tx1"/>
                </a:solidFill>
              </a:rPr>
              <a:t>-axis to produce the graph of </a:t>
            </a:r>
            <a:r>
              <a:rPr lang="en-US" i="1" dirty="0">
                <a:solidFill>
                  <a:schemeClr val="tx1"/>
                </a:solidFill>
              </a:rPr>
              <a:t>h</a:t>
            </a:r>
            <a:r>
              <a:rPr lang="en-US" dirty="0">
                <a:solidFill>
                  <a:schemeClr val="tx1"/>
                </a:solidFill>
              </a:rPr>
              <a:t>. </a:t>
            </a:r>
          </a:p>
          <a:p>
            <a:pPr marL="360000">
              <a:spcAft>
                <a:spcPts val="600"/>
              </a:spcAft>
            </a:pPr>
            <a:r>
              <a:rPr lang="en-US" dirty="0">
                <a:solidFill>
                  <a:schemeClr val="tx1"/>
                </a:solidFill>
              </a:rPr>
              <a:t>	</a:t>
            </a:r>
            <a:r>
              <a:rPr lang="en-US" i="1" dirty="0">
                <a:solidFill>
                  <a:schemeClr val="tx1"/>
                </a:solidFill>
              </a:rPr>
              <a:t>h</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f</a:t>
            </a:r>
            <a:r>
              <a:rPr lang="en-US" dirty="0">
                <a:solidFill>
                  <a:schemeClr val="tx1"/>
                </a:solidFill>
              </a:rPr>
              <a:t>(</a:t>
            </a:r>
            <a:r>
              <a:rPr lang="mr-IN" dirty="0">
                <a:solidFill>
                  <a:schemeClr val="tx1"/>
                </a:solidFill>
              </a:rPr>
              <a:t>−</a:t>
            </a:r>
            <a:r>
              <a:rPr lang="en-US" i="1" dirty="0">
                <a:solidFill>
                  <a:schemeClr val="tx1"/>
                </a:solidFill>
              </a:rPr>
              <a:t>x</a:t>
            </a:r>
            <a:r>
              <a:rPr lang="en-US" dirty="0">
                <a:solidFill>
                  <a:schemeClr val="tx1"/>
                </a:solidFill>
              </a:rPr>
              <a:t>) </a:t>
            </a:r>
          </a:p>
          <a:p>
            <a:pPr marL="360000">
              <a:spcAft>
                <a:spcPts val="600"/>
              </a:spcAft>
            </a:pPr>
            <a:r>
              <a:rPr lang="en-US" dirty="0">
                <a:solidFill>
                  <a:schemeClr val="tx1"/>
                </a:solidFill>
              </a:rPr>
              <a:t>	       = 2(</a:t>
            </a:r>
            <a:r>
              <a:rPr lang="mr-IN" dirty="0">
                <a:solidFill>
                  <a:schemeClr val="tx1"/>
                </a:solidFill>
              </a:rPr>
              <a:t>−</a:t>
            </a:r>
            <a:r>
              <a:rPr lang="en-US" i="1" dirty="0">
                <a:solidFill>
                  <a:schemeClr val="tx1"/>
                </a:solidFill>
              </a:rPr>
              <a:t>x</a:t>
            </a:r>
            <a:r>
              <a:rPr lang="en-US" dirty="0">
                <a:solidFill>
                  <a:schemeClr val="tx1"/>
                </a:solidFill>
              </a:rPr>
              <a:t>) − 6</a:t>
            </a:r>
          </a:p>
          <a:p>
            <a:pPr marL="360000">
              <a:spcAft>
                <a:spcPts val="600"/>
              </a:spcAft>
            </a:pPr>
            <a:r>
              <a:rPr lang="en-US" dirty="0">
                <a:solidFill>
                  <a:schemeClr val="tx1"/>
                </a:solidFill>
              </a:rPr>
              <a:t>	</a:t>
            </a:r>
            <a:r>
              <a:rPr lang="en-US" i="1" dirty="0">
                <a:solidFill>
                  <a:srgbClr val="137F97"/>
                </a:solidFill>
              </a:rPr>
              <a:t>h</a:t>
            </a:r>
            <a:r>
              <a:rPr lang="en-US" dirty="0">
                <a:solidFill>
                  <a:srgbClr val="137F97"/>
                </a:solidFill>
              </a:rPr>
              <a:t>(</a:t>
            </a:r>
            <a:r>
              <a:rPr lang="en-US" i="1" dirty="0">
                <a:solidFill>
                  <a:srgbClr val="137F97"/>
                </a:solidFill>
              </a:rPr>
              <a:t>x</a:t>
            </a:r>
            <a:r>
              <a:rPr lang="en-US" dirty="0">
                <a:solidFill>
                  <a:srgbClr val="137F97"/>
                </a:solidFill>
              </a:rPr>
              <a:t>) = −2</a:t>
            </a:r>
            <a:r>
              <a:rPr lang="en-US" i="1" dirty="0">
                <a:solidFill>
                  <a:srgbClr val="137F97"/>
                </a:solidFill>
              </a:rPr>
              <a:t>x</a:t>
            </a:r>
            <a:r>
              <a:rPr lang="en-US" dirty="0">
                <a:solidFill>
                  <a:srgbClr val="137F97"/>
                </a:solidFill>
              </a:rPr>
              <a:t> − 6</a:t>
            </a:r>
          </a:p>
          <a:p>
            <a:pPr marL="360000">
              <a:spcAft>
                <a:spcPts val="600"/>
              </a:spcAft>
            </a:pPr>
            <a:r>
              <a:rPr lang="en-US" dirty="0">
                <a:solidFill>
                  <a:schemeClr val="tx1"/>
                </a:solidFill>
              </a:rPr>
              <a:t>The function </a:t>
            </a:r>
            <a:r>
              <a:rPr lang="en-US" i="1" dirty="0">
                <a:solidFill>
                  <a:schemeClr val="tx1"/>
                </a:solidFill>
              </a:rPr>
              <a:t>h</a:t>
            </a:r>
            <a:r>
              <a:rPr lang="en-US" dirty="0">
                <a:solidFill>
                  <a:schemeClr val="tx1"/>
                </a:solidFill>
              </a:rPr>
              <a:t> has a slope that is the opposite </a:t>
            </a:r>
            <a:br>
              <a:rPr lang="en-US" dirty="0">
                <a:solidFill>
                  <a:schemeClr val="tx1"/>
                </a:solidFill>
              </a:rPr>
            </a:br>
            <a:r>
              <a:rPr lang="en-US" dirty="0">
                <a:solidFill>
                  <a:schemeClr val="tx1"/>
                </a:solidFill>
              </a:rPr>
              <a:t>of the slope of </a:t>
            </a:r>
            <a:r>
              <a:rPr lang="en-US" i="1" dirty="0">
                <a:solidFill>
                  <a:schemeClr val="tx1"/>
                </a:solidFill>
              </a:rPr>
              <a:t>f</a:t>
            </a:r>
            <a:r>
              <a:rPr lang="en-US" dirty="0">
                <a:solidFill>
                  <a:schemeClr val="tx1"/>
                </a:solidFill>
              </a:rPr>
              <a:t> but with the same </a:t>
            </a:r>
            <a:r>
              <a:rPr lang="en-US" i="1" dirty="0">
                <a:solidFill>
                  <a:schemeClr val="tx1"/>
                </a:solidFill>
              </a:rPr>
              <a:t>y</a:t>
            </a:r>
            <a:r>
              <a:rPr lang="en-US" dirty="0">
                <a:solidFill>
                  <a:schemeClr val="tx1"/>
                </a:solidFill>
              </a:rPr>
              <a:t>-intercept. </a:t>
            </a:r>
            <a:br>
              <a:rPr lang="en-US" dirty="0">
                <a:solidFill>
                  <a:schemeClr val="tx1"/>
                </a:solidFill>
              </a:rPr>
            </a:br>
            <a:r>
              <a:rPr lang="en-US" dirty="0">
                <a:solidFill>
                  <a:schemeClr val="tx1"/>
                </a:solidFill>
              </a:rPr>
              <a:t>The domain of </a:t>
            </a:r>
            <a:r>
              <a:rPr lang="en-US" i="1" dirty="0">
                <a:solidFill>
                  <a:schemeClr val="tx1"/>
                </a:solidFill>
              </a:rPr>
              <a:t>h</a:t>
            </a:r>
            <a:r>
              <a:rPr lang="en-US" dirty="0">
                <a:solidFill>
                  <a:schemeClr val="tx1"/>
                </a:solidFill>
              </a:rPr>
              <a:t> is (−∞, 0]. The range for </a:t>
            </a:r>
            <a:r>
              <a:rPr lang="en-US" i="1" dirty="0">
                <a:solidFill>
                  <a:schemeClr val="tx1"/>
                </a:solidFill>
              </a:rPr>
              <a:t>f</a:t>
            </a:r>
            <a:r>
              <a:rPr lang="en-US" dirty="0">
                <a:solidFill>
                  <a:schemeClr val="tx1"/>
                </a:solidFill>
              </a:rPr>
              <a:t> and </a:t>
            </a:r>
            <a:r>
              <a:rPr lang="en-US" i="1" dirty="0">
                <a:solidFill>
                  <a:schemeClr val="tx1"/>
                </a:solidFill>
              </a:rPr>
              <a:t>h</a:t>
            </a:r>
            <a:r>
              <a:rPr lang="en-US" dirty="0">
                <a:solidFill>
                  <a:schemeClr val="tx1"/>
                </a:solidFill>
              </a:rPr>
              <a:t> </a:t>
            </a:r>
            <a:br>
              <a:rPr lang="en-US" dirty="0">
                <a:solidFill>
                  <a:schemeClr val="tx1"/>
                </a:solidFill>
              </a:rPr>
            </a:br>
            <a:r>
              <a:rPr lang="en-US" dirty="0">
                <a:solidFill>
                  <a:schemeClr val="tx1"/>
                </a:solidFill>
              </a:rPr>
              <a:t>are the same, [−6, ∞).</a:t>
            </a:r>
            <a:endParaRPr lang="en-IN" dirty="0">
              <a:solidFill>
                <a:schemeClr val="tx1"/>
              </a:solidFill>
            </a:endParaRPr>
          </a:p>
        </p:txBody>
      </p:sp>
      <p:sp>
        <p:nvSpPr>
          <p:cNvPr id="9" name="Rectangle 8">
            <a:extLst>
              <a:ext uri="{FF2B5EF4-FFF2-40B4-BE49-F238E27FC236}">
                <a16:creationId xmlns:a16="http://schemas.microsoft.com/office/drawing/2014/main" id="{33341DDE-51A7-BB4A-A5D0-B99BDB557C68}"/>
              </a:ext>
            </a:extLst>
          </p:cNvPr>
          <p:cNvSpPr/>
          <p:nvPr/>
        </p:nvSpPr>
        <p:spPr>
          <a:xfrm>
            <a:off x="452746" y="448777"/>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2</a:t>
            </a:r>
            <a:endParaRPr lang="en-US" sz="1800" cap="all" dirty="0"/>
          </a:p>
        </p:txBody>
      </p:sp>
      <p:sp>
        <p:nvSpPr>
          <p:cNvPr id="10" name="Rounded Rectangle 9">
            <a:extLst>
              <a:ext uri="{FF2B5EF4-FFF2-40B4-BE49-F238E27FC236}">
                <a16:creationId xmlns:a16="http://schemas.microsoft.com/office/drawing/2014/main" id="{8F64C450-5A2A-B44B-B667-D61D459945DB}"/>
              </a:ext>
            </a:extLst>
          </p:cNvPr>
          <p:cNvSpPr/>
          <p:nvPr/>
        </p:nvSpPr>
        <p:spPr>
          <a:xfrm>
            <a:off x="813104" y="3949871"/>
            <a:ext cx="4535274" cy="740156"/>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en-US" sz="1200" b="1" dirty="0">
                <a:solidFill>
                  <a:srgbClr val="C02B43"/>
                </a:solidFill>
              </a:rPr>
              <a:t>USE STRUCTURE</a:t>
            </a:r>
          </a:p>
          <a:p>
            <a:pPr>
              <a:spcAft>
                <a:spcPts val="300"/>
              </a:spcAft>
            </a:pPr>
            <a:r>
              <a:rPr lang="en-US" sz="1200" dirty="0">
                <a:solidFill>
                  <a:schemeClr val="tx1"/>
                </a:solidFill>
                <a:latin typeface="Arial" panose="020B0604020202020204" pitchFamily="34" charset="0"/>
                <a:cs typeface="Arial" panose="020B0604020202020204" pitchFamily="34" charset="0"/>
              </a:rPr>
              <a:t>Why does </a:t>
            </a:r>
            <a:r>
              <a:rPr lang="en-US" sz="1200" i="1" dirty="0">
                <a:solidFill>
                  <a:schemeClr val="tx1"/>
                </a:solidFill>
                <a:latin typeface="Arial" panose="020B0604020202020204" pitchFamily="34" charset="0"/>
                <a:cs typeface="Arial" panose="020B0604020202020204" pitchFamily="34" charset="0"/>
              </a:rPr>
              <a:t>g</a:t>
            </a:r>
            <a:r>
              <a:rPr lang="en-US" sz="1200" dirty="0">
                <a:solidFill>
                  <a:schemeClr val="tx1"/>
                </a:solidFill>
                <a:latin typeface="Arial" panose="020B0604020202020204" pitchFamily="34" charset="0"/>
                <a:cs typeface="Arial" panose="020B0604020202020204" pitchFamily="34" charset="0"/>
              </a:rPr>
              <a:t>(</a:t>
            </a:r>
            <a:r>
              <a:rPr lang="en-US" sz="1200" i="1" dirty="0">
                <a:solidFill>
                  <a:schemeClr val="tx1"/>
                </a:solidFill>
                <a:latin typeface="Arial" panose="020B0604020202020204" pitchFamily="34" charset="0"/>
                <a:cs typeface="Arial" panose="020B0604020202020204" pitchFamily="34" charset="0"/>
              </a:rPr>
              <a:t>x</a:t>
            </a:r>
            <a:r>
              <a:rPr lang="en-US" sz="1200" dirty="0">
                <a:solidFill>
                  <a:schemeClr val="tx1"/>
                </a:solidFill>
                <a:latin typeface="Arial" panose="020B0604020202020204" pitchFamily="34" charset="0"/>
                <a:cs typeface="Arial" panose="020B0604020202020204" pitchFamily="34" charset="0"/>
              </a:rPr>
              <a:t>) = −</a:t>
            </a:r>
            <a:r>
              <a:rPr lang="en-US" sz="1200" i="1" dirty="0">
                <a:solidFill>
                  <a:schemeClr val="tx1"/>
                </a:solidFill>
                <a:latin typeface="Arial" panose="020B0604020202020204" pitchFamily="34" charset="0"/>
                <a:cs typeface="Arial" panose="020B0604020202020204" pitchFamily="34" charset="0"/>
              </a:rPr>
              <a:t>f</a:t>
            </a:r>
            <a:r>
              <a:rPr lang="en-US" sz="1200" dirty="0">
                <a:solidFill>
                  <a:schemeClr val="tx1"/>
                </a:solidFill>
                <a:latin typeface="Arial" panose="020B0604020202020204" pitchFamily="34" charset="0"/>
                <a:cs typeface="Arial" panose="020B0604020202020204" pitchFamily="34" charset="0"/>
              </a:rPr>
              <a:t>(</a:t>
            </a:r>
            <a:r>
              <a:rPr lang="en-US" sz="1200" i="1" dirty="0">
                <a:solidFill>
                  <a:schemeClr val="tx1"/>
                </a:solidFill>
                <a:latin typeface="Arial" panose="020B0604020202020204" pitchFamily="34" charset="0"/>
                <a:cs typeface="Arial" panose="020B0604020202020204" pitchFamily="34" charset="0"/>
              </a:rPr>
              <a:t>x</a:t>
            </a:r>
            <a:r>
              <a:rPr lang="en-US" sz="1200" dirty="0">
                <a:solidFill>
                  <a:schemeClr val="tx1"/>
                </a:solidFill>
                <a:latin typeface="Arial" panose="020B0604020202020204" pitchFamily="34" charset="0"/>
                <a:cs typeface="Arial" panose="020B0604020202020204" pitchFamily="34" charset="0"/>
              </a:rPr>
              <a:t>) affect the </a:t>
            </a:r>
            <a:r>
              <a:rPr lang="en-US" sz="1200" i="1" dirty="0">
                <a:solidFill>
                  <a:schemeClr val="tx1"/>
                </a:solidFill>
                <a:latin typeface="Arial" panose="020B0604020202020204" pitchFamily="34" charset="0"/>
                <a:cs typeface="Arial" panose="020B0604020202020204" pitchFamily="34" charset="0"/>
              </a:rPr>
              <a:t>y</a:t>
            </a:r>
            <a:r>
              <a:rPr lang="en-US" sz="1200" dirty="0">
                <a:solidFill>
                  <a:schemeClr val="tx1"/>
                </a:solidFill>
                <a:latin typeface="Arial" panose="020B0604020202020204" pitchFamily="34" charset="0"/>
                <a:cs typeface="Arial" panose="020B0604020202020204" pitchFamily="34" charset="0"/>
              </a:rPr>
              <a:t>-coordinate of each point and </a:t>
            </a:r>
            <a:r>
              <a:rPr lang="en-US" sz="1200" i="1" dirty="0">
                <a:solidFill>
                  <a:schemeClr val="tx1"/>
                </a:solidFill>
                <a:latin typeface="Arial" panose="020B0604020202020204" pitchFamily="34" charset="0"/>
                <a:cs typeface="Arial" panose="020B0604020202020204" pitchFamily="34" charset="0"/>
              </a:rPr>
              <a:t>g</a:t>
            </a:r>
            <a:r>
              <a:rPr lang="en-US" sz="1200" dirty="0">
                <a:solidFill>
                  <a:schemeClr val="tx1"/>
                </a:solidFill>
                <a:latin typeface="Arial" panose="020B0604020202020204" pitchFamily="34" charset="0"/>
                <a:cs typeface="Arial" panose="020B0604020202020204" pitchFamily="34" charset="0"/>
              </a:rPr>
              <a:t>(</a:t>
            </a:r>
            <a:r>
              <a:rPr lang="en-US" sz="1200" i="1" dirty="0">
                <a:solidFill>
                  <a:schemeClr val="tx1"/>
                </a:solidFill>
                <a:latin typeface="Arial" panose="020B0604020202020204" pitchFamily="34" charset="0"/>
                <a:cs typeface="Arial" panose="020B0604020202020204" pitchFamily="34" charset="0"/>
              </a:rPr>
              <a:t>x</a:t>
            </a:r>
            <a:r>
              <a:rPr lang="en-US" sz="1200" dirty="0">
                <a:solidFill>
                  <a:schemeClr val="tx1"/>
                </a:solidFill>
                <a:latin typeface="Arial" panose="020B0604020202020204" pitchFamily="34" charset="0"/>
                <a:cs typeface="Arial" panose="020B0604020202020204" pitchFamily="34" charset="0"/>
              </a:rPr>
              <a:t>) = </a:t>
            </a:r>
            <a:r>
              <a:rPr lang="en-US" sz="1200" i="1" dirty="0">
                <a:solidFill>
                  <a:schemeClr val="tx1"/>
                </a:solidFill>
                <a:latin typeface="Arial" panose="020B0604020202020204" pitchFamily="34" charset="0"/>
                <a:cs typeface="Arial" panose="020B0604020202020204" pitchFamily="34" charset="0"/>
              </a:rPr>
              <a:t>f</a:t>
            </a:r>
            <a:r>
              <a:rPr lang="en-US" sz="1200" dirty="0">
                <a:solidFill>
                  <a:schemeClr val="tx1"/>
                </a:solidFill>
                <a:latin typeface="Arial" panose="020B0604020202020204" pitchFamily="34" charset="0"/>
                <a:cs typeface="Arial" panose="020B0604020202020204" pitchFamily="34" charset="0"/>
              </a:rPr>
              <a:t>(−</a:t>
            </a:r>
            <a:r>
              <a:rPr lang="en-US" sz="1200" i="1" dirty="0">
                <a:solidFill>
                  <a:schemeClr val="tx1"/>
                </a:solidFill>
                <a:latin typeface="Arial" panose="020B0604020202020204" pitchFamily="34" charset="0"/>
                <a:cs typeface="Arial" panose="020B0604020202020204" pitchFamily="34" charset="0"/>
              </a:rPr>
              <a:t>x</a:t>
            </a:r>
            <a:r>
              <a:rPr lang="en-US" sz="1200" dirty="0">
                <a:solidFill>
                  <a:schemeClr val="tx1"/>
                </a:solidFill>
                <a:latin typeface="Arial" panose="020B0604020202020204" pitchFamily="34" charset="0"/>
                <a:cs typeface="Arial" panose="020B0604020202020204" pitchFamily="34" charset="0"/>
              </a:rPr>
              <a:t>) affect the </a:t>
            </a:r>
            <a:r>
              <a:rPr lang="en-US" sz="1200" i="1" dirty="0">
                <a:solidFill>
                  <a:schemeClr val="tx1"/>
                </a:solidFill>
                <a:latin typeface="Arial" panose="020B0604020202020204" pitchFamily="34" charset="0"/>
                <a:cs typeface="Arial" panose="020B0604020202020204" pitchFamily="34" charset="0"/>
              </a:rPr>
              <a:t>x</a:t>
            </a:r>
            <a:r>
              <a:rPr lang="en-US" sz="1200" dirty="0">
                <a:solidFill>
                  <a:schemeClr val="tx1"/>
                </a:solidFill>
                <a:latin typeface="Arial" panose="020B0604020202020204" pitchFamily="34" charset="0"/>
                <a:cs typeface="Arial" panose="020B0604020202020204" pitchFamily="34" charset="0"/>
              </a:rPr>
              <a:t>-coordinate of each point?</a:t>
            </a:r>
            <a:endParaRPr lang="en-IN" sz="1200" dirty="0">
              <a:solidFill>
                <a:schemeClr val="tx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7FD28F1-BA15-57A0-89F1-0CAC15881E8F}"/>
              </a:ext>
            </a:extLst>
          </p:cNvPr>
          <p:cNvPicPr>
            <a:picLocks noChangeAspect="1"/>
          </p:cNvPicPr>
          <p:nvPr/>
        </p:nvPicPr>
        <p:blipFill>
          <a:blip r:embed="rId3"/>
          <a:stretch>
            <a:fillRect/>
          </a:stretch>
        </p:blipFill>
        <p:spPr>
          <a:xfrm>
            <a:off x="4652992" y="1313098"/>
            <a:ext cx="4289245" cy="4093778"/>
          </a:xfrm>
          <a:prstGeom prst="rect">
            <a:avLst/>
          </a:prstGeom>
        </p:spPr>
      </p:pic>
    </p:spTree>
    <p:extLst>
      <p:ext uri="{BB962C8B-B14F-4D97-AF65-F5344CB8AC3E}">
        <p14:creationId xmlns:p14="http://schemas.microsoft.com/office/powerpoint/2010/main" val="2034856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5" name="TextBox 4">
            <a:extLst>
              <a:ext uri="{FF2B5EF4-FFF2-40B4-BE49-F238E27FC236}">
                <a16:creationId xmlns:a16="http://schemas.microsoft.com/office/drawing/2014/main" id="{6E8F0502-F26D-4842-97A7-E6A7B55ABA0B}"/>
              </a:ext>
            </a:extLst>
          </p:cNvPr>
          <p:cNvSpPr txBox="1"/>
          <p:nvPr/>
        </p:nvSpPr>
        <p:spPr>
          <a:xfrm>
            <a:off x="355758" y="430002"/>
            <a:ext cx="8341433" cy="1923604"/>
          </a:xfrm>
          <a:prstGeom prst="rect">
            <a:avLst/>
          </a:prstGeom>
          <a:noFill/>
        </p:spPr>
        <p:txBody>
          <a:bodyPr wrap="square" rIns="36000" rtlCol="0">
            <a:spAutoFit/>
          </a:bodyPr>
          <a:lstStyle/>
          <a:p>
            <a:pPr>
              <a:spcAft>
                <a:spcPts val="2000"/>
              </a:spcAft>
              <a:tabLst>
                <a:tab pos="1584000" algn="l"/>
              </a:tabLst>
            </a:pPr>
            <a:r>
              <a:rPr lang="en-IN" sz="1800" b="1" dirty="0">
                <a:solidFill>
                  <a:srgbClr val="0078AE"/>
                </a:solidFill>
              </a:rPr>
              <a:t>	</a:t>
            </a:r>
            <a:r>
              <a:rPr lang="en-US" sz="1800" b="1" dirty="0">
                <a:solidFill>
                  <a:srgbClr val="58585A"/>
                </a:solidFill>
              </a:rPr>
              <a:t>Reflect a Function Across the </a:t>
            </a:r>
            <a:r>
              <a:rPr lang="en-US" sz="1800" b="1" i="1" dirty="0">
                <a:solidFill>
                  <a:srgbClr val="58585A"/>
                </a:solidFill>
              </a:rPr>
              <a:t>x</a:t>
            </a:r>
            <a:r>
              <a:rPr lang="en-US" sz="1800" b="1" dirty="0">
                <a:solidFill>
                  <a:srgbClr val="58585A"/>
                </a:solidFill>
              </a:rPr>
              <a:t>- or </a:t>
            </a:r>
            <a:r>
              <a:rPr lang="en-US" sz="1800" b="1" i="1" dirty="0">
                <a:solidFill>
                  <a:srgbClr val="58585A"/>
                </a:solidFill>
              </a:rPr>
              <a:t>y</a:t>
            </a:r>
            <a:r>
              <a:rPr lang="en-US" sz="1800" b="1" dirty="0">
                <a:solidFill>
                  <a:srgbClr val="58585A"/>
                </a:solidFill>
              </a:rPr>
              <a:t>-Axis</a:t>
            </a:r>
            <a:endParaRPr lang="en-IN" sz="1800" b="1" dirty="0">
              <a:solidFill>
                <a:srgbClr val="58585A"/>
              </a:solidFill>
            </a:endParaRPr>
          </a:p>
          <a:p>
            <a:pPr marL="1476375" indent="-1466850">
              <a:spcAft>
                <a:spcPts val="600"/>
              </a:spcAft>
              <a:tabLst>
                <a:tab pos="1062038" algn="l"/>
                <a:tab pos="1465263" algn="l"/>
              </a:tabLst>
            </a:pPr>
            <a:r>
              <a:rPr lang="en-IN" sz="1800" b="1" dirty="0">
                <a:solidFill>
                  <a:srgbClr val="D92B31"/>
                </a:solidFill>
              </a:rPr>
              <a:t>Try It!</a:t>
            </a:r>
            <a:endParaRPr lang="en-IN" sz="1800" b="1" dirty="0">
              <a:solidFill>
                <a:schemeClr val="tx1"/>
              </a:solidFill>
            </a:endParaRPr>
          </a:p>
          <a:p>
            <a:pPr marL="360000" indent="-360000">
              <a:spcAft>
                <a:spcPts val="1000"/>
              </a:spcAft>
              <a:buFont typeface="+mj-lt"/>
              <a:buAutoNum type="arabicPeriod" startAt="2"/>
              <a:tabLst>
                <a:tab pos="1062038" algn="l"/>
                <a:tab pos="1465263" algn="l"/>
              </a:tabLst>
            </a:pPr>
            <a:r>
              <a:rPr lang="en-IN" sz="1600" b="1" dirty="0"/>
              <a:t>​</a:t>
            </a:r>
            <a:r>
              <a:rPr lang="en-US" sz="1600" dirty="0"/>
              <a:t>What is the function for the reflected graph? Check by graphing.</a:t>
            </a:r>
          </a:p>
          <a:p>
            <a:pPr marL="720000" indent="-360000">
              <a:spcAft>
                <a:spcPts val="600"/>
              </a:spcAft>
              <a:buAutoNum type="alphaLcPeriod"/>
              <a:tabLst>
                <a:tab pos="1062038" algn="l"/>
                <a:tab pos="1465263" algn="l"/>
              </a:tabLst>
            </a:pPr>
            <a:r>
              <a:rPr lang="en-IN" sz="1600" b="1" dirty="0"/>
              <a:t>​</a:t>
            </a:r>
            <a:r>
              <a:rPr lang="en-US" sz="1600" dirty="0"/>
              <a:t>the graph of </a:t>
            </a:r>
            <a:r>
              <a:rPr lang="en-US" sz="1600" i="1" dirty="0"/>
              <a:t>f</a:t>
            </a:r>
            <a:r>
              <a:rPr lang="en-US" sz="1600" dirty="0"/>
              <a:t>(</a:t>
            </a:r>
            <a:r>
              <a:rPr lang="en-US" sz="1600" i="1" dirty="0"/>
              <a:t>x</a:t>
            </a:r>
            <a:r>
              <a:rPr lang="en-US" sz="1600" dirty="0"/>
              <a:t>) = </a:t>
            </a:r>
            <a:r>
              <a:rPr lang="en-US" sz="1600" i="1" dirty="0"/>
              <a:t>x</a:t>
            </a:r>
            <a:r>
              <a:rPr lang="en-US" sz="1600" baseline="30000" dirty="0"/>
              <a:t>2</a:t>
            </a:r>
            <a:r>
              <a:rPr lang="en-US" sz="1600" dirty="0"/>
              <a:t> </a:t>
            </a:r>
            <a:r>
              <a:rPr lang="mr-IN" sz="1600" dirty="0">
                <a:solidFill>
                  <a:schemeClr val="tx1"/>
                </a:solidFill>
              </a:rPr>
              <a:t>−</a:t>
            </a:r>
            <a:r>
              <a:rPr lang="en-US" sz="1600" dirty="0"/>
              <a:t> 2 reflected across the </a:t>
            </a:r>
            <a:r>
              <a:rPr lang="en-US" sz="1600" i="1" dirty="0"/>
              <a:t>x</a:t>
            </a:r>
            <a:r>
              <a:rPr lang="en-US" sz="1600" dirty="0"/>
              <a:t>-axis </a:t>
            </a:r>
          </a:p>
          <a:p>
            <a:pPr marL="720000" indent="-360000">
              <a:spcAft>
                <a:spcPts val="600"/>
              </a:spcAft>
              <a:buAutoNum type="alphaLcPeriod"/>
              <a:tabLst>
                <a:tab pos="1062038" algn="l"/>
                <a:tab pos="1465263" algn="l"/>
              </a:tabLst>
            </a:pPr>
            <a:r>
              <a:rPr lang="en-IN" sz="1600" b="1" dirty="0"/>
              <a:t>​</a:t>
            </a:r>
            <a:r>
              <a:rPr lang="en-US" sz="1600" dirty="0"/>
              <a:t>the graph of </a:t>
            </a:r>
            <a:r>
              <a:rPr lang="en-US" sz="1600" i="1" dirty="0"/>
              <a:t>f</a:t>
            </a:r>
            <a:r>
              <a:rPr lang="en-US" sz="1600" dirty="0"/>
              <a:t>(</a:t>
            </a:r>
            <a:r>
              <a:rPr lang="en-US" sz="1600" i="1" dirty="0"/>
              <a:t>x</a:t>
            </a:r>
            <a:r>
              <a:rPr lang="en-US" sz="1600" dirty="0"/>
              <a:t>) = </a:t>
            </a:r>
            <a:r>
              <a:rPr lang="en-US" sz="1600" i="1" dirty="0"/>
              <a:t>x</a:t>
            </a:r>
            <a:r>
              <a:rPr lang="en-US" sz="1600" baseline="30000" dirty="0"/>
              <a:t>2</a:t>
            </a:r>
            <a:r>
              <a:rPr lang="en-US" sz="1600" dirty="0"/>
              <a:t> </a:t>
            </a:r>
            <a:r>
              <a:rPr lang="mr-IN" sz="1600" dirty="0">
                <a:solidFill>
                  <a:schemeClr val="tx1"/>
                </a:solidFill>
              </a:rPr>
              <a:t>−</a:t>
            </a:r>
            <a:r>
              <a:rPr lang="en-US" sz="1600" dirty="0"/>
              <a:t> 2</a:t>
            </a:r>
            <a:r>
              <a:rPr lang="en-US" sz="1600" i="1" dirty="0"/>
              <a:t> </a:t>
            </a:r>
            <a:r>
              <a:rPr lang="en-US" sz="1600" dirty="0"/>
              <a:t>reflected across the </a:t>
            </a:r>
            <a:r>
              <a:rPr lang="en-US" sz="1600" i="1" dirty="0"/>
              <a:t>y</a:t>
            </a:r>
            <a:r>
              <a:rPr lang="en-US" sz="1600" dirty="0"/>
              <a:t>-axis</a:t>
            </a:r>
            <a:endParaRPr lang="en-IN" sz="1600" dirty="0"/>
          </a:p>
        </p:txBody>
      </p:sp>
      <p:sp>
        <p:nvSpPr>
          <p:cNvPr id="6" name="Rectangle 5">
            <a:extLst>
              <a:ext uri="{FF2B5EF4-FFF2-40B4-BE49-F238E27FC236}">
                <a16:creationId xmlns:a16="http://schemas.microsoft.com/office/drawing/2014/main" id="{33341DDE-51A7-BB4A-A5D0-B99BDB557C68}"/>
              </a:ext>
            </a:extLst>
          </p:cNvPr>
          <p:cNvSpPr/>
          <p:nvPr/>
        </p:nvSpPr>
        <p:spPr>
          <a:xfrm>
            <a:off x="452745" y="464612"/>
            <a:ext cx="1480558"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2</a:t>
            </a:r>
            <a:endParaRPr lang="en-US" sz="1800" cap="all" dirty="0"/>
          </a:p>
        </p:txBody>
      </p:sp>
      <p:cxnSp>
        <p:nvCxnSpPr>
          <p:cNvPr id="8" name="Straight Connector 7">
            <a:extLst>
              <a:ext uri="{FF2B5EF4-FFF2-40B4-BE49-F238E27FC236}">
                <a16:creationId xmlns:a16="http://schemas.microsoft.com/office/drawing/2014/main" id="{D447A917-E1F5-A140-8526-059885A56A79}"/>
              </a:ext>
            </a:extLst>
          </p:cNvPr>
          <p:cNvCxnSpPr/>
          <p:nvPr/>
        </p:nvCxnSpPr>
        <p:spPr>
          <a:xfrm>
            <a:off x="425301" y="894900"/>
            <a:ext cx="8304028" cy="0"/>
          </a:xfrm>
          <a:prstGeom prst="line">
            <a:avLst/>
          </a:prstGeom>
          <a:ln w="25400">
            <a:solidFill>
              <a:srgbClr val="0078AE"/>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70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2" name="TextBox 11">
            <a:extLst>
              <a:ext uri="{FF2B5EF4-FFF2-40B4-BE49-F238E27FC236}">
                <a16:creationId xmlns:a16="http://schemas.microsoft.com/office/drawing/2014/main" id="{6E8F0502-F26D-4842-97A7-E6A7B55ABA0B}"/>
              </a:ext>
            </a:extLst>
          </p:cNvPr>
          <p:cNvSpPr txBox="1"/>
          <p:nvPr/>
        </p:nvSpPr>
        <p:spPr>
          <a:xfrm>
            <a:off x="355758" y="415274"/>
            <a:ext cx="8321209" cy="5252720"/>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Understand Stretches and Compressions</a:t>
            </a:r>
            <a:endParaRPr lang="en-IN" sz="1800" b="1" dirty="0">
              <a:solidFill>
                <a:srgbClr val="58585A"/>
              </a:solidFill>
            </a:endParaRPr>
          </a:p>
          <a:p>
            <a:pPr marL="360000" indent="-360000">
              <a:spcAft>
                <a:spcPts val="600"/>
              </a:spcAft>
              <a:buFont typeface="+mj-lt"/>
              <a:buAutoNum type="alphaUcPeriod"/>
            </a:pPr>
            <a:r>
              <a:rPr lang="en-IN" sz="1600" b="1" dirty="0">
                <a:solidFill>
                  <a:schemeClr val="tx1"/>
                </a:solidFill>
              </a:rPr>
              <a:t>​</a:t>
            </a:r>
            <a:r>
              <a:rPr lang="en-US" sz="1600" b="1" dirty="0">
                <a:solidFill>
                  <a:schemeClr val="tx1"/>
                </a:solidFill>
              </a:rPr>
              <a:t>Graph </a:t>
            </a:r>
            <a:r>
              <a:rPr lang="en-US" sz="1600" b="1" i="1" dirty="0">
                <a:solidFill>
                  <a:schemeClr val="tx1"/>
                </a:solidFill>
              </a:rPr>
              <a:t>f</a:t>
            </a:r>
            <a:r>
              <a:rPr lang="en-US" sz="1600" b="1" dirty="0">
                <a:solidFill>
                  <a:schemeClr val="tx1"/>
                </a:solidFill>
              </a:rPr>
              <a:t>(</a:t>
            </a:r>
            <a:r>
              <a:rPr lang="en-US" sz="1600" b="1" i="1" dirty="0">
                <a:solidFill>
                  <a:schemeClr val="tx1"/>
                </a:solidFill>
              </a:rPr>
              <a:t>x</a:t>
            </a:r>
            <a:r>
              <a:rPr lang="en-US" sz="1600" b="1" dirty="0">
                <a:solidFill>
                  <a:schemeClr val="tx1"/>
                </a:solidFill>
              </a:rPr>
              <a:t>) = ∣</a:t>
            </a:r>
            <a:r>
              <a:rPr lang="en-US" sz="1600" b="1" i="1" dirty="0">
                <a:solidFill>
                  <a:schemeClr val="tx1"/>
                </a:solidFill>
              </a:rPr>
              <a:t>x</a:t>
            </a:r>
            <a:r>
              <a:rPr lang="en-US" sz="1600" b="1" dirty="0">
                <a:solidFill>
                  <a:schemeClr val="tx1"/>
                </a:solidFill>
              </a:rPr>
              <a:t>∣ with domain [−4, 4] and </a:t>
            </a:r>
            <a:r>
              <a:rPr lang="en-US" sz="1600" b="1" i="1" dirty="0">
                <a:solidFill>
                  <a:schemeClr val="tx1"/>
                </a:solidFill>
              </a:rPr>
              <a:t>g</a:t>
            </a:r>
            <a:r>
              <a:rPr lang="en-US" sz="1600" b="1" dirty="0">
                <a:solidFill>
                  <a:schemeClr val="tx1"/>
                </a:solidFill>
              </a:rPr>
              <a:t>(</a:t>
            </a:r>
            <a:r>
              <a:rPr lang="en-US" sz="1600" b="1" i="1" dirty="0">
                <a:solidFill>
                  <a:schemeClr val="tx1"/>
                </a:solidFill>
              </a:rPr>
              <a:t>x</a:t>
            </a:r>
            <a:r>
              <a:rPr lang="en-US" sz="1600" b="1" dirty="0">
                <a:solidFill>
                  <a:schemeClr val="tx1"/>
                </a:solidFill>
              </a:rPr>
              <a:t>) = 2   </a:t>
            </a:r>
            <a:r>
              <a:rPr lang="en-US" sz="1600" b="1" i="1" dirty="0">
                <a:solidFill>
                  <a:schemeClr val="tx1"/>
                </a:solidFill>
              </a:rPr>
              <a:t>f</a:t>
            </a:r>
            <a:r>
              <a:rPr lang="en-US" sz="1600" b="1" dirty="0">
                <a:solidFill>
                  <a:schemeClr val="tx1"/>
                </a:solidFill>
              </a:rPr>
              <a:t>(</a:t>
            </a:r>
            <a:r>
              <a:rPr lang="en-US" sz="1600" b="1" i="1" dirty="0">
                <a:solidFill>
                  <a:schemeClr val="tx1"/>
                </a:solidFill>
              </a:rPr>
              <a:t>x</a:t>
            </a:r>
            <a:r>
              <a:rPr lang="en-US" sz="1600" b="1" dirty="0">
                <a:solidFill>
                  <a:schemeClr val="tx1"/>
                </a:solidFill>
              </a:rPr>
              <a:t>). How are the graphs, domains, and ranges related? </a:t>
            </a:r>
          </a:p>
          <a:p>
            <a:pPr marL="360000" indent="-457200">
              <a:spcAft>
                <a:spcPts val="22200"/>
              </a:spcAft>
            </a:pPr>
            <a:r>
              <a:rPr lang="en-US" sz="1600" dirty="0">
                <a:solidFill>
                  <a:schemeClr val="tx1"/>
                </a:solidFill>
              </a:rPr>
              <a:t>	</a:t>
            </a:r>
            <a:r>
              <a:rPr lang="en-US" dirty="0">
                <a:solidFill>
                  <a:schemeClr val="tx1"/>
                </a:solidFill>
              </a:rPr>
              <a:t>Use a table to find points on the graph of </a:t>
            </a:r>
            <a:r>
              <a:rPr lang="en-US" i="1" dirty="0">
                <a:solidFill>
                  <a:schemeClr val="tx1"/>
                </a:solidFill>
              </a:rPr>
              <a:t>g</a:t>
            </a:r>
            <a:r>
              <a:rPr lang="en-US" dirty="0">
                <a:solidFill>
                  <a:schemeClr val="tx1"/>
                </a:solidFill>
              </a:rPr>
              <a:t>. </a:t>
            </a:r>
          </a:p>
          <a:p>
            <a:pPr marL="360000" indent="-457200">
              <a:spcAft>
                <a:spcPts val="1200"/>
              </a:spcAft>
            </a:pPr>
            <a:r>
              <a:rPr lang="en-US" dirty="0">
                <a:solidFill>
                  <a:schemeClr val="tx1"/>
                </a:solidFill>
              </a:rPr>
              <a:t>	A transformation that increases the distance between the points of a graph and a given line, usually the </a:t>
            </a:r>
            <a:r>
              <a:rPr lang="en-US" i="1" dirty="0">
                <a:solidFill>
                  <a:schemeClr val="tx1"/>
                </a:solidFill>
              </a:rPr>
              <a:t>x</a:t>
            </a:r>
            <a:r>
              <a:rPr lang="en-US" dirty="0">
                <a:solidFill>
                  <a:schemeClr val="tx1"/>
                </a:solidFill>
              </a:rPr>
              <a:t>-axis, by the same factor is called a </a:t>
            </a:r>
            <a:r>
              <a:rPr lang="en-US" b="1" dirty="0">
                <a:solidFill>
                  <a:schemeClr val="tx1"/>
                </a:solidFill>
                <a:highlight>
                  <a:srgbClr val="FFFF00"/>
                </a:highlight>
              </a:rPr>
              <a:t>stretch</a:t>
            </a:r>
            <a:r>
              <a:rPr lang="en-US" dirty="0">
                <a:solidFill>
                  <a:schemeClr val="tx1"/>
                </a:solidFill>
              </a:rPr>
              <a:t>. The graph of </a:t>
            </a:r>
            <a:r>
              <a:rPr lang="en-US" i="1" dirty="0">
                <a:solidFill>
                  <a:schemeClr val="tx1"/>
                </a:solidFill>
              </a:rPr>
              <a:t>g</a:t>
            </a:r>
            <a:r>
              <a:rPr lang="en-US" dirty="0">
                <a:solidFill>
                  <a:schemeClr val="tx1"/>
                </a:solidFill>
              </a:rPr>
              <a:t> is a vertical stretch of the graph of </a:t>
            </a:r>
            <a:r>
              <a:rPr lang="en-US" i="1" dirty="0">
                <a:solidFill>
                  <a:schemeClr val="tx1"/>
                </a:solidFill>
              </a:rPr>
              <a:t>f</a:t>
            </a:r>
            <a:r>
              <a:rPr lang="en-US" dirty="0">
                <a:solidFill>
                  <a:schemeClr val="tx1"/>
                </a:solidFill>
              </a:rPr>
              <a:t> by a factor of 2.</a:t>
            </a:r>
          </a:p>
          <a:p>
            <a:pPr marL="360000" indent="-360000">
              <a:spcAft>
                <a:spcPts val="1800"/>
              </a:spcAft>
            </a:pPr>
            <a:r>
              <a:rPr lang="en-US" dirty="0">
                <a:solidFill>
                  <a:schemeClr val="tx1"/>
                </a:solidFill>
              </a:rPr>
              <a:t>       The domains of </a:t>
            </a:r>
            <a:r>
              <a:rPr lang="en-US" i="1" dirty="0">
                <a:solidFill>
                  <a:schemeClr val="tx1"/>
                </a:solidFill>
              </a:rPr>
              <a:t>f</a:t>
            </a:r>
            <a:r>
              <a:rPr lang="en-US" dirty="0">
                <a:solidFill>
                  <a:schemeClr val="tx1"/>
                </a:solidFill>
              </a:rPr>
              <a:t> and </a:t>
            </a:r>
            <a:r>
              <a:rPr lang="en-US" i="1" dirty="0">
                <a:solidFill>
                  <a:schemeClr val="tx1"/>
                </a:solidFill>
              </a:rPr>
              <a:t>g</a:t>
            </a:r>
            <a:r>
              <a:rPr lang="en-US" dirty="0">
                <a:solidFill>
                  <a:schemeClr val="tx1"/>
                </a:solidFill>
              </a:rPr>
              <a:t> are the same. The range of </a:t>
            </a:r>
            <a:r>
              <a:rPr lang="en-US" i="1" dirty="0">
                <a:solidFill>
                  <a:schemeClr val="tx1"/>
                </a:solidFill>
              </a:rPr>
              <a:t>f</a:t>
            </a:r>
            <a:r>
              <a:rPr lang="en-US" dirty="0">
                <a:solidFill>
                  <a:schemeClr val="tx1"/>
                </a:solidFill>
              </a:rPr>
              <a:t>, </a:t>
            </a:r>
            <a:r>
              <a:rPr lang="en-US" dirty="0">
                <a:solidFill>
                  <a:srgbClr val="256BB9"/>
                </a:solidFill>
              </a:rPr>
              <a:t>[0, 4]</a:t>
            </a:r>
            <a:r>
              <a:rPr lang="en-US" dirty="0">
                <a:solidFill>
                  <a:schemeClr val="tx1"/>
                </a:solidFill>
              </a:rPr>
              <a:t>, is doubled for </a:t>
            </a:r>
            <a:r>
              <a:rPr lang="en-US" i="1" dirty="0">
                <a:solidFill>
                  <a:schemeClr val="tx1"/>
                </a:solidFill>
              </a:rPr>
              <a:t>g</a:t>
            </a:r>
            <a:r>
              <a:rPr lang="en-US" dirty="0">
                <a:solidFill>
                  <a:schemeClr val="tx1"/>
                </a:solidFill>
              </a:rPr>
              <a:t> to </a:t>
            </a:r>
            <a:r>
              <a:rPr lang="en-US" dirty="0">
                <a:solidFill>
                  <a:srgbClr val="D92B31"/>
                </a:solidFill>
              </a:rPr>
              <a:t>[0, 8]</a:t>
            </a:r>
            <a:r>
              <a:rPr lang="en-US" dirty="0">
                <a:solidFill>
                  <a:schemeClr val="tx1"/>
                </a:solidFill>
              </a:rPr>
              <a:t>. </a:t>
            </a:r>
          </a:p>
        </p:txBody>
      </p:sp>
      <p:pic>
        <p:nvPicPr>
          <p:cNvPr id="3" name="Picture 2"/>
          <p:cNvPicPr>
            <a:picLocks noChangeAspect="1"/>
          </p:cNvPicPr>
          <p:nvPr/>
        </p:nvPicPr>
        <p:blipFill>
          <a:blip r:embed="rId3"/>
          <a:stretch>
            <a:fillRect/>
          </a:stretch>
        </p:blipFill>
        <p:spPr>
          <a:xfrm>
            <a:off x="5362447" y="924593"/>
            <a:ext cx="116349" cy="145436"/>
          </a:xfrm>
          <a:prstGeom prst="rect">
            <a:avLst/>
          </a:prstGeom>
        </p:spPr>
      </p:pic>
      <p:sp>
        <p:nvSpPr>
          <p:cNvPr id="2" name="Rectangle 1"/>
          <p:cNvSpPr/>
          <p:nvPr/>
        </p:nvSpPr>
        <p:spPr>
          <a:xfrm>
            <a:off x="3970864" y="3275112"/>
            <a:ext cx="1052542" cy="307777"/>
          </a:xfrm>
          <a:prstGeom prst="rect">
            <a:avLst/>
          </a:prstGeom>
        </p:spPr>
        <p:txBody>
          <a:bodyPr wrap="none">
            <a:spAutoFit/>
          </a:bodyPr>
          <a:lstStyle/>
          <a:p>
            <a:r>
              <a:rPr lang="en-IN" b="1" cap="all" dirty="0">
                <a:solidFill>
                  <a:schemeClr val="bg1"/>
                </a:solidFill>
              </a:rPr>
              <a:t>Example </a:t>
            </a:r>
            <a:endParaRPr lang="en-US" cap="all" dirty="0"/>
          </a:p>
        </p:txBody>
      </p:sp>
      <p:sp>
        <p:nvSpPr>
          <p:cNvPr id="13" name="Rectangle 12">
            <a:extLst>
              <a:ext uri="{FF2B5EF4-FFF2-40B4-BE49-F238E27FC236}">
                <a16:creationId xmlns:a16="http://schemas.microsoft.com/office/drawing/2014/main" id="{33341DDE-51A7-BB4A-A5D0-B99BDB557C68}"/>
              </a:ext>
            </a:extLst>
          </p:cNvPr>
          <p:cNvSpPr/>
          <p:nvPr/>
        </p:nvSpPr>
        <p:spPr>
          <a:xfrm>
            <a:off x="452746" y="457835"/>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3</a:t>
            </a:r>
            <a:endParaRPr lang="en-US" sz="1800" cap="all" dirty="0"/>
          </a:p>
        </p:txBody>
      </p:sp>
      <p:pic>
        <p:nvPicPr>
          <p:cNvPr id="7" name="Picture 6">
            <a:extLst>
              <a:ext uri="{FF2B5EF4-FFF2-40B4-BE49-F238E27FC236}">
                <a16:creationId xmlns:a16="http://schemas.microsoft.com/office/drawing/2014/main" id="{10EAAEB6-FCA6-30FB-B1CD-6C1CF29DBC77}"/>
              </a:ext>
            </a:extLst>
          </p:cNvPr>
          <p:cNvPicPr>
            <a:picLocks noChangeAspect="1"/>
          </p:cNvPicPr>
          <p:nvPr/>
        </p:nvPicPr>
        <p:blipFill>
          <a:blip r:embed="rId4"/>
          <a:stretch>
            <a:fillRect/>
          </a:stretch>
        </p:blipFill>
        <p:spPr>
          <a:xfrm>
            <a:off x="636624" y="1419409"/>
            <a:ext cx="7422173" cy="3043483"/>
          </a:xfrm>
          <a:prstGeom prst="rect">
            <a:avLst/>
          </a:prstGeom>
        </p:spPr>
      </p:pic>
    </p:spTree>
    <p:extLst>
      <p:ext uri="{BB962C8B-B14F-4D97-AF65-F5344CB8AC3E}">
        <p14:creationId xmlns:p14="http://schemas.microsoft.com/office/powerpoint/2010/main" val="1925634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Rectangle 1"/>
          <p:cNvSpPr/>
          <p:nvPr/>
        </p:nvSpPr>
        <p:spPr>
          <a:xfrm>
            <a:off x="3970864" y="3275112"/>
            <a:ext cx="1052542" cy="307777"/>
          </a:xfrm>
          <a:prstGeom prst="rect">
            <a:avLst/>
          </a:prstGeom>
        </p:spPr>
        <p:txBody>
          <a:bodyPr wrap="none">
            <a:spAutoFit/>
          </a:bodyPr>
          <a:lstStyle/>
          <a:p>
            <a:r>
              <a:rPr lang="en-IN" b="1" cap="all" dirty="0">
                <a:solidFill>
                  <a:schemeClr val="bg1"/>
                </a:solidFill>
              </a:rPr>
              <a:t>Example </a:t>
            </a:r>
            <a:endParaRPr lang="en-US" cap="all" dirty="0"/>
          </a:p>
        </p:txBody>
      </p:sp>
      <p:sp>
        <p:nvSpPr>
          <p:cNvPr id="12" name="TextBox 11">
            <a:extLst>
              <a:ext uri="{FF2B5EF4-FFF2-40B4-BE49-F238E27FC236}">
                <a16:creationId xmlns:a16="http://schemas.microsoft.com/office/drawing/2014/main" id="{6E8F0502-F26D-4842-97A7-E6A7B55ABA0B}"/>
              </a:ext>
            </a:extLst>
          </p:cNvPr>
          <p:cNvSpPr txBox="1"/>
          <p:nvPr/>
        </p:nvSpPr>
        <p:spPr>
          <a:xfrm>
            <a:off x="355758" y="415276"/>
            <a:ext cx="8369046" cy="5627181"/>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Understand Stretches and Compressions</a:t>
            </a:r>
            <a:endParaRPr lang="en-IN" sz="1800" b="1" dirty="0">
              <a:solidFill>
                <a:srgbClr val="58585A"/>
              </a:solidFill>
            </a:endParaRPr>
          </a:p>
          <a:p>
            <a:pPr marL="360000" indent="-378000">
              <a:spcAft>
                <a:spcPts val="600"/>
              </a:spcAft>
              <a:buFont typeface="+mj-lt"/>
              <a:buAutoNum type="alphaUcPeriod" startAt="2"/>
            </a:pPr>
            <a:r>
              <a:rPr lang="en-IN" sz="1600" b="1" dirty="0">
                <a:solidFill>
                  <a:schemeClr val="tx1"/>
                </a:solidFill>
              </a:rPr>
              <a:t>​</a:t>
            </a:r>
            <a:r>
              <a:rPr lang="en-US" sz="1600" b="1" dirty="0">
                <a:solidFill>
                  <a:schemeClr val="tx1"/>
                </a:solidFill>
              </a:rPr>
              <a:t>Graph </a:t>
            </a:r>
            <a:r>
              <a:rPr lang="en-US" sz="1600" b="1" i="1" dirty="0">
                <a:solidFill>
                  <a:schemeClr val="tx1"/>
                </a:solidFill>
              </a:rPr>
              <a:t>f</a:t>
            </a:r>
            <a:r>
              <a:rPr lang="en-US" sz="1600" b="1" dirty="0">
                <a:solidFill>
                  <a:schemeClr val="tx1"/>
                </a:solidFill>
              </a:rPr>
              <a:t>(</a:t>
            </a:r>
            <a:r>
              <a:rPr lang="en-US" sz="1600" b="1" i="1" dirty="0">
                <a:solidFill>
                  <a:schemeClr val="tx1"/>
                </a:solidFill>
              </a:rPr>
              <a:t>x</a:t>
            </a:r>
            <a:r>
              <a:rPr lang="en-US" sz="1600" b="1" dirty="0">
                <a:solidFill>
                  <a:schemeClr val="tx1"/>
                </a:solidFill>
              </a:rPr>
              <a:t>) = ∣</a:t>
            </a:r>
            <a:r>
              <a:rPr lang="en-US" sz="1600" b="1" i="1" dirty="0">
                <a:solidFill>
                  <a:schemeClr val="tx1"/>
                </a:solidFill>
              </a:rPr>
              <a:t>x</a:t>
            </a:r>
            <a:r>
              <a:rPr lang="en-US" sz="1600" b="1" dirty="0">
                <a:solidFill>
                  <a:schemeClr val="tx1"/>
                </a:solidFill>
              </a:rPr>
              <a:t>∣ with domain [−4, 4] and </a:t>
            </a:r>
            <a:r>
              <a:rPr lang="en-US" sz="1600" b="1" i="1" dirty="0">
                <a:solidFill>
                  <a:schemeClr val="tx1"/>
                </a:solidFill>
              </a:rPr>
              <a:t>h</a:t>
            </a:r>
            <a:r>
              <a:rPr lang="en-US" sz="1600" b="1" dirty="0">
                <a:solidFill>
                  <a:schemeClr val="tx1"/>
                </a:solidFill>
              </a:rPr>
              <a:t>(</a:t>
            </a:r>
            <a:r>
              <a:rPr lang="en-US" sz="1600" b="1" i="1" dirty="0">
                <a:solidFill>
                  <a:schemeClr val="tx1"/>
                </a:solidFill>
              </a:rPr>
              <a:t>x</a:t>
            </a:r>
            <a:r>
              <a:rPr lang="en-US" sz="1600" b="1" dirty="0">
                <a:solidFill>
                  <a:schemeClr val="tx1"/>
                </a:solidFill>
              </a:rPr>
              <a:t>) = </a:t>
            </a:r>
            <a:r>
              <a:rPr lang="en-US" sz="1600" b="1" i="1" dirty="0">
                <a:solidFill>
                  <a:schemeClr val="tx1"/>
                </a:solidFill>
              </a:rPr>
              <a:t>f</a:t>
            </a:r>
            <a:r>
              <a:rPr lang="en-US" sz="1600" b="1" dirty="0">
                <a:solidFill>
                  <a:schemeClr val="tx1"/>
                </a:solidFill>
              </a:rPr>
              <a:t>(2</a:t>
            </a:r>
            <a:r>
              <a:rPr lang="en-US" sz="1600" b="1" i="1" dirty="0">
                <a:solidFill>
                  <a:schemeClr val="tx1"/>
                </a:solidFill>
              </a:rPr>
              <a:t>x</a:t>
            </a:r>
            <a:r>
              <a:rPr lang="en-US" sz="1600" b="1" dirty="0">
                <a:solidFill>
                  <a:schemeClr val="tx1"/>
                </a:solidFill>
              </a:rPr>
              <a:t>). How are the graphs, domains, and ranges related? </a:t>
            </a:r>
          </a:p>
          <a:p>
            <a:pPr marL="360000" indent="-457200">
              <a:spcAft>
                <a:spcPts val="19000"/>
              </a:spcAft>
            </a:pPr>
            <a:r>
              <a:rPr lang="en-US" sz="1600" dirty="0">
                <a:solidFill>
                  <a:schemeClr val="tx1"/>
                </a:solidFill>
              </a:rPr>
              <a:t>	</a:t>
            </a:r>
            <a:r>
              <a:rPr lang="en-US" dirty="0">
                <a:solidFill>
                  <a:schemeClr val="tx1"/>
                </a:solidFill>
              </a:rPr>
              <a:t>Use a table to find points on the graph of </a:t>
            </a:r>
            <a:r>
              <a:rPr lang="en-US" i="1" dirty="0">
                <a:solidFill>
                  <a:schemeClr val="tx1"/>
                </a:solidFill>
              </a:rPr>
              <a:t>h</a:t>
            </a:r>
            <a:r>
              <a:rPr lang="en-US" dirty="0">
                <a:solidFill>
                  <a:schemeClr val="tx1"/>
                </a:solidFill>
              </a:rPr>
              <a:t>. </a:t>
            </a:r>
          </a:p>
          <a:p>
            <a:pPr marL="360000" indent="-457200">
              <a:spcAft>
                <a:spcPts val="600"/>
              </a:spcAft>
            </a:pPr>
            <a:r>
              <a:rPr lang="en-US" dirty="0">
                <a:solidFill>
                  <a:schemeClr val="tx1"/>
                </a:solidFill>
              </a:rPr>
              <a:t>	A transformation that decreases the distance between the </a:t>
            </a:r>
            <a:br>
              <a:rPr lang="en-US" dirty="0">
                <a:solidFill>
                  <a:schemeClr val="tx1"/>
                </a:solidFill>
              </a:rPr>
            </a:br>
            <a:r>
              <a:rPr lang="en-US" dirty="0">
                <a:solidFill>
                  <a:schemeClr val="tx1"/>
                </a:solidFill>
              </a:rPr>
              <a:t>points of a graph and a given line, usually the </a:t>
            </a:r>
            <a:r>
              <a:rPr lang="en-US" i="1" dirty="0">
                <a:solidFill>
                  <a:schemeClr val="tx1"/>
                </a:solidFill>
              </a:rPr>
              <a:t>y</a:t>
            </a:r>
            <a:r>
              <a:rPr lang="en-US" dirty="0">
                <a:solidFill>
                  <a:schemeClr val="tx1"/>
                </a:solidFill>
              </a:rPr>
              <a:t>-axis, by the </a:t>
            </a:r>
            <a:br>
              <a:rPr lang="en-US" dirty="0">
                <a:solidFill>
                  <a:schemeClr val="tx1"/>
                </a:solidFill>
              </a:rPr>
            </a:br>
            <a:r>
              <a:rPr lang="en-US" dirty="0">
                <a:solidFill>
                  <a:schemeClr val="tx1"/>
                </a:solidFill>
              </a:rPr>
              <a:t>same factor is called a </a:t>
            </a:r>
            <a:r>
              <a:rPr lang="en-US" b="1" dirty="0">
                <a:solidFill>
                  <a:schemeClr val="tx1"/>
                </a:solidFill>
                <a:highlight>
                  <a:srgbClr val="FFFF00"/>
                </a:highlight>
              </a:rPr>
              <a:t>compression</a:t>
            </a:r>
            <a:r>
              <a:rPr lang="en-US" dirty="0">
                <a:solidFill>
                  <a:schemeClr val="tx1"/>
                </a:solidFill>
              </a:rPr>
              <a:t>. The graph of </a:t>
            </a:r>
            <a:r>
              <a:rPr lang="en-US" i="1" dirty="0">
                <a:solidFill>
                  <a:schemeClr val="tx1"/>
                </a:solidFill>
              </a:rPr>
              <a:t>h</a:t>
            </a:r>
            <a:r>
              <a:rPr lang="en-US" dirty="0">
                <a:solidFill>
                  <a:schemeClr val="tx1"/>
                </a:solidFill>
              </a:rPr>
              <a:t> is a </a:t>
            </a:r>
            <a:br>
              <a:rPr lang="en-US" dirty="0">
                <a:solidFill>
                  <a:schemeClr val="tx1"/>
                </a:solidFill>
              </a:rPr>
            </a:br>
            <a:r>
              <a:rPr lang="en-US" dirty="0">
                <a:solidFill>
                  <a:schemeClr val="tx1"/>
                </a:solidFill>
              </a:rPr>
              <a:t>horizontal compression of the graph of </a:t>
            </a:r>
            <a:r>
              <a:rPr lang="en-US" i="1" dirty="0">
                <a:solidFill>
                  <a:schemeClr val="tx1"/>
                </a:solidFill>
              </a:rPr>
              <a:t>f</a:t>
            </a:r>
            <a:r>
              <a:rPr lang="en-US" dirty="0">
                <a:solidFill>
                  <a:schemeClr val="tx1"/>
                </a:solidFill>
              </a:rPr>
              <a:t> by a factor of 2.</a:t>
            </a:r>
          </a:p>
          <a:p>
            <a:pPr marL="360000" indent="-457200">
              <a:spcAft>
                <a:spcPts val="600"/>
              </a:spcAft>
            </a:pPr>
            <a:r>
              <a:rPr lang="en-US" dirty="0">
                <a:solidFill>
                  <a:schemeClr val="tx1"/>
                </a:solidFill>
              </a:rPr>
              <a:t>	For each corresponding output, the value of the input for </a:t>
            </a:r>
            <a:r>
              <a:rPr lang="en-US" i="1" dirty="0">
                <a:solidFill>
                  <a:schemeClr val="tx1"/>
                </a:solidFill>
              </a:rPr>
              <a:t>h</a:t>
            </a:r>
            <a:r>
              <a:rPr lang="en-US" dirty="0">
                <a:solidFill>
                  <a:schemeClr val="tx1"/>
                </a:solidFill>
              </a:rPr>
              <a:t> </a:t>
            </a:r>
            <a:br>
              <a:rPr lang="en-US" dirty="0">
                <a:solidFill>
                  <a:schemeClr val="tx1"/>
                </a:solidFill>
              </a:rPr>
            </a:br>
            <a:r>
              <a:rPr lang="en-US" dirty="0">
                <a:solidFill>
                  <a:schemeClr val="tx1"/>
                </a:solidFill>
              </a:rPr>
              <a:t>is half the value of the input for </a:t>
            </a:r>
            <a:r>
              <a:rPr lang="en-US" i="1" dirty="0">
                <a:solidFill>
                  <a:schemeClr val="tx1"/>
                </a:solidFill>
              </a:rPr>
              <a:t>f</a:t>
            </a:r>
            <a:r>
              <a:rPr lang="en-US" dirty="0">
                <a:solidFill>
                  <a:schemeClr val="tx1"/>
                </a:solidFill>
              </a:rPr>
              <a:t>. The two functions have the </a:t>
            </a:r>
            <a:br>
              <a:rPr lang="en-US" dirty="0">
                <a:solidFill>
                  <a:schemeClr val="tx1"/>
                </a:solidFill>
              </a:rPr>
            </a:br>
            <a:r>
              <a:rPr lang="en-US" dirty="0">
                <a:solidFill>
                  <a:schemeClr val="tx1"/>
                </a:solidFill>
              </a:rPr>
              <a:t>same range. The values in the domain of </a:t>
            </a:r>
            <a:r>
              <a:rPr lang="en-US" i="1" dirty="0">
                <a:solidFill>
                  <a:schemeClr val="tx1"/>
                </a:solidFill>
              </a:rPr>
              <a:t>h</a:t>
            </a:r>
            <a:r>
              <a:rPr lang="en-US" dirty="0">
                <a:solidFill>
                  <a:schemeClr val="tx1"/>
                </a:solidFill>
              </a:rPr>
              <a:t>, </a:t>
            </a:r>
            <a:r>
              <a:rPr lang="en-US" dirty="0">
                <a:solidFill>
                  <a:srgbClr val="168446"/>
                </a:solidFill>
              </a:rPr>
              <a:t>[–2, 2]</a:t>
            </a:r>
            <a:r>
              <a:rPr lang="en-US" dirty="0">
                <a:solidFill>
                  <a:schemeClr val="tx1"/>
                </a:solidFill>
              </a:rPr>
              <a:t>, are half </a:t>
            </a:r>
            <a:br>
              <a:rPr lang="en-US" dirty="0">
                <a:solidFill>
                  <a:schemeClr val="tx1"/>
                </a:solidFill>
              </a:rPr>
            </a:br>
            <a:r>
              <a:rPr lang="en-US" dirty="0">
                <a:solidFill>
                  <a:schemeClr val="tx1"/>
                </a:solidFill>
              </a:rPr>
              <a:t>as large as the values in the domain of </a:t>
            </a:r>
            <a:r>
              <a:rPr lang="en-US" i="1" dirty="0">
                <a:solidFill>
                  <a:schemeClr val="tx1"/>
                </a:solidFill>
              </a:rPr>
              <a:t>f</a:t>
            </a:r>
            <a:r>
              <a:rPr lang="en-US" dirty="0">
                <a:solidFill>
                  <a:schemeClr val="tx1"/>
                </a:solidFill>
              </a:rPr>
              <a:t>, </a:t>
            </a:r>
            <a:r>
              <a:rPr lang="en-US" dirty="0">
                <a:solidFill>
                  <a:srgbClr val="137F97"/>
                </a:solidFill>
              </a:rPr>
              <a:t>[–4, 4]</a:t>
            </a:r>
            <a:r>
              <a:rPr lang="en-US" dirty="0">
                <a:solidFill>
                  <a:schemeClr val="tx1"/>
                </a:solidFill>
              </a:rPr>
              <a:t>.</a:t>
            </a:r>
          </a:p>
        </p:txBody>
      </p:sp>
      <p:sp>
        <p:nvSpPr>
          <p:cNvPr id="13" name="Rectangle 12">
            <a:extLst>
              <a:ext uri="{FF2B5EF4-FFF2-40B4-BE49-F238E27FC236}">
                <a16:creationId xmlns:a16="http://schemas.microsoft.com/office/drawing/2014/main" id="{33341DDE-51A7-BB4A-A5D0-B99BDB557C68}"/>
              </a:ext>
            </a:extLst>
          </p:cNvPr>
          <p:cNvSpPr/>
          <p:nvPr/>
        </p:nvSpPr>
        <p:spPr>
          <a:xfrm>
            <a:off x="452746" y="457837"/>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3</a:t>
            </a:r>
            <a:endParaRPr lang="en-US" sz="1800" cap="all" dirty="0"/>
          </a:p>
        </p:txBody>
      </p:sp>
      <p:sp>
        <p:nvSpPr>
          <p:cNvPr id="7" name="Rounded Rectangle 6">
            <a:extLst>
              <a:ext uri="{FF2B5EF4-FFF2-40B4-BE49-F238E27FC236}">
                <a16:creationId xmlns:a16="http://schemas.microsoft.com/office/drawing/2014/main" id="{8F64C450-5A2A-B44B-B667-D61D459945DB}"/>
              </a:ext>
            </a:extLst>
          </p:cNvPr>
          <p:cNvSpPr/>
          <p:nvPr/>
        </p:nvSpPr>
        <p:spPr>
          <a:xfrm>
            <a:off x="5794375" y="4145426"/>
            <a:ext cx="2794000" cy="1507929"/>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de-DE" sz="1200" b="1" dirty="0">
                <a:solidFill>
                  <a:srgbClr val="137F97"/>
                </a:solidFill>
              </a:rPr>
              <a:t>COMMON ERROR</a:t>
            </a:r>
          </a:p>
          <a:p>
            <a:pPr>
              <a:spcAft>
                <a:spcPts val="300"/>
              </a:spcAft>
            </a:pPr>
            <a:r>
              <a:rPr lang="en-US" sz="1200" dirty="0">
                <a:solidFill>
                  <a:schemeClr val="tx1"/>
                </a:solidFill>
                <a:latin typeface="Arial" panose="020B0604020202020204" pitchFamily="34" charset="0"/>
                <a:cs typeface="Arial" panose="020B0604020202020204" pitchFamily="34" charset="0"/>
              </a:rPr>
              <a:t>Be careful not to assume that the domain of a transformed function is the same as the domain of the original function. Notice that </a:t>
            </a:r>
            <a:r>
              <a:rPr lang="en-US" sz="1200" i="1" dirty="0">
                <a:solidFill>
                  <a:schemeClr val="tx1"/>
                </a:solidFill>
                <a:latin typeface="Arial" panose="020B0604020202020204" pitchFamily="34" charset="0"/>
                <a:cs typeface="Arial" panose="020B0604020202020204" pitchFamily="34" charset="0"/>
              </a:rPr>
              <a:t>h</a:t>
            </a:r>
            <a:r>
              <a:rPr lang="en-US" sz="1200" dirty="0">
                <a:solidFill>
                  <a:schemeClr val="tx1"/>
                </a:solidFill>
                <a:latin typeface="Arial" panose="020B0604020202020204" pitchFamily="34" charset="0"/>
                <a:cs typeface="Arial" panose="020B0604020202020204" pitchFamily="34" charset="0"/>
              </a:rPr>
              <a:t>(−4) would equal </a:t>
            </a:r>
            <a:r>
              <a:rPr lang="en-US" sz="1200" i="1" dirty="0">
                <a:solidFill>
                  <a:schemeClr val="tx1"/>
                </a:solidFill>
                <a:latin typeface="Arial" panose="020B0604020202020204" pitchFamily="34" charset="0"/>
                <a:cs typeface="Arial" panose="020B0604020202020204" pitchFamily="34" charset="0"/>
              </a:rPr>
              <a:t>f</a:t>
            </a:r>
            <a:r>
              <a:rPr lang="en-US" sz="1200" dirty="0">
                <a:solidFill>
                  <a:schemeClr val="tx1"/>
                </a:solidFill>
                <a:latin typeface="Arial" panose="020B0604020202020204" pitchFamily="34" charset="0"/>
                <a:cs typeface="Arial" panose="020B0604020202020204" pitchFamily="34" charset="0"/>
              </a:rPr>
              <a:t>(−8), which is outside the domain of </a:t>
            </a:r>
            <a:r>
              <a:rPr lang="en-US" sz="1200" i="1" dirty="0">
                <a:solidFill>
                  <a:schemeClr val="tx1"/>
                </a:solidFill>
                <a:latin typeface="Arial" panose="020B0604020202020204" pitchFamily="34" charset="0"/>
                <a:cs typeface="Arial" panose="020B0604020202020204" pitchFamily="34" charset="0"/>
              </a:rPr>
              <a:t>f</a:t>
            </a:r>
            <a:r>
              <a:rPr lang="en-US" sz="1200" dirty="0">
                <a:solidFill>
                  <a:schemeClr val="tx1"/>
                </a:solidFill>
                <a:latin typeface="Arial" panose="020B0604020202020204" pitchFamily="34" charset="0"/>
                <a:cs typeface="Arial" panose="020B0604020202020204" pitchFamily="34" charset="0"/>
              </a:rPr>
              <a:t>, [−4, 4]. </a:t>
            </a:r>
            <a:endParaRPr lang="en-IN" sz="1200"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2EA19521-453C-2879-8DB8-1750EE2A4A2B}"/>
              </a:ext>
            </a:extLst>
          </p:cNvPr>
          <p:cNvPicPr>
            <a:picLocks noChangeAspect="1"/>
          </p:cNvPicPr>
          <p:nvPr/>
        </p:nvPicPr>
        <p:blipFill>
          <a:blip r:embed="rId3"/>
          <a:stretch>
            <a:fillRect/>
          </a:stretch>
        </p:blipFill>
        <p:spPr>
          <a:xfrm>
            <a:off x="419196" y="1468818"/>
            <a:ext cx="7166914" cy="2659701"/>
          </a:xfrm>
          <a:prstGeom prst="rect">
            <a:avLst/>
          </a:prstGeom>
        </p:spPr>
      </p:pic>
    </p:spTree>
    <p:extLst>
      <p:ext uri="{BB962C8B-B14F-4D97-AF65-F5344CB8AC3E}">
        <p14:creationId xmlns:p14="http://schemas.microsoft.com/office/powerpoint/2010/main" val="1558150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5" name="TextBox 4">
            <a:extLst>
              <a:ext uri="{FF2B5EF4-FFF2-40B4-BE49-F238E27FC236}">
                <a16:creationId xmlns:a16="http://schemas.microsoft.com/office/drawing/2014/main" id="{6E8F0502-F26D-4842-97A7-E6A7B55ABA0B}"/>
              </a:ext>
            </a:extLst>
          </p:cNvPr>
          <p:cNvSpPr txBox="1"/>
          <p:nvPr/>
        </p:nvSpPr>
        <p:spPr>
          <a:xfrm>
            <a:off x="355758" y="430002"/>
            <a:ext cx="8341433" cy="1472198"/>
          </a:xfrm>
          <a:prstGeom prst="rect">
            <a:avLst/>
          </a:prstGeom>
          <a:noFill/>
        </p:spPr>
        <p:txBody>
          <a:bodyPr wrap="square" rIns="36000" rtlCol="0">
            <a:spAutoFit/>
          </a:bodyPr>
          <a:lstStyle/>
          <a:p>
            <a:pPr>
              <a:spcAft>
                <a:spcPts val="2000"/>
              </a:spcAft>
              <a:tabLst>
                <a:tab pos="1584000" algn="l"/>
              </a:tabLst>
            </a:pPr>
            <a:r>
              <a:rPr lang="en-IN" sz="1800" b="1" dirty="0">
                <a:solidFill>
                  <a:srgbClr val="0078AE"/>
                </a:solidFill>
              </a:rPr>
              <a:t>	</a:t>
            </a:r>
            <a:r>
              <a:rPr lang="en-US" sz="1800" b="1" dirty="0">
                <a:solidFill>
                  <a:srgbClr val="58585A"/>
                </a:solidFill>
              </a:rPr>
              <a:t>Understand Stretches and Compressions</a:t>
            </a:r>
            <a:endParaRPr lang="en-IN" sz="1800" b="1" dirty="0">
              <a:solidFill>
                <a:srgbClr val="58585A"/>
              </a:solidFill>
            </a:endParaRPr>
          </a:p>
          <a:p>
            <a:pPr marL="1476375" indent="-1466850">
              <a:spcAft>
                <a:spcPts val="600"/>
              </a:spcAft>
              <a:tabLst>
                <a:tab pos="1062038" algn="l"/>
                <a:tab pos="1465263" algn="l"/>
              </a:tabLst>
            </a:pPr>
            <a:r>
              <a:rPr lang="en-IN" sz="1800" b="1" dirty="0">
                <a:solidFill>
                  <a:srgbClr val="D92B31"/>
                </a:solidFill>
              </a:rPr>
              <a:t>Try It!</a:t>
            </a:r>
            <a:endParaRPr lang="en-IN" sz="1800" b="1" dirty="0">
              <a:solidFill>
                <a:schemeClr val="tx1"/>
              </a:solidFill>
            </a:endParaRPr>
          </a:p>
          <a:p>
            <a:pPr marL="360000" indent="-360000">
              <a:spcAft>
                <a:spcPts val="600"/>
              </a:spcAft>
              <a:buFont typeface="+mj-lt"/>
              <a:buAutoNum type="arabicPeriod" startAt="3"/>
              <a:tabLst>
                <a:tab pos="1062038" algn="l"/>
                <a:tab pos="1465263" algn="l"/>
              </a:tabLst>
            </a:pPr>
            <a:r>
              <a:rPr lang="en-IN" sz="1600" b="1" dirty="0"/>
              <a:t>​</a:t>
            </a:r>
            <a:r>
              <a:rPr lang="en-US" sz="1600" dirty="0"/>
              <a:t>The domain of </a:t>
            </a:r>
            <a:r>
              <a:rPr lang="en-US" sz="1600" i="1" dirty="0"/>
              <a:t>j</a:t>
            </a:r>
            <a:r>
              <a:rPr lang="en-US" sz="1600" dirty="0"/>
              <a:t>(</a:t>
            </a:r>
            <a:r>
              <a:rPr lang="en-US" sz="1600" i="1" dirty="0"/>
              <a:t>x</a:t>
            </a:r>
            <a:r>
              <a:rPr lang="en-US" sz="1600" dirty="0"/>
              <a:t>) is [</a:t>
            </a:r>
            <a:r>
              <a:rPr lang="en-US" sz="1600" i="1" dirty="0"/>
              <a:t>a</a:t>
            </a:r>
            <a:r>
              <a:rPr lang="en-US" sz="1600" dirty="0"/>
              <a:t>, </a:t>
            </a:r>
            <a:r>
              <a:rPr lang="en-US" sz="1600" i="1" dirty="0"/>
              <a:t>b</a:t>
            </a:r>
            <a:r>
              <a:rPr lang="en-US" sz="1600" dirty="0"/>
              <a:t>]. Show that </a:t>
            </a:r>
            <a:r>
              <a:rPr lang="en-US" sz="1600" i="1" dirty="0"/>
              <a:t>                    </a:t>
            </a:r>
            <a:r>
              <a:rPr lang="en-US" sz="1600" dirty="0"/>
              <a:t>is a horizontal stretch of the graph of </a:t>
            </a:r>
            <a:r>
              <a:rPr lang="en-US" sz="1600" i="1" dirty="0"/>
              <a:t>f</a:t>
            </a:r>
            <a:r>
              <a:rPr lang="en-US" sz="1600" dirty="0"/>
              <a:t>. What is the domain of </a:t>
            </a:r>
            <a:r>
              <a:rPr lang="en-US" sz="1600" i="1" dirty="0"/>
              <a:t>f</a:t>
            </a:r>
            <a:r>
              <a:rPr lang="en-US" sz="1600" dirty="0"/>
              <a:t>?</a:t>
            </a:r>
          </a:p>
        </p:txBody>
      </p:sp>
      <p:sp>
        <p:nvSpPr>
          <p:cNvPr id="6" name="Rectangle 5">
            <a:extLst>
              <a:ext uri="{FF2B5EF4-FFF2-40B4-BE49-F238E27FC236}">
                <a16:creationId xmlns:a16="http://schemas.microsoft.com/office/drawing/2014/main" id="{33341DDE-51A7-BB4A-A5D0-B99BDB557C68}"/>
              </a:ext>
            </a:extLst>
          </p:cNvPr>
          <p:cNvSpPr/>
          <p:nvPr/>
        </p:nvSpPr>
        <p:spPr>
          <a:xfrm>
            <a:off x="452746" y="464612"/>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3</a:t>
            </a:r>
            <a:endParaRPr lang="en-US" sz="1800" cap="all" dirty="0"/>
          </a:p>
        </p:txBody>
      </p:sp>
      <p:cxnSp>
        <p:nvCxnSpPr>
          <p:cNvPr id="8" name="Straight Connector 7">
            <a:extLst>
              <a:ext uri="{FF2B5EF4-FFF2-40B4-BE49-F238E27FC236}">
                <a16:creationId xmlns:a16="http://schemas.microsoft.com/office/drawing/2014/main" id="{2D026447-33AB-3446-A23C-AFEA10330B4F}"/>
              </a:ext>
            </a:extLst>
          </p:cNvPr>
          <p:cNvCxnSpPr/>
          <p:nvPr/>
        </p:nvCxnSpPr>
        <p:spPr>
          <a:xfrm>
            <a:off x="425301" y="894900"/>
            <a:ext cx="8304028" cy="0"/>
          </a:xfrm>
          <a:prstGeom prst="line">
            <a:avLst/>
          </a:prstGeom>
          <a:ln w="25400">
            <a:solidFill>
              <a:srgbClr val="0078AE"/>
            </a:solidFill>
            <a:prstDash val="dash"/>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B271C31-1237-23A3-2E87-D233ACBCA67B}"/>
              </a:ext>
            </a:extLst>
          </p:cNvPr>
          <p:cNvPicPr>
            <a:picLocks noChangeAspect="1"/>
          </p:cNvPicPr>
          <p:nvPr/>
        </p:nvPicPr>
        <p:blipFill>
          <a:blip r:embed="rId3"/>
          <a:stretch>
            <a:fillRect/>
          </a:stretch>
        </p:blipFill>
        <p:spPr>
          <a:xfrm>
            <a:off x="4212533" y="1309398"/>
            <a:ext cx="1099617" cy="396904"/>
          </a:xfrm>
          <a:prstGeom prst="rect">
            <a:avLst/>
          </a:prstGeom>
        </p:spPr>
      </p:pic>
    </p:spTree>
    <p:extLst>
      <p:ext uri="{BB962C8B-B14F-4D97-AF65-F5344CB8AC3E}">
        <p14:creationId xmlns:p14="http://schemas.microsoft.com/office/powerpoint/2010/main" val="3548102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7" name="TextBox 6">
            <a:extLst>
              <a:ext uri="{FF2B5EF4-FFF2-40B4-BE49-F238E27FC236}">
                <a16:creationId xmlns:a16="http://schemas.microsoft.com/office/drawing/2014/main" id="{E2AF600D-6F8E-AF4F-9F8A-7A6BE3BFBF7F}"/>
              </a:ext>
            </a:extLst>
          </p:cNvPr>
          <p:cNvSpPr txBox="1"/>
          <p:nvPr/>
        </p:nvSpPr>
        <p:spPr>
          <a:xfrm>
            <a:off x="355758" y="351588"/>
            <a:ext cx="8341433" cy="369332"/>
          </a:xfrm>
          <a:prstGeom prst="rect">
            <a:avLst/>
          </a:prstGeom>
          <a:noFill/>
        </p:spPr>
        <p:txBody>
          <a:bodyPr wrap="square" rIns="36000" rtlCol="0">
            <a:spAutoFit/>
          </a:bodyPr>
          <a:lstStyle/>
          <a:p>
            <a:pPr>
              <a:spcAft>
                <a:spcPts val="600"/>
              </a:spcAft>
            </a:pPr>
            <a:r>
              <a:rPr lang="en-IN" sz="1800" b="1" dirty="0">
                <a:solidFill>
                  <a:srgbClr val="137F97"/>
                </a:solidFill>
              </a:rPr>
              <a:t>CONCEPT</a:t>
            </a:r>
            <a:r>
              <a:rPr lang="en-US" sz="1800" b="1" dirty="0">
                <a:solidFill>
                  <a:srgbClr val="137F97"/>
                </a:solidFill>
              </a:rPr>
              <a:t> </a:t>
            </a:r>
            <a:r>
              <a:rPr lang="en-US" sz="1800" b="1" dirty="0">
                <a:solidFill>
                  <a:srgbClr val="58585A"/>
                </a:solidFill>
              </a:rPr>
              <a:t>Stretches and Compressions</a:t>
            </a:r>
            <a:endParaRPr lang="en-IN" sz="1800" dirty="0">
              <a:solidFill>
                <a:schemeClr val="tx1"/>
              </a:solidFill>
            </a:endParaRPr>
          </a:p>
        </p:txBody>
      </p:sp>
      <p:sp>
        <p:nvSpPr>
          <p:cNvPr id="2" name="TextBox 1"/>
          <p:cNvSpPr txBox="1"/>
          <p:nvPr/>
        </p:nvSpPr>
        <p:spPr>
          <a:xfrm>
            <a:off x="381003" y="808193"/>
            <a:ext cx="2170542" cy="600164"/>
          </a:xfrm>
          <a:prstGeom prst="rect">
            <a:avLst/>
          </a:prstGeom>
          <a:noFill/>
        </p:spPr>
        <p:txBody>
          <a:bodyPr wrap="square" rtlCol="0">
            <a:spAutoFit/>
          </a:bodyPr>
          <a:lstStyle/>
          <a:p>
            <a:pPr algn="ctr">
              <a:spcAft>
                <a:spcPts val="600"/>
              </a:spcAft>
            </a:pPr>
            <a:r>
              <a:rPr lang="mr-IN" dirty="0"/>
              <a:t>Vertical</a:t>
            </a:r>
          </a:p>
          <a:p>
            <a:pPr algn="ctr"/>
            <a:r>
              <a:rPr lang="mr-IN" i="1" dirty="0"/>
              <a:t>g</a:t>
            </a:r>
            <a:r>
              <a:rPr lang="mr-IN" dirty="0"/>
              <a:t>(</a:t>
            </a:r>
            <a:r>
              <a:rPr lang="mr-IN" i="1" dirty="0"/>
              <a:t>x</a:t>
            </a:r>
            <a:r>
              <a:rPr lang="mr-IN" dirty="0"/>
              <a:t>) = </a:t>
            </a:r>
            <a:r>
              <a:rPr lang="mr-IN" i="1" dirty="0"/>
              <a:t>k </a:t>
            </a:r>
            <a:r>
              <a:rPr lang="en-IN" i="1" dirty="0">
                <a:solidFill>
                  <a:schemeClr val="tx1"/>
                </a:solidFill>
              </a:rPr>
              <a:t>•</a:t>
            </a:r>
            <a:r>
              <a:rPr lang="mr-IN" dirty="0"/>
              <a:t> </a:t>
            </a:r>
            <a:r>
              <a:rPr lang="mr-IN" i="1" dirty="0"/>
              <a:t>f</a:t>
            </a:r>
            <a:r>
              <a:rPr lang="mr-IN" dirty="0"/>
              <a:t>(</a:t>
            </a:r>
            <a:r>
              <a:rPr lang="mr-IN" i="1" dirty="0"/>
              <a:t>x</a:t>
            </a:r>
            <a:r>
              <a:rPr lang="mr-IN" dirty="0"/>
              <a:t>)</a:t>
            </a:r>
            <a:endParaRPr lang="en-US" dirty="0"/>
          </a:p>
        </p:txBody>
      </p:sp>
      <p:sp>
        <p:nvSpPr>
          <p:cNvPr id="9" name="TextBox 8"/>
          <p:cNvSpPr txBox="1"/>
          <p:nvPr/>
        </p:nvSpPr>
        <p:spPr>
          <a:xfrm>
            <a:off x="4747328" y="810508"/>
            <a:ext cx="2170542" cy="600164"/>
          </a:xfrm>
          <a:prstGeom prst="rect">
            <a:avLst/>
          </a:prstGeom>
          <a:noFill/>
        </p:spPr>
        <p:txBody>
          <a:bodyPr wrap="square" rtlCol="0">
            <a:spAutoFit/>
          </a:bodyPr>
          <a:lstStyle/>
          <a:p>
            <a:pPr algn="ctr">
              <a:spcAft>
                <a:spcPts val="600"/>
              </a:spcAft>
            </a:pPr>
            <a:r>
              <a:rPr lang="mr-IN" dirty="0"/>
              <a:t>Horizontal</a:t>
            </a:r>
          </a:p>
          <a:p>
            <a:pPr algn="ctr"/>
            <a:r>
              <a:rPr lang="mr-IN" i="1" dirty="0"/>
              <a:t>h</a:t>
            </a:r>
            <a:r>
              <a:rPr lang="mr-IN" dirty="0"/>
              <a:t>(</a:t>
            </a:r>
            <a:r>
              <a:rPr lang="mr-IN" i="1" dirty="0"/>
              <a:t>x</a:t>
            </a:r>
            <a:r>
              <a:rPr lang="mr-IN" dirty="0"/>
              <a:t>) = </a:t>
            </a:r>
            <a:r>
              <a:rPr lang="mr-IN" i="1" dirty="0"/>
              <a:t>f</a:t>
            </a:r>
            <a:r>
              <a:rPr lang="mr-IN" dirty="0"/>
              <a:t>(</a:t>
            </a:r>
            <a:r>
              <a:rPr lang="mr-IN" i="1" dirty="0"/>
              <a:t>kx</a:t>
            </a:r>
            <a:r>
              <a:rPr lang="mr-IN" dirty="0"/>
              <a:t>)</a:t>
            </a:r>
            <a:endParaRPr lang="en-US" dirty="0"/>
          </a:p>
        </p:txBody>
      </p:sp>
      <p:sp>
        <p:nvSpPr>
          <p:cNvPr id="4" name="TextBox 3"/>
          <p:cNvSpPr txBox="1"/>
          <p:nvPr/>
        </p:nvSpPr>
        <p:spPr>
          <a:xfrm>
            <a:off x="381020" y="3382807"/>
            <a:ext cx="2698175" cy="600164"/>
          </a:xfrm>
          <a:prstGeom prst="rect">
            <a:avLst/>
          </a:prstGeom>
          <a:noFill/>
        </p:spPr>
        <p:txBody>
          <a:bodyPr wrap="none" rtlCol="0">
            <a:spAutoFit/>
          </a:bodyPr>
          <a:lstStyle/>
          <a:p>
            <a:pPr marL="285750" indent="-285750">
              <a:spcAft>
                <a:spcPts val="600"/>
              </a:spcAft>
              <a:buFont typeface="Arial"/>
              <a:buChar char="•"/>
            </a:pPr>
            <a:r>
              <a:rPr lang="en-US" dirty="0"/>
              <a:t>stretch when </a:t>
            </a:r>
            <a:r>
              <a:rPr lang="en-US" i="1" dirty="0">
                <a:solidFill>
                  <a:srgbClr val="D92B30"/>
                </a:solidFill>
              </a:rPr>
              <a:t>k</a:t>
            </a:r>
            <a:r>
              <a:rPr lang="en-US" dirty="0">
                <a:solidFill>
                  <a:srgbClr val="D92B30"/>
                </a:solidFill>
              </a:rPr>
              <a:t> &gt; 1</a:t>
            </a:r>
          </a:p>
          <a:p>
            <a:pPr marL="285750" indent="-285750">
              <a:buFont typeface="Arial"/>
              <a:buChar char="•"/>
            </a:pPr>
            <a:r>
              <a:rPr lang="en-US" dirty="0"/>
              <a:t>compression when </a:t>
            </a:r>
            <a:r>
              <a:rPr lang="en-US" dirty="0">
                <a:solidFill>
                  <a:srgbClr val="137F97"/>
                </a:solidFill>
              </a:rPr>
              <a:t>0 &lt; </a:t>
            </a:r>
            <a:r>
              <a:rPr lang="en-US" i="1" dirty="0">
                <a:solidFill>
                  <a:srgbClr val="137F97"/>
                </a:solidFill>
              </a:rPr>
              <a:t>k</a:t>
            </a:r>
            <a:r>
              <a:rPr lang="en-US" dirty="0">
                <a:solidFill>
                  <a:srgbClr val="137F97"/>
                </a:solidFill>
              </a:rPr>
              <a:t> &lt; 1</a:t>
            </a:r>
          </a:p>
        </p:txBody>
      </p:sp>
      <p:sp>
        <p:nvSpPr>
          <p:cNvPr id="10" name="TextBox 9"/>
          <p:cNvSpPr txBox="1"/>
          <p:nvPr/>
        </p:nvSpPr>
        <p:spPr>
          <a:xfrm>
            <a:off x="4574170" y="3396667"/>
            <a:ext cx="2390398" cy="600164"/>
          </a:xfrm>
          <a:prstGeom prst="rect">
            <a:avLst/>
          </a:prstGeom>
          <a:noFill/>
        </p:spPr>
        <p:txBody>
          <a:bodyPr wrap="none" rtlCol="0">
            <a:spAutoFit/>
          </a:bodyPr>
          <a:lstStyle/>
          <a:p>
            <a:pPr marL="285750" indent="-285750">
              <a:spcAft>
                <a:spcPts val="600"/>
              </a:spcAft>
              <a:buFont typeface="Arial"/>
              <a:buChar char="•"/>
            </a:pPr>
            <a:r>
              <a:rPr lang="en-US" dirty="0"/>
              <a:t>stretch when </a:t>
            </a:r>
            <a:r>
              <a:rPr lang="mr-IN" dirty="0">
                <a:solidFill>
                  <a:srgbClr val="D92B30"/>
                </a:solidFill>
              </a:rPr>
              <a:t>0 &lt; </a:t>
            </a:r>
            <a:r>
              <a:rPr lang="mr-IN" i="1" dirty="0">
                <a:solidFill>
                  <a:srgbClr val="D92B30"/>
                </a:solidFill>
              </a:rPr>
              <a:t>k</a:t>
            </a:r>
            <a:r>
              <a:rPr lang="mr-IN" dirty="0">
                <a:solidFill>
                  <a:srgbClr val="D92B30"/>
                </a:solidFill>
              </a:rPr>
              <a:t> &lt; 1</a:t>
            </a:r>
            <a:endParaRPr lang="en-US" dirty="0">
              <a:solidFill>
                <a:srgbClr val="D92B30"/>
              </a:solidFill>
            </a:endParaRPr>
          </a:p>
          <a:p>
            <a:pPr marL="285750" indent="-285750">
              <a:buFont typeface="Arial"/>
              <a:buChar char="•"/>
            </a:pPr>
            <a:r>
              <a:rPr lang="en-US" dirty="0"/>
              <a:t>compression when </a:t>
            </a:r>
            <a:r>
              <a:rPr lang="en-US" i="1" dirty="0">
                <a:solidFill>
                  <a:srgbClr val="137F97"/>
                </a:solidFill>
              </a:rPr>
              <a:t>k</a:t>
            </a:r>
            <a:r>
              <a:rPr lang="en-US" dirty="0">
                <a:solidFill>
                  <a:srgbClr val="137F97"/>
                </a:solidFill>
              </a:rPr>
              <a:t> &gt; 1</a:t>
            </a:r>
          </a:p>
        </p:txBody>
      </p:sp>
      <p:pic>
        <p:nvPicPr>
          <p:cNvPr id="5" name="Picture 4" descr="ENV23_FL_SEA2_T01_T00547_T0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697" y="1621376"/>
            <a:ext cx="1598022" cy="1598022"/>
          </a:xfrm>
          <a:prstGeom prst="rect">
            <a:avLst/>
          </a:prstGeom>
        </p:spPr>
      </p:pic>
      <p:pic>
        <p:nvPicPr>
          <p:cNvPr id="8" name="Picture 7" descr="ENV23_FL_SEA2_T01_T00548_T01.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0876" y="1584958"/>
            <a:ext cx="1693942" cy="1693942"/>
          </a:xfrm>
          <a:prstGeom prst="rect">
            <a:avLst/>
          </a:prstGeom>
        </p:spPr>
      </p:pic>
    </p:spTree>
    <p:extLst>
      <p:ext uri="{BB962C8B-B14F-4D97-AF65-F5344CB8AC3E}">
        <p14:creationId xmlns:p14="http://schemas.microsoft.com/office/powerpoint/2010/main" val="3207560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7" name="TextBox 6">
            <a:extLst>
              <a:ext uri="{FF2B5EF4-FFF2-40B4-BE49-F238E27FC236}">
                <a16:creationId xmlns:a16="http://schemas.microsoft.com/office/drawing/2014/main" id="{6E8F0502-F26D-4842-97A7-E6A7B55ABA0B}"/>
              </a:ext>
            </a:extLst>
          </p:cNvPr>
          <p:cNvSpPr txBox="1"/>
          <p:nvPr/>
        </p:nvSpPr>
        <p:spPr>
          <a:xfrm>
            <a:off x="355758" y="423625"/>
            <a:ext cx="8321209" cy="4560223"/>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Graph a Combination of Transformations</a:t>
            </a:r>
            <a:endParaRPr lang="en-IN" sz="1800" b="1" dirty="0">
              <a:solidFill>
                <a:srgbClr val="58585A"/>
              </a:solidFill>
            </a:endParaRPr>
          </a:p>
          <a:p>
            <a:pPr>
              <a:spcAft>
                <a:spcPts val="17400"/>
              </a:spcAft>
            </a:pPr>
            <a:r>
              <a:rPr lang="en-US" sz="1600" b="1" dirty="0"/>
              <a:t>Using the graph </a:t>
            </a:r>
            <a:r>
              <a:rPr lang="en-US" sz="1600" b="1" i="1" dirty="0"/>
              <a:t>y</a:t>
            </a:r>
            <a:r>
              <a:rPr lang="en-US" sz="1600" b="1" dirty="0"/>
              <a:t> = </a:t>
            </a:r>
            <a:r>
              <a:rPr lang="en-US" sz="1600" b="1" i="1" dirty="0"/>
              <a:t>f(x)</a:t>
            </a:r>
            <a:r>
              <a:rPr lang="en-US" sz="1600" b="1" dirty="0"/>
              <a:t>, how can you graph a combination </a:t>
            </a:r>
            <a:br>
              <a:rPr lang="en-US" sz="1600" b="1" dirty="0"/>
            </a:br>
            <a:r>
              <a:rPr lang="en-US" sz="1600" b="1" dirty="0"/>
              <a:t>of transformations?</a:t>
            </a:r>
          </a:p>
          <a:p>
            <a:pPr marL="342900" indent="-342900">
              <a:spcAft>
                <a:spcPts val="600"/>
              </a:spcAft>
              <a:buFont typeface="+mj-lt"/>
              <a:buAutoNum type="alphaUcPeriod"/>
            </a:pPr>
            <a:r>
              <a:rPr lang="en-IN" sz="1600" b="1" dirty="0"/>
              <a:t>​</a:t>
            </a:r>
            <a:r>
              <a:rPr lang="mr-IN" sz="1600" b="1" dirty="0"/>
              <a:t>Graph </a:t>
            </a:r>
            <a:r>
              <a:rPr lang="mr-IN" sz="1600" b="1" i="1" dirty="0"/>
              <a:t>y</a:t>
            </a:r>
            <a:r>
              <a:rPr lang="mr-IN" sz="1600" b="1" dirty="0"/>
              <a:t> = −</a:t>
            </a:r>
            <a:r>
              <a:rPr lang="mr-IN" sz="1600" b="1" i="1" dirty="0"/>
              <a:t>f</a:t>
            </a:r>
            <a:r>
              <a:rPr lang="mr-IN" sz="1600" b="1" dirty="0"/>
              <a:t>(</a:t>
            </a:r>
            <a:r>
              <a:rPr lang="mr-IN" sz="1600" b="1" i="1" dirty="0"/>
              <a:t>x</a:t>
            </a:r>
            <a:r>
              <a:rPr lang="mr-IN" sz="1600" b="1" dirty="0"/>
              <a:t> + 2)</a:t>
            </a:r>
            <a:r>
              <a:rPr lang="mr-IN" sz="1600" dirty="0"/>
              <a:t>.</a:t>
            </a:r>
          </a:p>
          <a:p>
            <a:pPr marL="360000" indent="-360000">
              <a:spcAft>
                <a:spcPts val="600"/>
              </a:spcAft>
            </a:pPr>
            <a:r>
              <a:rPr lang="en-US" dirty="0"/>
              <a:t>	Graph </a:t>
            </a:r>
            <a:r>
              <a:rPr lang="en-US" i="1" dirty="0">
                <a:solidFill>
                  <a:srgbClr val="168446"/>
                </a:solidFill>
              </a:rPr>
              <a:t>g</a:t>
            </a:r>
            <a:r>
              <a:rPr lang="en-US" dirty="0">
                <a:solidFill>
                  <a:srgbClr val="168446"/>
                </a:solidFill>
              </a:rPr>
              <a:t>(</a:t>
            </a:r>
            <a:r>
              <a:rPr lang="en-US" i="1" dirty="0">
                <a:solidFill>
                  <a:srgbClr val="168446"/>
                </a:solidFill>
              </a:rPr>
              <a:t>x</a:t>
            </a:r>
            <a:r>
              <a:rPr lang="en-US" dirty="0">
                <a:solidFill>
                  <a:srgbClr val="168446"/>
                </a:solidFill>
              </a:rPr>
              <a:t>) = </a:t>
            </a:r>
            <a:r>
              <a:rPr lang="en-US" i="1" dirty="0">
                <a:solidFill>
                  <a:srgbClr val="168446"/>
                </a:solidFill>
              </a:rPr>
              <a:t>f</a:t>
            </a:r>
            <a:r>
              <a:rPr lang="en-US" dirty="0">
                <a:solidFill>
                  <a:srgbClr val="168446"/>
                </a:solidFill>
              </a:rPr>
              <a:t>(</a:t>
            </a:r>
            <a:r>
              <a:rPr lang="en-US" i="1" dirty="0">
                <a:solidFill>
                  <a:srgbClr val="168446"/>
                </a:solidFill>
              </a:rPr>
              <a:t>x</a:t>
            </a:r>
            <a:r>
              <a:rPr lang="en-US" dirty="0">
                <a:solidFill>
                  <a:srgbClr val="168446"/>
                </a:solidFill>
              </a:rPr>
              <a:t> + 2</a:t>
            </a:r>
            <a:r>
              <a:rPr lang="en-US" dirty="0"/>
              <a:t>), which is a translation of </a:t>
            </a:r>
            <a:r>
              <a:rPr lang="en-US" i="1" dirty="0"/>
              <a:t>f</a:t>
            </a:r>
            <a:r>
              <a:rPr lang="en-US" dirty="0"/>
              <a:t> left 2 units.</a:t>
            </a:r>
          </a:p>
          <a:p>
            <a:pPr marL="360000" indent="-360000">
              <a:spcAft>
                <a:spcPts val="600"/>
              </a:spcAft>
            </a:pPr>
            <a:r>
              <a:rPr lang="en-US" dirty="0"/>
              <a:t>	Graph </a:t>
            </a:r>
            <a:r>
              <a:rPr lang="en-US" i="1" dirty="0">
                <a:solidFill>
                  <a:srgbClr val="D92B30"/>
                </a:solidFill>
              </a:rPr>
              <a:t>h</a:t>
            </a:r>
            <a:r>
              <a:rPr lang="en-US" dirty="0">
                <a:solidFill>
                  <a:srgbClr val="D92B30"/>
                </a:solidFill>
              </a:rPr>
              <a:t>(</a:t>
            </a:r>
            <a:r>
              <a:rPr lang="en-US" i="1" dirty="0">
                <a:solidFill>
                  <a:srgbClr val="D92B30"/>
                </a:solidFill>
              </a:rPr>
              <a:t>x</a:t>
            </a:r>
            <a:r>
              <a:rPr lang="en-US" dirty="0">
                <a:solidFill>
                  <a:srgbClr val="D92B30"/>
                </a:solidFill>
              </a:rPr>
              <a:t>) = −</a:t>
            </a:r>
            <a:r>
              <a:rPr lang="en-US" i="1" dirty="0">
                <a:solidFill>
                  <a:srgbClr val="D92B30"/>
                </a:solidFill>
              </a:rPr>
              <a:t>f</a:t>
            </a:r>
            <a:r>
              <a:rPr lang="en-US" dirty="0">
                <a:solidFill>
                  <a:srgbClr val="D92B30"/>
                </a:solidFill>
              </a:rPr>
              <a:t>(</a:t>
            </a:r>
            <a:r>
              <a:rPr lang="en-US" i="1" dirty="0">
                <a:solidFill>
                  <a:srgbClr val="D92B30"/>
                </a:solidFill>
              </a:rPr>
              <a:t>x</a:t>
            </a:r>
            <a:r>
              <a:rPr lang="en-US" dirty="0">
                <a:solidFill>
                  <a:srgbClr val="D92B30"/>
                </a:solidFill>
              </a:rPr>
              <a:t> + 2)</a:t>
            </a:r>
            <a:r>
              <a:rPr lang="en-US" dirty="0"/>
              <a:t>, which is a reflection of </a:t>
            </a:r>
            <a:r>
              <a:rPr lang="en-US" i="1" dirty="0"/>
              <a:t>g</a:t>
            </a:r>
            <a:r>
              <a:rPr lang="en-US" dirty="0"/>
              <a:t> across the </a:t>
            </a:r>
            <a:r>
              <a:rPr lang="en-US" i="1" dirty="0"/>
              <a:t>x</a:t>
            </a:r>
            <a:r>
              <a:rPr lang="en-US" dirty="0"/>
              <a:t>-axis.</a:t>
            </a:r>
          </a:p>
          <a:p>
            <a:pPr marL="360000" indent="-360000">
              <a:spcAft>
                <a:spcPts val="600"/>
              </a:spcAft>
            </a:pPr>
            <a:r>
              <a:rPr lang="en-US" dirty="0"/>
              <a:t>	The graph of </a:t>
            </a:r>
            <a:r>
              <a:rPr lang="en-US" i="1" dirty="0"/>
              <a:t>h</a:t>
            </a:r>
            <a:r>
              <a:rPr lang="en-US" dirty="0"/>
              <a:t> is a translation of </a:t>
            </a:r>
            <a:r>
              <a:rPr lang="en-US" i="1" dirty="0"/>
              <a:t>f</a:t>
            </a:r>
            <a:r>
              <a:rPr lang="en-US" dirty="0"/>
              <a:t> left 2 units followed by a reflection </a:t>
            </a:r>
            <a:br>
              <a:rPr lang="en-US" dirty="0"/>
            </a:br>
            <a:r>
              <a:rPr lang="en-US" dirty="0"/>
              <a:t>across the </a:t>
            </a:r>
            <a:r>
              <a:rPr lang="en-US" i="1" dirty="0"/>
              <a:t>x</a:t>
            </a:r>
            <a:r>
              <a:rPr lang="en-US" dirty="0"/>
              <a:t>-axis.</a:t>
            </a:r>
            <a:endParaRPr lang="en-US" sz="1600" b="1" dirty="0">
              <a:solidFill>
                <a:schemeClr val="tx1"/>
              </a:solidFill>
            </a:endParaRPr>
          </a:p>
        </p:txBody>
      </p:sp>
      <p:sp>
        <p:nvSpPr>
          <p:cNvPr id="9" name="Rectangle 8">
            <a:extLst>
              <a:ext uri="{FF2B5EF4-FFF2-40B4-BE49-F238E27FC236}">
                <a16:creationId xmlns:a16="http://schemas.microsoft.com/office/drawing/2014/main" id="{33341DDE-51A7-BB4A-A5D0-B99BDB557C68}"/>
              </a:ext>
            </a:extLst>
          </p:cNvPr>
          <p:cNvSpPr/>
          <p:nvPr/>
        </p:nvSpPr>
        <p:spPr>
          <a:xfrm>
            <a:off x="452745" y="458235"/>
            <a:ext cx="1480558"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4</a:t>
            </a:r>
            <a:endParaRPr lang="en-US" sz="1800" cap="all" dirty="0"/>
          </a:p>
        </p:txBody>
      </p:sp>
      <p:sp>
        <p:nvSpPr>
          <p:cNvPr id="6" name="Rounded Rectangle 5">
            <a:extLst>
              <a:ext uri="{FF2B5EF4-FFF2-40B4-BE49-F238E27FC236}">
                <a16:creationId xmlns:a16="http://schemas.microsoft.com/office/drawing/2014/main" id="{8F64C450-5A2A-B44B-B667-D61D459945DB}"/>
              </a:ext>
            </a:extLst>
          </p:cNvPr>
          <p:cNvSpPr/>
          <p:nvPr/>
        </p:nvSpPr>
        <p:spPr>
          <a:xfrm>
            <a:off x="772997" y="5075109"/>
            <a:ext cx="4889249" cy="1189316"/>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de-DE" sz="1200" b="1" dirty="0">
                <a:solidFill>
                  <a:srgbClr val="137F97"/>
                </a:solidFill>
              </a:rPr>
              <a:t>STUDY TIP</a:t>
            </a:r>
          </a:p>
          <a:p>
            <a:pPr>
              <a:spcAft>
                <a:spcPts val="300"/>
              </a:spcAft>
            </a:pPr>
            <a:r>
              <a:rPr lang="en-US" sz="1200" dirty="0">
                <a:solidFill>
                  <a:schemeClr val="tx1"/>
                </a:solidFill>
                <a:latin typeface="Arial" panose="020B0604020202020204" pitchFamily="34" charset="0"/>
                <a:cs typeface="Arial" panose="020B0604020202020204" pitchFamily="34" charset="0"/>
              </a:rPr>
              <a:t>To graph transformations with multiple steps, graph the intermediate graphs following equation order of operations. Parenthesis first, then exponents, multiplication and division from left to right, and finally addition and subtraction from left to right.</a:t>
            </a:r>
            <a:endParaRPr lang="en-IN" sz="1200" dirty="0">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55AF4DF-42EE-559C-9422-357AC6E92253}"/>
              </a:ext>
            </a:extLst>
          </p:cNvPr>
          <p:cNvPicPr>
            <a:picLocks noChangeAspect="1"/>
          </p:cNvPicPr>
          <p:nvPr/>
        </p:nvPicPr>
        <p:blipFill>
          <a:blip r:embed="rId3"/>
          <a:stretch>
            <a:fillRect/>
          </a:stretch>
        </p:blipFill>
        <p:spPr>
          <a:xfrm>
            <a:off x="6033126" y="700431"/>
            <a:ext cx="2810323" cy="2636982"/>
          </a:xfrm>
          <a:prstGeom prst="rect">
            <a:avLst/>
          </a:prstGeom>
        </p:spPr>
      </p:pic>
      <p:pic>
        <p:nvPicPr>
          <p:cNvPr id="5" name="Picture 4">
            <a:extLst>
              <a:ext uri="{FF2B5EF4-FFF2-40B4-BE49-F238E27FC236}">
                <a16:creationId xmlns:a16="http://schemas.microsoft.com/office/drawing/2014/main" id="{D4122C3F-05AB-3802-2C00-17EBD2E47C1B}"/>
              </a:ext>
            </a:extLst>
          </p:cNvPr>
          <p:cNvPicPr>
            <a:picLocks noChangeAspect="1"/>
          </p:cNvPicPr>
          <p:nvPr/>
        </p:nvPicPr>
        <p:blipFill>
          <a:blip r:embed="rId4"/>
          <a:stretch>
            <a:fillRect/>
          </a:stretch>
        </p:blipFill>
        <p:spPr>
          <a:xfrm>
            <a:off x="6033125" y="3315339"/>
            <a:ext cx="2810323" cy="2655422"/>
          </a:xfrm>
          <a:prstGeom prst="rect">
            <a:avLst/>
          </a:prstGeom>
        </p:spPr>
      </p:pic>
    </p:spTree>
    <p:extLst>
      <p:ext uri="{BB962C8B-B14F-4D97-AF65-F5344CB8AC3E}">
        <p14:creationId xmlns:p14="http://schemas.microsoft.com/office/powerpoint/2010/main" val="1487035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9" name="Rectangle 8">
            <a:extLst>
              <a:ext uri="{FF2B5EF4-FFF2-40B4-BE49-F238E27FC236}">
                <a16:creationId xmlns:a16="http://schemas.microsoft.com/office/drawing/2014/main" id="{33341DDE-51A7-BB4A-A5D0-B99BDB557C68}"/>
              </a:ext>
            </a:extLst>
          </p:cNvPr>
          <p:cNvSpPr/>
          <p:nvPr/>
        </p:nvSpPr>
        <p:spPr>
          <a:xfrm>
            <a:off x="452745" y="458235"/>
            <a:ext cx="1480558"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4</a:t>
            </a:r>
            <a:endParaRPr lang="en-US" sz="1800" cap="all" dirty="0"/>
          </a:p>
        </p:txBody>
      </p:sp>
      <p:sp>
        <p:nvSpPr>
          <p:cNvPr id="19" name="TextBox 18">
            <a:extLst>
              <a:ext uri="{FF2B5EF4-FFF2-40B4-BE49-F238E27FC236}">
                <a16:creationId xmlns:a16="http://schemas.microsoft.com/office/drawing/2014/main" id="{0DD0FF6C-3AA0-30F4-D33C-1350334A1BDF}"/>
              </a:ext>
            </a:extLst>
          </p:cNvPr>
          <p:cNvSpPr txBox="1"/>
          <p:nvPr/>
        </p:nvSpPr>
        <p:spPr>
          <a:xfrm>
            <a:off x="355758" y="423625"/>
            <a:ext cx="8321209" cy="5375831"/>
          </a:xfrm>
          <a:prstGeom prst="rect">
            <a:avLst/>
          </a:prstGeom>
          <a:noFill/>
        </p:spPr>
        <p:txBody>
          <a:bodyPr wrap="square" rIns="36000" rtlCol="0">
            <a:spAutoFit/>
          </a:bodyPr>
          <a:lstStyle/>
          <a:p>
            <a:pPr>
              <a:spcAft>
                <a:spcPts val="1600"/>
              </a:spcAft>
              <a:tabLst>
                <a:tab pos="1584000" algn="l"/>
              </a:tabLst>
            </a:pPr>
            <a:r>
              <a:rPr lang="en-IN" sz="1800" b="1" dirty="0">
                <a:solidFill>
                  <a:srgbClr val="0078AE"/>
                </a:solidFill>
              </a:rPr>
              <a:t>	</a:t>
            </a:r>
            <a:r>
              <a:rPr lang="en-US" sz="1800" b="1" dirty="0">
                <a:solidFill>
                  <a:srgbClr val="58585A"/>
                </a:solidFill>
              </a:rPr>
              <a:t>Graph a Combination of Transformations</a:t>
            </a:r>
            <a:endParaRPr lang="en-IN" sz="1800" b="1" dirty="0">
              <a:solidFill>
                <a:srgbClr val="58585A"/>
              </a:solidFill>
            </a:endParaRPr>
          </a:p>
          <a:p>
            <a:pPr>
              <a:spcAft>
                <a:spcPts val="1800"/>
              </a:spcAft>
            </a:pPr>
            <a:r>
              <a:rPr lang="en-US" sz="1600" b="1" dirty="0"/>
              <a:t>Using the graph </a:t>
            </a:r>
            <a:r>
              <a:rPr lang="en-US" sz="1600" b="1" i="1" dirty="0"/>
              <a:t>y</a:t>
            </a:r>
            <a:r>
              <a:rPr lang="en-US" sz="1600" b="1" dirty="0"/>
              <a:t> = </a:t>
            </a:r>
            <a:r>
              <a:rPr lang="en-US" sz="1600" b="1" i="1" dirty="0"/>
              <a:t>f(x)</a:t>
            </a:r>
            <a:r>
              <a:rPr lang="en-US" sz="1600" b="1" dirty="0"/>
              <a:t>, how can you graph a combination </a:t>
            </a:r>
            <a:br>
              <a:rPr lang="en-US" sz="1600" b="1" dirty="0"/>
            </a:br>
            <a:r>
              <a:rPr lang="en-US" sz="1600" b="1" dirty="0"/>
              <a:t>of transformations? </a:t>
            </a:r>
            <a:r>
              <a:rPr lang="en-IN" b="1" dirty="0"/>
              <a:t>​</a:t>
            </a:r>
          </a:p>
          <a:p>
            <a:pPr marL="342000" indent="-342000">
              <a:spcAft>
                <a:spcPts val="1800"/>
              </a:spcAft>
            </a:pPr>
            <a:r>
              <a:rPr lang="en-US" sz="1600" b="1" dirty="0"/>
              <a:t>B.	</a:t>
            </a:r>
            <a:r>
              <a:rPr lang="en-IN" sz="1600" b="1" dirty="0"/>
              <a:t>​</a:t>
            </a:r>
            <a:r>
              <a:rPr lang="mr-IN" sz="1600" b="1" dirty="0"/>
              <a:t>Graph </a:t>
            </a:r>
            <a:r>
              <a:rPr lang="en-IN" sz="1600" b="1" dirty="0"/>
              <a:t>                      .</a:t>
            </a:r>
            <a:endParaRPr lang="mr-IN" sz="1600" b="1" dirty="0"/>
          </a:p>
          <a:p>
            <a:pPr marL="342000" indent="-342000">
              <a:spcAft>
                <a:spcPts val="1200"/>
              </a:spcAft>
            </a:pPr>
            <a:r>
              <a:rPr lang="mr-IN" b="1" dirty="0"/>
              <a:t>	</a:t>
            </a:r>
            <a:r>
              <a:rPr lang="en-US" dirty="0"/>
              <a:t>Graph                   , which is a vertical compression of </a:t>
            </a:r>
            <a:r>
              <a:rPr lang="en-US" i="1" dirty="0"/>
              <a:t>f</a:t>
            </a:r>
            <a:r>
              <a:rPr lang="en-US" dirty="0"/>
              <a:t> by the </a:t>
            </a:r>
          </a:p>
          <a:p>
            <a:pPr marL="342000" indent="-342000">
              <a:spcAft>
                <a:spcPts val="1800"/>
              </a:spcAft>
            </a:pPr>
            <a:r>
              <a:rPr lang="en-US" dirty="0"/>
              <a:t>	factor</a:t>
            </a:r>
          </a:p>
          <a:p>
            <a:pPr marL="360000">
              <a:spcAft>
                <a:spcPts val="1200"/>
              </a:spcAft>
            </a:pPr>
            <a:r>
              <a:rPr lang="en-US" dirty="0"/>
              <a:t>Graph                          , which is a translation of </a:t>
            </a:r>
            <a:r>
              <a:rPr lang="en-US" i="1" dirty="0"/>
              <a:t>g</a:t>
            </a:r>
            <a:r>
              <a:rPr lang="en-US" dirty="0"/>
              <a:t> up 3 units. </a:t>
            </a:r>
          </a:p>
          <a:p>
            <a:pPr marL="360000">
              <a:spcAft>
                <a:spcPts val="600"/>
              </a:spcAft>
            </a:pPr>
            <a:r>
              <a:rPr lang="en-US" dirty="0"/>
              <a:t>The graph of </a:t>
            </a:r>
            <a:r>
              <a:rPr lang="en-US" i="1" dirty="0"/>
              <a:t>h</a:t>
            </a:r>
            <a:r>
              <a:rPr lang="en-US" dirty="0"/>
              <a:t> is a vertical compression of </a:t>
            </a:r>
            <a:r>
              <a:rPr lang="en-US" i="1" dirty="0"/>
              <a:t>f</a:t>
            </a:r>
            <a:r>
              <a:rPr lang="en-US" dirty="0"/>
              <a:t> by the factor </a:t>
            </a:r>
            <a:br>
              <a:rPr lang="en-US" dirty="0"/>
            </a:br>
            <a:r>
              <a:rPr lang="en-US" dirty="0"/>
              <a:t>followed by a translation 3 units up.</a:t>
            </a:r>
            <a:endParaRPr lang="en-US" b="1" dirty="0"/>
          </a:p>
          <a:p>
            <a:endParaRPr lang="en-US" b="1" dirty="0">
              <a:solidFill>
                <a:schemeClr val="tx1"/>
              </a:solidFill>
            </a:endParaRPr>
          </a:p>
          <a:p>
            <a:endParaRPr lang="en-US" b="1" dirty="0">
              <a:solidFill>
                <a:schemeClr val="tx1"/>
              </a:solidFill>
            </a:endParaRPr>
          </a:p>
          <a:p>
            <a:endParaRPr lang="en-US" sz="1600" b="1" dirty="0">
              <a:solidFill>
                <a:schemeClr val="tx1"/>
              </a:solidFill>
            </a:endParaRPr>
          </a:p>
          <a:p>
            <a:endParaRPr lang="en-US" sz="1600" b="1" dirty="0">
              <a:solidFill>
                <a:schemeClr val="tx1"/>
              </a:solidFill>
            </a:endParaRPr>
          </a:p>
          <a:p>
            <a:endParaRPr lang="en-US" sz="1600" b="1" dirty="0">
              <a:solidFill>
                <a:schemeClr val="tx1"/>
              </a:solidFill>
            </a:endParaRPr>
          </a:p>
          <a:p>
            <a:endParaRPr lang="en-US" sz="1600" b="1" dirty="0">
              <a:solidFill>
                <a:schemeClr val="tx1"/>
              </a:solidFill>
            </a:endParaRPr>
          </a:p>
          <a:p>
            <a:endParaRPr lang="en-US" sz="1600" b="1" dirty="0">
              <a:solidFill>
                <a:schemeClr val="tx1"/>
              </a:solidFill>
            </a:endParaRPr>
          </a:p>
          <a:p>
            <a:r>
              <a:rPr lang="en-IN" sz="1600" b="1" dirty="0">
                <a:solidFill>
                  <a:schemeClr val="tx1"/>
                </a:solidFill>
              </a:rPr>
              <a:t>​</a:t>
            </a:r>
            <a:endParaRPr lang="en-IN" dirty="0">
              <a:solidFill>
                <a:schemeClr val="tx1"/>
              </a:solidFill>
            </a:endParaRPr>
          </a:p>
        </p:txBody>
      </p:sp>
      <p:pic>
        <p:nvPicPr>
          <p:cNvPr id="20" name="Picture 19">
            <a:extLst>
              <a:ext uri="{FF2B5EF4-FFF2-40B4-BE49-F238E27FC236}">
                <a16:creationId xmlns:a16="http://schemas.microsoft.com/office/drawing/2014/main" id="{8C29B871-127F-0EBC-4845-C2124C620E1A}"/>
              </a:ext>
            </a:extLst>
          </p:cNvPr>
          <p:cNvPicPr>
            <a:picLocks noChangeAspect="1"/>
          </p:cNvPicPr>
          <p:nvPr/>
        </p:nvPicPr>
        <p:blipFill>
          <a:blip r:embed="rId3"/>
          <a:stretch>
            <a:fillRect/>
          </a:stretch>
        </p:blipFill>
        <p:spPr>
          <a:xfrm>
            <a:off x="1267460" y="2463448"/>
            <a:ext cx="234142" cy="396240"/>
          </a:xfrm>
          <a:prstGeom prst="rect">
            <a:avLst/>
          </a:prstGeom>
        </p:spPr>
      </p:pic>
      <p:pic>
        <p:nvPicPr>
          <p:cNvPr id="21" name="Picture 20">
            <a:extLst>
              <a:ext uri="{FF2B5EF4-FFF2-40B4-BE49-F238E27FC236}">
                <a16:creationId xmlns:a16="http://schemas.microsoft.com/office/drawing/2014/main" id="{4A98DE25-1692-19F7-8A84-CAF71F29F6CE}"/>
              </a:ext>
            </a:extLst>
          </p:cNvPr>
          <p:cNvPicPr>
            <a:picLocks noChangeAspect="1"/>
          </p:cNvPicPr>
          <p:nvPr/>
        </p:nvPicPr>
        <p:blipFill>
          <a:blip r:embed="rId4"/>
          <a:stretch>
            <a:fillRect/>
          </a:stretch>
        </p:blipFill>
        <p:spPr>
          <a:xfrm>
            <a:off x="5291004" y="3270660"/>
            <a:ext cx="192548" cy="375468"/>
          </a:xfrm>
          <a:prstGeom prst="rect">
            <a:avLst/>
          </a:prstGeom>
        </p:spPr>
      </p:pic>
      <p:pic>
        <p:nvPicPr>
          <p:cNvPr id="22" name="Picture 21">
            <a:extLst>
              <a:ext uri="{FF2B5EF4-FFF2-40B4-BE49-F238E27FC236}">
                <a16:creationId xmlns:a16="http://schemas.microsoft.com/office/drawing/2014/main" id="{BB0E7FD9-DD8D-18E5-144E-CDDA2339A0D8}"/>
              </a:ext>
            </a:extLst>
          </p:cNvPr>
          <p:cNvPicPr>
            <a:picLocks noChangeAspect="1"/>
          </p:cNvPicPr>
          <p:nvPr/>
        </p:nvPicPr>
        <p:blipFill>
          <a:blip r:embed="rId5"/>
          <a:stretch>
            <a:fillRect/>
          </a:stretch>
        </p:blipFill>
        <p:spPr>
          <a:xfrm>
            <a:off x="1103852" y="1437669"/>
            <a:ext cx="2027354" cy="608697"/>
          </a:xfrm>
          <a:prstGeom prst="rect">
            <a:avLst/>
          </a:prstGeom>
        </p:spPr>
      </p:pic>
      <p:pic>
        <p:nvPicPr>
          <p:cNvPr id="23" name="Picture 22">
            <a:extLst>
              <a:ext uri="{FF2B5EF4-FFF2-40B4-BE49-F238E27FC236}">
                <a16:creationId xmlns:a16="http://schemas.microsoft.com/office/drawing/2014/main" id="{E7E51A07-F435-A0C9-F2A6-926A15A9CF77}"/>
              </a:ext>
            </a:extLst>
          </p:cNvPr>
          <p:cNvPicPr>
            <a:picLocks noChangeAspect="1"/>
          </p:cNvPicPr>
          <p:nvPr/>
        </p:nvPicPr>
        <p:blipFill>
          <a:blip r:embed="rId6"/>
          <a:stretch>
            <a:fillRect/>
          </a:stretch>
        </p:blipFill>
        <p:spPr>
          <a:xfrm>
            <a:off x="1067246" y="2037986"/>
            <a:ext cx="1484824" cy="478715"/>
          </a:xfrm>
          <a:prstGeom prst="rect">
            <a:avLst/>
          </a:prstGeom>
        </p:spPr>
      </p:pic>
      <p:pic>
        <p:nvPicPr>
          <p:cNvPr id="24" name="Picture 23">
            <a:extLst>
              <a:ext uri="{FF2B5EF4-FFF2-40B4-BE49-F238E27FC236}">
                <a16:creationId xmlns:a16="http://schemas.microsoft.com/office/drawing/2014/main" id="{86A97150-4CAC-9A3F-3F5D-B2303912CFC7}"/>
              </a:ext>
            </a:extLst>
          </p:cNvPr>
          <p:cNvPicPr>
            <a:picLocks noChangeAspect="1"/>
          </p:cNvPicPr>
          <p:nvPr/>
        </p:nvPicPr>
        <p:blipFill>
          <a:blip r:embed="rId7"/>
          <a:stretch>
            <a:fillRect/>
          </a:stretch>
        </p:blipFill>
        <p:spPr>
          <a:xfrm>
            <a:off x="1261102" y="2803908"/>
            <a:ext cx="1411801" cy="478715"/>
          </a:xfrm>
          <a:prstGeom prst="rect">
            <a:avLst/>
          </a:prstGeom>
        </p:spPr>
      </p:pic>
      <p:pic>
        <p:nvPicPr>
          <p:cNvPr id="25" name="Picture 24">
            <a:extLst>
              <a:ext uri="{FF2B5EF4-FFF2-40B4-BE49-F238E27FC236}">
                <a16:creationId xmlns:a16="http://schemas.microsoft.com/office/drawing/2014/main" id="{4586EFA3-F9D1-534F-9DE0-DB0024DF16D1}"/>
              </a:ext>
            </a:extLst>
          </p:cNvPr>
          <p:cNvPicPr>
            <a:picLocks noChangeAspect="1"/>
          </p:cNvPicPr>
          <p:nvPr/>
        </p:nvPicPr>
        <p:blipFill>
          <a:blip r:embed="rId8"/>
          <a:stretch>
            <a:fillRect/>
          </a:stretch>
        </p:blipFill>
        <p:spPr>
          <a:xfrm>
            <a:off x="6198796" y="753410"/>
            <a:ext cx="2810323" cy="2766067"/>
          </a:xfrm>
          <a:prstGeom prst="rect">
            <a:avLst/>
          </a:prstGeom>
        </p:spPr>
      </p:pic>
    </p:spTree>
    <p:extLst>
      <p:ext uri="{BB962C8B-B14F-4D97-AF65-F5344CB8AC3E}">
        <p14:creationId xmlns:p14="http://schemas.microsoft.com/office/powerpoint/2010/main" val="507841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4" name="TextBox 3">
            <a:extLst>
              <a:ext uri="{FF2B5EF4-FFF2-40B4-BE49-F238E27FC236}">
                <a16:creationId xmlns:a16="http://schemas.microsoft.com/office/drawing/2014/main" id="{6E8F0502-F26D-4842-97A7-E6A7B55ABA0B}"/>
              </a:ext>
            </a:extLst>
          </p:cNvPr>
          <p:cNvSpPr txBox="1"/>
          <p:nvPr/>
        </p:nvSpPr>
        <p:spPr>
          <a:xfrm>
            <a:off x="355758" y="430002"/>
            <a:ext cx="8341433" cy="1872307"/>
          </a:xfrm>
          <a:prstGeom prst="rect">
            <a:avLst/>
          </a:prstGeom>
          <a:noFill/>
        </p:spPr>
        <p:txBody>
          <a:bodyPr wrap="square" rIns="36000" rtlCol="0">
            <a:spAutoFit/>
          </a:bodyPr>
          <a:lstStyle/>
          <a:p>
            <a:pPr>
              <a:spcAft>
                <a:spcPts val="2000"/>
              </a:spcAft>
              <a:tabLst>
                <a:tab pos="1584000" algn="l"/>
              </a:tabLst>
            </a:pPr>
            <a:r>
              <a:rPr lang="en-IN" sz="1800" b="1" dirty="0">
                <a:solidFill>
                  <a:srgbClr val="0078AE"/>
                </a:solidFill>
              </a:rPr>
              <a:t>	</a:t>
            </a:r>
            <a:r>
              <a:rPr lang="en-US" sz="1800" b="1" dirty="0">
                <a:solidFill>
                  <a:srgbClr val="58585A"/>
                </a:solidFill>
              </a:rPr>
              <a:t>Graph a Combination of Transformations</a:t>
            </a:r>
            <a:endParaRPr lang="en-IN" sz="1800" b="1" dirty="0">
              <a:solidFill>
                <a:srgbClr val="58585A"/>
              </a:solidFill>
            </a:endParaRPr>
          </a:p>
          <a:p>
            <a:pPr marL="1476375" indent="-1466850">
              <a:spcAft>
                <a:spcPts val="600"/>
              </a:spcAft>
              <a:tabLst>
                <a:tab pos="1062038" algn="l"/>
                <a:tab pos="1465263" algn="l"/>
              </a:tabLst>
            </a:pPr>
            <a:r>
              <a:rPr lang="en-IN" sz="1800" b="1" dirty="0">
                <a:solidFill>
                  <a:srgbClr val="D92B31"/>
                </a:solidFill>
              </a:rPr>
              <a:t>Try It!</a:t>
            </a:r>
            <a:endParaRPr lang="en-IN" sz="1800" b="1" dirty="0">
              <a:solidFill>
                <a:schemeClr val="tx1"/>
              </a:solidFill>
            </a:endParaRPr>
          </a:p>
          <a:p>
            <a:pPr marL="360000" indent="-360000">
              <a:spcAft>
                <a:spcPts val="600"/>
              </a:spcAft>
              <a:buFont typeface="+mj-lt"/>
              <a:buAutoNum type="arabicPeriod" startAt="4"/>
              <a:tabLst>
                <a:tab pos="1062038" algn="l"/>
                <a:tab pos="1465263" algn="l"/>
              </a:tabLst>
            </a:pPr>
            <a:r>
              <a:rPr lang="en-IN" sz="1600" b="1" dirty="0"/>
              <a:t>​</a:t>
            </a:r>
            <a:r>
              <a:rPr lang="en-US" sz="1600" dirty="0"/>
              <a:t>Using the graph of </a:t>
            </a:r>
            <a:r>
              <a:rPr lang="en-US" sz="1600" i="1" dirty="0"/>
              <a:t>f</a:t>
            </a:r>
            <a:r>
              <a:rPr lang="en-US" sz="1600" dirty="0"/>
              <a:t> above, graph each equation.</a:t>
            </a:r>
            <a:endParaRPr lang="en-US" sz="1600" b="1" dirty="0"/>
          </a:p>
          <a:p>
            <a:pPr marL="720000" indent="-360000">
              <a:spcAft>
                <a:spcPts val="600"/>
              </a:spcAft>
              <a:tabLst>
                <a:tab pos="1062038" algn="l"/>
                <a:tab pos="1465263" algn="l"/>
              </a:tabLst>
            </a:pPr>
            <a:r>
              <a:rPr lang="en-US" sz="1600" b="1" dirty="0"/>
              <a:t>a. </a:t>
            </a:r>
            <a:r>
              <a:rPr lang="en-IN" sz="1600" b="1" dirty="0"/>
              <a:t>​</a:t>
            </a:r>
            <a:r>
              <a:rPr lang="en-US" sz="1600" b="1" dirty="0"/>
              <a:t> </a:t>
            </a:r>
            <a:r>
              <a:rPr lang="tr-TR" sz="1600" i="1" dirty="0"/>
              <a:t>y</a:t>
            </a:r>
            <a:r>
              <a:rPr lang="mr-IN" sz="1600" dirty="0"/>
              <a:t> = </a:t>
            </a:r>
            <a:r>
              <a:rPr lang="mr-IN" sz="1600" i="1" dirty="0"/>
              <a:t>f</a:t>
            </a:r>
            <a:r>
              <a:rPr lang="mr-IN" sz="1600" dirty="0"/>
              <a:t>(2</a:t>
            </a:r>
            <a:r>
              <a:rPr lang="mr-IN" sz="1600" i="1" dirty="0"/>
              <a:t>x</a:t>
            </a:r>
            <a:r>
              <a:rPr lang="mr-IN" sz="1600" dirty="0"/>
              <a:t>) − 4</a:t>
            </a:r>
            <a:r>
              <a:rPr lang="en-US" sz="1600" dirty="0"/>
              <a:t>  </a:t>
            </a:r>
          </a:p>
          <a:p>
            <a:pPr marL="360000" indent="-360000">
              <a:spcAft>
                <a:spcPts val="600"/>
              </a:spcAft>
              <a:tabLst>
                <a:tab pos="1062038" algn="l"/>
                <a:tab pos="1465263" algn="l"/>
              </a:tabLst>
            </a:pPr>
            <a:r>
              <a:rPr lang="en-US" sz="1600" dirty="0"/>
              <a:t>	</a:t>
            </a:r>
            <a:r>
              <a:rPr lang="en-US" sz="1600" b="1" dirty="0"/>
              <a:t>b.</a:t>
            </a:r>
            <a:r>
              <a:rPr lang="en-US" sz="1600" dirty="0"/>
              <a:t> </a:t>
            </a:r>
            <a:r>
              <a:rPr lang="tr-TR" sz="1600" i="1" dirty="0"/>
              <a:t>y</a:t>
            </a:r>
            <a:r>
              <a:rPr lang="mr-IN" sz="1600" dirty="0"/>
              <a:t> = </a:t>
            </a:r>
            <a:r>
              <a:rPr lang="mr-IN" sz="1600" i="1" dirty="0"/>
              <a:t>f</a:t>
            </a:r>
            <a:r>
              <a:rPr lang="mr-IN" sz="1600" dirty="0"/>
              <a:t>(2</a:t>
            </a:r>
            <a:r>
              <a:rPr lang="mr-IN" sz="1600" i="1" dirty="0"/>
              <a:t>x</a:t>
            </a:r>
            <a:r>
              <a:rPr lang="mr-IN" sz="1600" dirty="0"/>
              <a:t> − 3) − 2 </a:t>
            </a:r>
            <a:endParaRPr lang="en-IN" sz="1600" dirty="0">
              <a:solidFill>
                <a:schemeClr val="tx1"/>
              </a:solidFill>
            </a:endParaRPr>
          </a:p>
        </p:txBody>
      </p:sp>
      <p:sp>
        <p:nvSpPr>
          <p:cNvPr id="5" name="Rectangle 4">
            <a:extLst>
              <a:ext uri="{FF2B5EF4-FFF2-40B4-BE49-F238E27FC236}">
                <a16:creationId xmlns:a16="http://schemas.microsoft.com/office/drawing/2014/main" id="{33341DDE-51A7-BB4A-A5D0-B99BDB557C68}"/>
              </a:ext>
            </a:extLst>
          </p:cNvPr>
          <p:cNvSpPr/>
          <p:nvPr/>
        </p:nvSpPr>
        <p:spPr>
          <a:xfrm>
            <a:off x="452746" y="464612"/>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4</a:t>
            </a:r>
            <a:endParaRPr lang="en-US" sz="1800" cap="all" dirty="0"/>
          </a:p>
        </p:txBody>
      </p:sp>
      <p:cxnSp>
        <p:nvCxnSpPr>
          <p:cNvPr id="6" name="Straight Connector 5">
            <a:extLst>
              <a:ext uri="{FF2B5EF4-FFF2-40B4-BE49-F238E27FC236}">
                <a16:creationId xmlns:a16="http://schemas.microsoft.com/office/drawing/2014/main" id="{2D026447-33AB-3446-A23C-AFEA10330B4F}"/>
              </a:ext>
            </a:extLst>
          </p:cNvPr>
          <p:cNvCxnSpPr/>
          <p:nvPr/>
        </p:nvCxnSpPr>
        <p:spPr>
          <a:xfrm>
            <a:off x="425301" y="894900"/>
            <a:ext cx="8304028" cy="0"/>
          </a:xfrm>
          <a:prstGeom prst="line">
            <a:avLst/>
          </a:prstGeom>
          <a:ln w="25400">
            <a:solidFill>
              <a:srgbClr val="0078AE"/>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708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7" name="TextBox 6">
            <a:extLst>
              <a:ext uri="{FF2B5EF4-FFF2-40B4-BE49-F238E27FC236}">
                <a16:creationId xmlns:a16="http://schemas.microsoft.com/office/drawing/2014/main" id="{6E8F0502-F26D-4842-97A7-E6A7B55ABA0B}"/>
              </a:ext>
            </a:extLst>
          </p:cNvPr>
          <p:cNvSpPr txBox="1"/>
          <p:nvPr/>
        </p:nvSpPr>
        <p:spPr>
          <a:xfrm>
            <a:off x="355758" y="417761"/>
            <a:ext cx="8321209" cy="3359894"/>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Identify Transformations From an Equation</a:t>
            </a:r>
          </a:p>
          <a:p>
            <a:pPr>
              <a:spcAft>
                <a:spcPts val="1800"/>
              </a:spcAft>
            </a:pPr>
            <a:r>
              <a:rPr lang="en-US" sz="1600" b="1" dirty="0"/>
              <a:t>What transformations of </a:t>
            </a:r>
            <a:r>
              <a:rPr lang="en-US" sz="1600" b="1" i="1" dirty="0"/>
              <a:t>f</a:t>
            </a:r>
            <a:r>
              <a:rPr lang="en-US" sz="1600" b="1" dirty="0"/>
              <a:t>(</a:t>
            </a:r>
            <a:r>
              <a:rPr lang="en-US" sz="1600" b="1" i="1" dirty="0"/>
              <a:t>x</a:t>
            </a:r>
            <a:r>
              <a:rPr lang="en-US" sz="1600" b="1" dirty="0"/>
              <a:t>) = </a:t>
            </a:r>
            <a:r>
              <a:rPr lang="en-US" sz="1600" b="1" i="1" dirty="0"/>
              <a:t>x</a:t>
            </a:r>
            <a:r>
              <a:rPr lang="en-US" sz="1600" b="1" baseline="30000" dirty="0"/>
              <a:t>2</a:t>
            </a:r>
            <a:r>
              <a:rPr lang="en-US" sz="1600" b="1" dirty="0"/>
              <a:t> result in the graph of the function </a:t>
            </a:r>
            <a:r>
              <a:rPr lang="en-US" sz="1600" b="1" i="1" dirty="0"/>
              <a:t>g</a:t>
            </a:r>
            <a:r>
              <a:rPr lang="en-US" sz="1600" b="1" dirty="0"/>
              <a:t>?</a:t>
            </a:r>
          </a:p>
          <a:p>
            <a:pPr marL="360000" indent="-360000">
              <a:spcAft>
                <a:spcPts val="1200"/>
              </a:spcAft>
              <a:buFont typeface="+mj-lt"/>
              <a:buAutoNum type="alphaUcPeriod"/>
            </a:pPr>
            <a:r>
              <a:rPr lang="en-US" sz="1600" b="1" dirty="0">
                <a:solidFill>
                  <a:schemeClr val="tx1"/>
                </a:solidFill>
              </a:rPr>
              <a:t>  </a:t>
            </a:r>
            <a:r>
              <a:rPr lang="en-US" sz="1600" dirty="0">
                <a:solidFill>
                  <a:schemeClr val="tx1"/>
                </a:solidFill>
              </a:rPr>
              <a:t>	</a:t>
            </a:r>
          </a:p>
          <a:p>
            <a:pPr marL="360000">
              <a:spcAft>
                <a:spcPts val="600"/>
              </a:spcAft>
            </a:pPr>
            <a:r>
              <a:rPr lang="en-US" dirty="0"/>
              <a:t>                                     </a:t>
            </a:r>
            <a:r>
              <a:rPr lang="de-DE" dirty="0"/>
              <a:t>represents a horizontal stretch of the</a:t>
            </a:r>
          </a:p>
          <a:p>
            <a:pPr marL="360000">
              <a:spcAft>
                <a:spcPts val="2400"/>
              </a:spcAft>
            </a:pPr>
            <a:r>
              <a:rPr lang="de-DE" dirty="0"/>
              <a:t>graph of </a:t>
            </a:r>
            <a:r>
              <a:rPr lang="de-DE" i="1" dirty="0"/>
              <a:t>f</a:t>
            </a:r>
            <a:r>
              <a:rPr lang="de-DE" dirty="0"/>
              <a:t> by the factor   </a:t>
            </a:r>
            <a:r>
              <a:rPr lang="de-DE" sz="800" dirty="0"/>
              <a:t> </a:t>
            </a:r>
            <a:r>
              <a:rPr lang="de-DE" dirty="0"/>
              <a:t>.</a:t>
            </a:r>
          </a:p>
          <a:p>
            <a:pPr marL="360000">
              <a:spcAft>
                <a:spcPts val="600"/>
              </a:spcAft>
            </a:pPr>
            <a:r>
              <a:rPr lang="en-US" dirty="0"/>
              <a:t>                                                        </a:t>
            </a:r>
            <a:r>
              <a:rPr lang="de-DE" dirty="0"/>
              <a:t>represents a reflection </a:t>
            </a:r>
          </a:p>
          <a:p>
            <a:pPr marL="360000">
              <a:spcAft>
                <a:spcPts val="1800"/>
              </a:spcAft>
            </a:pPr>
            <a:r>
              <a:rPr lang="de-DE" dirty="0"/>
              <a:t>across the </a:t>
            </a:r>
            <a:r>
              <a:rPr lang="de-DE" i="1" dirty="0"/>
              <a:t>x</a:t>
            </a:r>
            <a:r>
              <a:rPr lang="de-DE" dirty="0"/>
              <a:t>-axis of</a:t>
            </a:r>
            <a:r>
              <a:rPr lang="en-US" dirty="0"/>
              <a:t> </a:t>
            </a:r>
            <a:r>
              <a:rPr lang="en-US" i="1" dirty="0"/>
              <a:t>     </a:t>
            </a:r>
            <a:r>
              <a:rPr lang="de-DE" dirty="0"/>
              <a:t>     .</a:t>
            </a:r>
          </a:p>
          <a:p>
            <a:pPr marL="360000">
              <a:spcAft>
                <a:spcPts val="600"/>
              </a:spcAft>
            </a:pPr>
            <a:r>
              <a:rPr lang="en-US" dirty="0">
                <a:solidFill>
                  <a:schemeClr val="tx1"/>
                </a:solidFill>
              </a:rPr>
              <a:t>The graph of </a:t>
            </a:r>
            <a:r>
              <a:rPr lang="en-US" i="1" dirty="0">
                <a:solidFill>
                  <a:schemeClr val="tx1"/>
                </a:solidFill>
              </a:rPr>
              <a:t>g</a:t>
            </a:r>
            <a:r>
              <a:rPr lang="en-US" dirty="0">
                <a:solidFill>
                  <a:schemeClr val="tx1"/>
                </a:solidFill>
              </a:rPr>
              <a:t> is a horizontal stretch by the factor     and a reflection across the </a:t>
            </a:r>
            <a:br>
              <a:rPr lang="en-US" dirty="0">
                <a:solidFill>
                  <a:schemeClr val="tx1"/>
                </a:solidFill>
              </a:rPr>
            </a:br>
            <a:r>
              <a:rPr lang="en-US" i="1" dirty="0">
                <a:solidFill>
                  <a:schemeClr val="tx1"/>
                </a:solidFill>
              </a:rPr>
              <a:t>x</a:t>
            </a:r>
            <a:r>
              <a:rPr lang="en-US" dirty="0">
                <a:solidFill>
                  <a:schemeClr val="tx1"/>
                </a:solidFill>
              </a:rPr>
              <a:t>-axis of the graph of </a:t>
            </a:r>
            <a:r>
              <a:rPr lang="en-US" i="1" dirty="0">
                <a:solidFill>
                  <a:schemeClr val="tx1"/>
                </a:solidFill>
              </a:rPr>
              <a:t>f</a:t>
            </a:r>
            <a:r>
              <a:rPr lang="en-US" dirty="0">
                <a:solidFill>
                  <a:schemeClr val="tx1"/>
                </a:solidFill>
              </a:rPr>
              <a:t>.</a:t>
            </a:r>
          </a:p>
        </p:txBody>
      </p:sp>
      <p:sp>
        <p:nvSpPr>
          <p:cNvPr id="8" name="Rectangle 7">
            <a:extLst>
              <a:ext uri="{FF2B5EF4-FFF2-40B4-BE49-F238E27FC236}">
                <a16:creationId xmlns:a16="http://schemas.microsoft.com/office/drawing/2014/main" id="{33341DDE-51A7-BB4A-A5D0-B99BDB557C68}"/>
              </a:ext>
            </a:extLst>
          </p:cNvPr>
          <p:cNvSpPr/>
          <p:nvPr/>
        </p:nvSpPr>
        <p:spPr>
          <a:xfrm>
            <a:off x="452746" y="448777"/>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5</a:t>
            </a:r>
            <a:endParaRPr lang="en-US" sz="1800" cap="all" dirty="0"/>
          </a:p>
        </p:txBody>
      </p:sp>
      <p:pic>
        <p:nvPicPr>
          <p:cNvPr id="4" name="Picture 3" descr="ENV23_FL_SEA2_T01_T00533_T0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9294" y="1307429"/>
            <a:ext cx="1962912" cy="1962912"/>
          </a:xfrm>
          <a:prstGeom prst="rect">
            <a:avLst/>
          </a:prstGeom>
        </p:spPr>
      </p:pic>
      <p:pic>
        <p:nvPicPr>
          <p:cNvPr id="13" name="Picture 12"/>
          <p:cNvPicPr>
            <a:picLocks noChangeAspect="1"/>
          </p:cNvPicPr>
          <p:nvPr/>
        </p:nvPicPr>
        <p:blipFill>
          <a:blip r:embed="rId4"/>
          <a:stretch>
            <a:fillRect/>
          </a:stretch>
        </p:blipFill>
        <p:spPr>
          <a:xfrm>
            <a:off x="2636484" y="1990832"/>
            <a:ext cx="128609" cy="349081"/>
          </a:xfrm>
          <a:prstGeom prst="rect">
            <a:avLst/>
          </a:prstGeom>
        </p:spPr>
      </p:pic>
      <p:pic>
        <p:nvPicPr>
          <p:cNvPr id="17" name="Picture 16"/>
          <p:cNvPicPr>
            <a:picLocks noChangeAspect="1"/>
          </p:cNvPicPr>
          <p:nvPr/>
        </p:nvPicPr>
        <p:blipFill>
          <a:blip r:embed="rId4"/>
          <a:stretch>
            <a:fillRect/>
          </a:stretch>
        </p:blipFill>
        <p:spPr>
          <a:xfrm>
            <a:off x="4758704" y="3240940"/>
            <a:ext cx="128609" cy="349081"/>
          </a:xfrm>
          <a:prstGeom prst="rect">
            <a:avLst/>
          </a:prstGeom>
        </p:spPr>
      </p:pic>
      <p:sp>
        <p:nvSpPr>
          <p:cNvPr id="14" name="Rounded Rectangle 13">
            <a:extLst>
              <a:ext uri="{FF2B5EF4-FFF2-40B4-BE49-F238E27FC236}">
                <a16:creationId xmlns:a16="http://schemas.microsoft.com/office/drawing/2014/main" id="{8F64C450-5A2A-B44B-B667-D61D459945DB}"/>
              </a:ext>
            </a:extLst>
          </p:cNvPr>
          <p:cNvSpPr/>
          <p:nvPr/>
        </p:nvSpPr>
        <p:spPr>
          <a:xfrm>
            <a:off x="753458" y="3915906"/>
            <a:ext cx="5294416" cy="823134"/>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de-DE" sz="1200" b="1" dirty="0">
                <a:solidFill>
                  <a:srgbClr val="C02B43"/>
                </a:solidFill>
              </a:rPr>
              <a:t>USE APPROPRIATE TOOLS</a:t>
            </a:r>
          </a:p>
          <a:p>
            <a:pPr>
              <a:spcAft>
                <a:spcPts val="300"/>
              </a:spcAft>
            </a:pPr>
            <a:r>
              <a:rPr lang="en-US" sz="1200" dirty="0">
                <a:solidFill>
                  <a:schemeClr val="tx1"/>
                </a:solidFill>
                <a:latin typeface="Arial" panose="020B0604020202020204" pitchFamily="34" charset="0"/>
                <a:cs typeface="Arial" panose="020B0604020202020204" pitchFamily="34" charset="0"/>
              </a:rPr>
              <a:t>You can use graphing technology to graph the original and transformed equations to check that the transformations you have identified are correct.</a:t>
            </a:r>
            <a:endParaRPr lang="en-IN" sz="1200" dirty="0">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741FD60-667D-1B8C-DA34-E3625ACFD063}"/>
              </a:ext>
            </a:extLst>
          </p:cNvPr>
          <p:cNvPicPr>
            <a:picLocks noChangeAspect="1"/>
          </p:cNvPicPr>
          <p:nvPr/>
        </p:nvPicPr>
        <p:blipFill>
          <a:blip r:embed="rId5"/>
          <a:stretch>
            <a:fillRect/>
          </a:stretch>
        </p:blipFill>
        <p:spPr>
          <a:xfrm>
            <a:off x="659526" y="1228551"/>
            <a:ext cx="1972464" cy="812191"/>
          </a:xfrm>
          <a:prstGeom prst="rect">
            <a:avLst/>
          </a:prstGeom>
        </p:spPr>
      </p:pic>
      <p:pic>
        <p:nvPicPr>
          <p:cNvPr id="9" name="Picture 8">
            <a:extLst>
              <a:ext uri="{FF2B5EF4-FFF2-40B4-BE49-F238E27FC236}">
                <a16:creationId xmlns:a16="http://schemas.microsoft.com/office/drawing/2014/main" id="{DC657F9D-6CFD-F209-F163-56C23254807A}"/>
              </a:ext>
            </a:extLst>
          </p:cNvPr>
          <p:cNvPicPr>
            <a:picLocks noChangeAspect="1"/>
          </p:cNvPicPr>
          <p:nvPr/>
        </p:nvPicPr>
        <p:blipFill>
          <a:blip r:embed="rId6"/>
          <a:stretch>
            <a:fillRect/>
          </a:stretch>
        </p:blipFill>
        <p:spPr>
          <a:xfrm>
            <a:off x="657947" y="2322182"/>
            <a:ext cx="2963157" cy="557823"/>
          </a:xfrm>
          <a:prstGeom prst="rect">
            <a:avLst/>
          </a:prstGeom>
        </p:spPr>
      </p:pic>
      <p:pic>
        <p:nvPicPr>
          <p:cNvPr id="18" name="Picture 17">
            <a:extLst>
              <a:ext uri="{FF2B5EF4-FFF2-40B4-BE49-F238E27FC236}">
                <a16:creationId xmlns:a16="http://schemas.microsoft.com/office/drawing/2014/main" id="{057C139C-40F1-FDC5-8177-563F2397D538}"/>
              </a:ext>
            </a:extLst>
          </p:cNvPr>
          <p:cNvPicPr>
            <a:picLocks noChangeAspect="1"/>
          </p:cNvPicPr>
          <p:nvPr/>
        </p:nvPicPr>
        <p:blipFill>
          <a:blip r:embed="rId7"/>
          <a:stretch>
            <a:fillRect/>
          </a:stretch>
        </p:blipFill>
        <p:spPr>
          <a:xfrm>
            <a:off x="2348275" y="2742466"/>
            <a:ext cx="611376" cy="410560"/>
          </a:xfrm>
          <a:prstGeom prst="rect">
            <a:avLst/>
          </a:prstGeom>
        </p:spPr>
      </p:pic>
    </p:spTree>
    <p:extLst>
      <p:ext uri="{BB962C8B-B14F-4D97-AF65-F5344CB8AC3E}">
        <p14:creationId xmlns:p14="http://schemas.microsoft.com/office/powerpoint/2010/main" val="2936525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3" name="TextBox 2">
            <a:extLst>
              <a:ext uri="{FF2B5EF4-FFF2-40B4-BE49-F238E27FC236}">
                <a16:creationId xmlns:a16="http://schemas.microsoft.com/office/drawing/2014/main" id="{9EC271CD-8357-5BEA-49D4-BDA4B80FADB6}"/>
              </a:ext>
            </a:extLst>
          </p:cNvPr>
          <p:cNvSpPr txBox="1"/>
          <p:nvPr/>
        </p:nvSpPr>
        <p:spPr>
          <a:xfrm>
            <a:off x="355758" y="406216"/>
            <a:ext cx="8321209" cy="3116238"/>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Identify Transformations From an Equation</a:t>
            </a:r>
          </a:p>
          <a:p>
            <a:pPr>
              <a:spcAft>
                <a:spcPts val="1600"/>
              </a:spcAft>
            </a:pPr>
            <a:r>
              <a:rPr lang="en-US" sz="1600" b="1" dirty="0"/>
              <a:t>What transformations of </a:t>
            </a:r>
            <a:r>
              <a:rPr lang="en-US" sz="1600" b="1" i="1" dirty="0"/>
              <a:t>f</a:t>
            </a:r>
            <a:r>
              <a:rPr lang="en-US" sz="1600" b="1" dirty="0"/>
              <a:t>(</a:t>
            </a:r>
            <a:r>
              <a:rPr lang="en-US" sz="1600" b="1" i="1" dirty="0"/>
              <a:t>x</a:t>
            </a:r>
            <a:r>
              <a:rPr lang="en-US" sz="1600" b="1" dirty="0"/>
              <a:t>) = </a:t>
            </a:r>
            <a:r>
              <a:rPr lang="en-US" sz="1600" b="1" i="1" dirty="0"/>
              <a:t>x</a:t>
            </a:r>
            <a:r>
              <a:rPr lang="en-US" sz="1600" b="1" baseline="30000" dirty="0"/>
              <a:t>2</a:t>
            </a:r>
            <a:r>
              <a:rPr lang="en-US" sz="1600" b="1" dirty="0"/>
              <a:t> result in the graph of the function </a:t>
            </a:r>
            <a:r>
              <a:rPr lang="en-US" sz="1600" b="1" i="1" dirty="0"/>
              <a:t>g</a:t>
            </a:r>
            <a:r>
              <a:rPr lang="en-US" sz="1600" b="1" dirty="0"/>
              <a:t>?</a:t>
            </a:r>
          </a:p>
          <a:p>
            <a:pPr marL="342900" indent="-342900">
              <a:spcAft>
                <a:spcPts val="1700"/>
              </a:spcAft>
              <a:buFont typeface="+mj-lt"/>
              <a:buAutoNum type="alphaUcPeriod" startAt="2"/>
            </a:pPr>
            <a:r>
              <a:rPr lang="en-US" sz="1600" b="1" dirty="0"/>
              <a:t> </a:t>
            </a:r>
            <a:r>
              <a:rPr lang="en-US" sz="1600" b="1" i="1" dirty="0"/>
              <a:t>g</a:t>
            </a:r>
            <a:r>
              <a:rPr lang="en-US" sz="1600" b="1" dirty="0"/>
              <a:t>(</a:t>
            </a:r>
            <a:r>
              <a:rPr lang="en-US" sz="1600" b="1" i="1" dirty="0"/>
              <a:t>x</a:t>
            </a:r>
            <a:r>
              <a:rPr lang="en-US" sz="1600" b="1" dirty="0"/>
              <a:t>) = (</a:t>
            </a:r>
            <a:r>
              <a:rPr lang="en-US" sz="1600" b="1" i="1" dirty="0"/>
              <a:t>x</a:t>
            </a:r>
            <a:r>
              <a:rPr lang="en-US" sz="1600" b="1" dirty="0"/>
              <a:t> </a:t>
            </a:r>
            <a:r>
              <a:rPr lang="en-US" sz="1600" dirty="0"/>
              <a:t>− </a:t>
            </a:r>
            <a:r>
              <a:rPr lang="en-US" sz="1600" b="1" dirty="0"/>
              <a:t>4)</a:t>
            </a:r>
            <a:r>
              <a:rPr lang="en-US" sz="1600" b="1" baseline="30000" dirty="0"/>
              <a:t>2</a:t>
            </a:r>
            <a:r>
              <a:rPr lang="en-US" sz="1600" b="1" dirty="0"/>
              <a:t> + 5</a:t>
            </a:r>
          </a:p>
          <a:p>
            <a:pPr marL="342000">
              <a:spcAft>
                <a:spcPts val="600"/>
              </a:spcAft>
            </a:pPr>
            <a:r>
              <a:rPr lang="pt-BR" i="1" dirty="0">
                <a:solidFill>
                  <a:srgbClr val="168446"/>
                </a:solidFill>
              </a:rPr>
              <a:t>h</a:t>
            </a:r>
            <a:r>
              <a:rPr lang="pt-BR" dirty="0">
                <a:solidFill>
                  <a:srgbClr val="168446"/>
                </a:solidFill>
              </a:rPr>
              <a:t>(</a:t>
            </a:r>
            <a:r>
              <a:rPr lang="pt-BR" i="1" dirty="0">
                <a:solidFill>
                  <a:srgbClr val="168446"/>
                </a:solidFill>
              </a:rPr>
              <a:t>x</a:t>
            </a:r>
            <a:r>
              <a:rPr lang="pt-BR" dirty="0">
                <a:solidFill>
                  <a:srgbClr val="168446"/>
                </a:solidFill>
              </a:rPr>
              <a:t>) = (</a:t>
            </a:r>
            <a:r>
              <a:rPr lang="pt-BR" i="1" dirty="0">
                <a:solidFill>
                  <a:srgbClr val="168446"/>
                </a:solidFill>
              </a:rPr>
              <a:t>x</a:t>
            </a:r>
            <a:r>
              <a:rPr lang="pt-BR" dirty="0">
                <a:solidFill>
                  <a:srgbClr val="168446"/>
                </a:solidFill>
              </a:rPr>
              <a:t> − 4)</a:t>
            </a:r>
            <a:r>
              <a:rPr lang="pt-BR" baseline="30000" dirty="0">
                <a:solidFill>
                  <a:srgbClr val="168446"/>
                </a:solidFill>
              </a:rPr>
              <a:t>2</a:t>
            </a:r>
            <a:r>
              <a:rPr lang="pt-BR" dirty="0">
                <a:solidFill>
                  <a:srgbClr val="168446"/>
                </a:solidFill>
              </a:rPr>
              <a:t> = </a:t>
            </a:r>
            <a:r>
              <a:rPr lang="pt-BR" i="1" dirty="0">
                <a:solidFill>
                  <a:srgbClr val="168446"/>
                </a:solidFill>
              </a:rPr>
              <a:t>f</a:t>
            </a:r>
            <a:r>
              <a:rPr lang="pt-BR" dirty="0">
                <a:solidFill>
                  <a:srgbClr val="168446"/>
                </a:solidFill>
              </a:rPr>
              <a:t>(</a:t>
            </a:r>
            <a:r>
              <a:rPr lang="pt-BR" i="1" dirty="0">
                <a:solidFill>
                  <a:srgbClr val="168446"/>
                </a:solidFill>
              </a:rPr>
              <a:t>x</a:t>
            </a:r>
            <a:r>
              <a:rPr lang="pt-BR" dirty="0">
                <a:solidFill>
                  <a:srgbClr val="168446"/>
                </a:solidFill>
              </a:rPr>
              <a:t> − 4)</a:t>
            </a:r>
            <a:r>
              <a:rPr lang="en-US" b="1" dirty="0"/>
              <a:t> </a:t>
            </a:r>
            <a:r>
              <a:rPr lang="en-US" dirty="0"/>
              <a:t>represents a translation 4 units</a:t>
            </a:r>
          </a:p>
          <a:p>
            <a:pPr marL="342000">
              <a:spcAft>
                <a:spcPts val="1600"/>
              </a:spcAft>
            </a:pPr>
            <a:r>
              <a:rPr lang="en-US" dirty="0"/>
              <a:t>to the right of the graph of </a:t>
            </a:r>
            <a:r>
              <a:rPr lang="en-US" i="1" dirty="0"/>
              <a:t>f</a:t>
            </a:r>
            <a:r>
              <a:rPr lang="en-US" dirty="0"/>
              <a:t>.</a:t>
            </a:r>
          </a:p>
          <a:p>
            <a:pPr marL="360000">
              <a:spcAft>
                <a:spcPts val="400"/>
              </a:spcAft>
            </a:pPr>
            <a:r>
              <a:rPr lang="pt-BR" i="1" dirty="0">
                <a:solidFill>
                  <a:srgbClr val="D92B30"/>
                </a:solidFill>
              </a:rPr>
              <a:t>g</a:t>
            </a:r>
            <a:r>
              <a:rPr lang="pt-BR" dirty="0">
                <a:solidFill>
                  <a:srgbClr val="D92B30"/>
                </a:solidFill>
              </a:rPr>
              <a:t>(</a:t>
            </a:r>
            <a:r>
              <a:rPr lang="pt-BR" i="1" dirty="0">
                <a:solidFill>
                  <a:srgbClr val="D92B30"/>
                </a:solidFill>
              </a:rPr>
              <a:t>x</a:t>
            </a:r>
            <a:r>
              <a:rPr lang="pt-BR" dirty="0">
                <a:solidFill>
                  <a:srgbClr val="D92B30"/>
                </a:solidFill>
              </a:rPr>
              <a:t>) = (</a:t>
            </a:r>
            <a:r>
              <a:rPr lang="pt-BR" i="1" dirty="0">
                <a:solidFill>
                  <a:srgbClr val="D92B30"/>
                </a:solidFill>
              </a:rPr>
              <a:t>x</a:t>
            </a:r>
            <a:r>
              <a:rPr lang="pt-BR" dirty="0">
                <a:solidFill>
                  <a:srgbClr val="D92B30"/>
                </a:solidFill>
              </a:rPr>
              <a:t> − 4)</a:t>
            </a:r>
            <a:r>
              <a:rPr lang="pt-BR" baseline="30000" dirty="0">
                <a:solidFill>
                  <a:srgbClr val="D92B30"/>
                </a:solidFill>
              </a:rPr>
              <a:t>2</a:t>
            </a:r>
            <a:r>
              <a:rPr lang="pt-BR" dirty="0">
                <a:solidFill>
                  <a:srgbClr val="D92B30"/>
                </a:solidFill>
              </a:rPr>
              <a:t> + 5 = </a:t>
            </a:r>
            <a:r>
              <a:rPr lang="pt-BR" i="1" dirty="0">
                <a:solidFill>
                  <a:srgbClr val="D92B30"/>
                </a:solidFill>
              </a:rPr>
              <a:t>h</a:t>
            </a:r>
            <a:r>
              <a:rPr lang="pt-BR" dirty="0">
                <a:solidFill>
                  <a:srgbClr val="D92B30"/>
                </a:solidFill>
              </a:rPr>
              <a:t>(</a:t>
            </a:r>
            <a:r>
              <a:rPr lang="pt-BR" i="1" dirty="0">
                <a:solidFill>
                  <a:srgbClr val="D92B30"/>
                </a:solidFill>
              </a:rPr>
              <a:t>x</a:t>
            </a:r>
            <a:r>
              <a:rPr lang="pt-BR" dirty="0">
                <a:solidFill>
                  <a:srgbClr val="D92B30"/>
                </a:solidFill>
              </a:rPr>
              <a:t>) + 5 = </a:t>
            </a:r>
            <a:r>
              <a:rPr lang="pt-BR" i="1" dirty="0">
                <a:solidFill>
                  <a:srgbClr val="D92B30"/>
                </a:solidFill>
              </a:rPr>
              <a:t>f</a:t>
            </a:r>
            <a:r>
              <a:rPr lang="pt-BR" dirty="0">
                <a:solidFill>
                  <a:srgbClr val="D92B30"/>
                </a:solidFill>
              </a:rPr>
              <a:t>(</a:t>
            </a:r>
            <a:r>
              <a:rPr lang="pt-BR" i="1" dirty="0">
                <a:solidFill>
                  <a:srgbClr val="D92B30"/>
                </a:solidFill>
              </a:rPr>
              <a:t>x</a:t>
            </a:r>
            <a:r>
              <a:rPr lang="pt-BR" dirty="0">
                <a:solidFill>
                  <a:srgbClr val="D92B30"/>
                </a:solidFill>
              </a:rPr>
              <a:t> − 4) + 5</a:t>
            </a:r>
            <a:r>
              <a:rPr lang="en-US" dirty="0"/>
              <a:t> represents</a:t>
            </a:r>
          </a:p>
          <a:p>
            <a:pPr marL="360000">
              <a:spcAft>
                <a:spcPts val="600"/>
              </a:spcAft>
            </a:pPr>
            <a:r>
              <a:rPr lang="en-US" dirty="0"/>
              <a:t>a translation 5 units up of the graph of </a:t>
            </a:r>
            <a:r>
              <a:rPr lang="en-US" i="1" dirty="0"/>
              <a:t>f</a:t>
            </a:r>
            <a:r>
              <a:rPr lang="en-US" dirty="0"/>
              <a:t>(</a:t>
            </a:r>
            <a:r>
              <a:rPr lang="en-US" i="1" dirty="0"/>
              <a:t>x</a:t>
            </a:r>
            <a:r>
              <a:rPr lang="en-US" dirty="0"/>
              <a:t> − 4).</a:t>
            </a:r>
          </a:p>
          <a:p>
            <a:pPr marL="360000">
              <a:spcAft>
                <a:spcPts val="600"/>
              </a:spcAft>
            </a:pPr>
            <a:r>
              <a:rPr lang="en-US" dirty="0">
                <a:solidFill>
                  <a:schemeClr val="tx1"/>
                </a:solidFill>
              </a:rPr>
              <a:t>The graph of </a:t>
            </a:r>
            <a:r>
              <a:rPr lang="en-US" i="1" dirty="0">
                <a:solidFill>
                  <a:schemeClr val="tx1"/>
                </a:solidFill>
              </a:rPr>
              <a:t>g</a:t>
            </a:r>
            <a:r>
              <a:rPr lang="en-US" dirty="0">
                <a:solidFill>
                  <a:schemeClr val="tx1"/>
                </a:solidFill>
              </a:rPr>
              <a:t> is a translation 4 units right and 5 units up </a:t>
            </a:r>
            <a:br>
              <a:rPr lang="en-US" dirty="0">
                <a:solidFill>
                  <a:schemeClr val="tx1"/>
                </a:solidFill>
              </a:rPr>
            </a:br>
            <a:r>
              <a:rPr lang="en-US" dirty="0">
                <a:solidFill>
                  <a:schemeClr val="tx1"/>
                </a:solidFill>
              </a:rPr>
              <a:t>of the graph of </a:t>
            </a:r>
            <a:r>
              <a:rPr lang="en-US" i="1" dirty="0">
                <a:solidFill>
                  <a:schemeClr val="tx1"/>
                </a:solidFill>
              </a:rPr>
              <a:t>f</a:t>
            </a:r>
            <a:r>
              <a:rPr lang="en-US" dirty="0">
                <a:solidFill>
                  <a:schemeClr val="tx1"/>
                </a:solidFill>
              </a:rPr>
              <a:t>.</a:t>
            </a:r>
            <a:endParaRPr lang="en-IN" dirty="0">
              <a:solidFill>
                <a:schemeClr val="tx1"/>
              </a:solidFill>
            </a:endParaRPr>
          </a:p>
        </p:txBody>
      </p:sp>
      <p:sp>
        <p:nvSpPr>
          <p:cNvPr id="5" name="Rectangle 4">
            <a:extLst>
              <a:ext uri="{FF2B5EF4-FFF2-40B4-BE49-F238E27FC236}">
                <a16:creationId xmlns:a16="http://schemas.microsoft.com/office/drawing/2014/main" id="{203EC718-19E9-1BE1-7D00-CDB2FC30B329}"/>
              </a:ext>
            </a:extLst>
          </p:cNvPr>
          <p:cNvSpPr/>
          <p:nvPr/>
        </p:nvSpPr>
        <p:spPr>
          <a:xfrm>
            <a:off x="452746" y="448777"/>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5</a:t>
            </a:r>
            <a:endParaRPr lang="en-US" sz="1800" cap="all" dirty="0"/>
          </a:p>
        </p:txBody>
      </p:sp>
      <p:pic>
        <p:nvPicPr>
          <p:cNvPr id="9" name="Picture 8" descr="ENV23_FL_SEA2_T01_T00534_T01.png">
            <a:extLst>
              <a:ext uri="{FF2B5EF4-FFF2-40B4-BE49-F238E27FC236}">
                <a16:creationId xmlns:a16="http://schemas.microsoft.com/office/drawing/2014/main" id="{C4808C45-5648-8295-8B89-3C1DBDBFAE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4965" y="1318814"/>
            <a:ext cx="1962912" cy="1969008"/>
          </a:xfrm>
          <a:prstGeom prst="rect">
            <a:avLst/>
          </a:prstGeom>
        </p:spPr>
      </p:pic>
    </p:spTree>
    <p:extLst>
      <p:ext uri="{BB962C8B-B14F-4D97-AF65-F5344CB8AC3E}">
        <p14:creationId xmlns:p14="http://schemas.microsoft.com/office/powerpoint/2010/main" val="1897576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5" name="TextBox 4">
            <a:extLst>
              <a:ext uri="{FF2B5EF4-FFF2-40B4-BE49-F238E27FC236}">
                <a16:creationId xmlns:a16="http://schemas.microsoft.com/office/drawing/2014/main" id="{6E8F0502-F26D-4842-97A7-E6A7B55ABA0B}"/>
              </a:ext>
            </a:extLst>
          </p:cNvPr>
          <p:cNvSpPr txBox="1"/>
          <p:nvPr/>
        </p:nvSpPr>
        <p:spPr>
          <a:xfrm>
            <a:off x="355758" y="430002"/>
            <a:ext cx="8341433" cy="1949252"/>
          </a:xfrm>
          <a:prstGeom prst="rect">
            <a:avLst/>
          </a:prstGeom>
          <a:noFill/>
        </p:spPr>
        <p:txBody>
          <a:bodyPr wrap="square" rIns="36000" rtlCol="0">
            <a:spAutoFit/>
          </a:bodyPr>
          <a:lstStyle/>
          <a:p>
            <a:pPr>
              <a:spcAft>
                <a:spcPts val="2000"/>
              </a:spcAft>
              <a:tabLst>
                <a:tab pos="1584000" algn="l"/>
              </a:tabLst>
            </a:pPr>
            <a:r>
              <a:rPr lang="en-IN" sz="1800" b="1" dirty="0">
                <a:solidFill>
                  <a:srgbClr val="0078AE"/>
                </a:solidFill>
              </a:rPr>
              <a:t>	</a:t>
            </a:r>
            <a:r>
              <a:rPr lang="en-US" sz="1800" b="1" dirty="0">
                <a:solidFill>
                  <a:srgbClr val="58585A"/>
                </a:solidFill>
              </a:rPr>
              <a:t>Identify Transformations From an Equation</a:t>
            </a:r>
            <a:endParaRPr lang="en-IN" sz="1800" b="1" dirty="0">
              <a:solidFill>
                <a:srgbClr val="58585A"/>
              </a:solidFill>
            </a:endParaRPr>
          </a:p>
          <a:p>
            <a:pPr marL="1476375" indent="-1466850">
              <a:spcAft>
                <a:spcPts val="600"/>
              </a:spcAft>
              <a:tabLst>
                <a:tab pos="1062038" algn="l"/>
                <a:tab pos="1465263" algn="l"/>
              </a:tabLst>
            </a:pPr>
            <a:r>
              <a:rPr lang="en-IN" sz="1800" b="1" dirty="0">
                <a:solidFill>
                  <a:srgbClr val="D92B31"/>
                </a:solidFill>
              </a:rPr>
              <a:t>Try It!</a:t>
            </a:r>
            <a:endParaRPr lang="en-IN" sz="1800" b="1" dirty="0">
              <a:solidFill>
                <a:schemeClr val="tx1"/>
              </a:solidFill>
            </a:endParaRPr>
          </a:p>
          <a:p>
            <a:pPr marL="342900" indent="-342900">
              <a:spcAft>
                <a:spcPts val="600"/>
              </a:spcAft>
              <a:buFont typeface="+mj-lt"/>
              <a:buAutoNum type="arabicPeriod" startAt="5"/>
            </a:pPr>
            <a:r>
              <a:rPr lang="en-IN" sz="1600" b="1" dirty="0"/>
              <a:t>​</a:t>
            </a:r>
            <a:r>
              <a:rPr lang="en-US" sz="1600" dirty="0"/>
              <a:t>What transformations of the graph of </a:t>
            </a:r>
            <a:r>
              <a:rPr lang="en-US" sz="1600" i="1" dirty="0"/>
              <a:t>f</a:t>
            </a:r>
            <a:r>
              <a:rPr lang="en-US" sz="1600" dirty="0"/>
              <a:t>(</a:t>
            </a:r>
            <a:r>
              <a:rPr lang="en-US" sz="1600" i="1" dirty="0"/>
              <a:t>x</a:t>
            </a:r>
            <a:r>
              <a:rPr lang="en-US" sz="1600" dirty="0"/>
              <a:t>) = ∣</a:t>
            </a:r>
            <a:r>
              <a:rPr lang="en-US" sz="1600" i="1" dirty="0"/>
              <a:t>x</a:t>
            </a:r>
            <a:r>
              <a:rPr lang="en-US" sz="1600" dirty="0"/>
              <a:t>∣ are applied to graph the function </a:t>
            </a:r>
            <a:r>
              <a:rPr lang="en-US" sz="1600" i="1" dirty="0"/>
              <a:t>g</a:t>
            </a:r>
            <a:r>
              <a:rPr lang="en-US" sz="1600" dirty="0"/>
              <a:t>?</a:t>
            </a:r>
          </a:p>
          <a:p>
            <a:pPr marL="360000" indent="-360000">
              <a:spcAft>
                <a:spcPts val="1200"/>
              </a:spcAft>
              <a:tabLst>
                <a:tab pos="1062038" algn="l"/>
                <a:tab pos="1465263" algn="l"/>
              </a:tabLst>
            </a:pPr>
            <a:r>
              <a:rPr lang="en-US" sz="1600" b="1" dirty="0"/>
              <a:t>	a. </a:t>
            </a:r>
            <a:r>
              <a:rPr lang="en-IN" sz="1600" b="1" dirty="0"/>
              <a:t>​ </a:t>
            </a:r>
            <a:r>
              <a:rPr lang="en-IN" sz="1600" i="1" dirty="0"/>
              <a:t>g</a:t>
            </a:r>
            <a:r>
              <a:rPr lang="en-IN" sz="1600" dirty="0"/>
              <a:t>(</a:t>
            </a:r>
            <a:r>
              <a:rPr lang="en-IN" sz="1600" i="1" dirty="0"/>
              <a:t>x</a:t>
            </a:r>
            <a:r>
              <a:rPr lang="en-IN" sz="1600" dirty="0"/>
              <a:t>) =    ∣</a:t>
            </a:r>
            <a:r>
              <a:rPr lang="en-IN" sz="1600" i="1" dirty="0"/>
              <a:t>x</a:t>
            </a:r>
            <a:r>
              <a:rPr lang="en-IN" sz="1600" dirty="0"/>
              <a:t> + 3∣</a:t>
            </a:r>
            <a:endParaRPr lang="en-US" sz="1600" dirty="0"/>
          </a:p>
          <a:p>
            <a:pPr marL="360000" indent="-360000">
              <a:spcAft>
                <a:spcPts val="600"/>
              </a:spcAft>
              <a:tabLst>
                <a:tab pos="1062038" algn="l"/>
                <a:tab pos="1465263" algn="l"/>
              </a:tabLst>
            </a:pPr>
            <a:r>
              <a:rPr lang="en-US" sz="1600" dirty="0"/>
              <a:t>	</a:t>
            </a:r>
            <a:r>
              <a:rPr lang="en-US" sz="1600" b="1" dirty="0"/>
              <a:t>b.</a:t>
            </a:r>
            <a:r>
              <a:rPr lang="en-US" sz="1600" dirty="0"/>
              <a:t> </a:t>
            </a:r>
            <a:r>
              <a:rPr lang="en-US" sz="1600" i="1" dirty="0"/>
              <a:t>g</a:t>
            </a:r>
            <a:r>
              <a:rPr lang="en-US" sz="1600" dirty="0"/>
              <a:t>(</a:t>
            </a:r>
            <a:r>
              <a:rPr lang="en-US" sz="1600" i="1" dirty="0"/>
              <a:t>x</a:t>
            </a:r>
            <a:r>
              <a:rPr lang="en-US" sz="1600" dirty="0"/>
              <a:t>) = −∣</a:t>
            </a:r>
            <a:r>
              <a:rPr lang="en-US" sz="1600" i="1" dirty="0"/>
              <a:t>x</a:t>
            </a:r>
            <a:r>
              <a:rPr lang="en-US" sz="1600" dirty="0"/>
              <a:t>∣ + 2</a:t>
            </a:r>
            <a:endParaRPr lang="en-IN" sz="1600" dirty="0">
              <a:solidFill>
                <a:schemeClr val="tx1"/>
              </a:solidFill>
            </a:endParaRPr>
          </a:p>
        </p:txBody>
      </p:sp>
      <p:sp>
        <p:nvSpPr>
          <p:cNvPr id="6" name="Rectangle 5">
            <a:extLst>
              <a:ext uri="{FF2B5EF4-FFF2-40B4-BE49-F238E27FC236}">
                <a16:creationId xmlns:a16="http://schemas.microsoft.com/office/drawing/2014/main" id="{33341DDE-51A7-BB4A-A5D0-B99BDB557C68}"/>
              </a:ext>
            </a:extLst>
          </p:cNvPr>
          <p:cNvSpPr/>
          <p:nvPr/>
        </p:nvSpPr>
        <p:spPr>
          <a:xfrm>
            <a:off x="452746" y="464612"/>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5</a:t>
            </a:r>
            <a:endParaRPr lang="en-US" sz="1800" cap="all" dirty="0"/>
          </a:p>
        </p:txBody>
      </p:sp>
      <p:cxnSp>
        <p:nvCxnSpPr>
          <p:cNvPr id="10" name="Straight Connector 9">
            <a:extLst>
              <a:ext uri="{FF2B5EF4-FFF2-40B4-BE49-F238E27FC236}">
                <a16:creationId xmlns:a16="http://schemas.microsoft.com/office/drawing/2014/main" id="{2D026447-33AB-3446-A23C-AFEA10330B4F}"/>
              </a:ext>
            </a:extLst>
          </p:cNvPr>
          <p:cNvCxnSpPr/>
          <p:nvPr/>
        </p:nvCxnSpPr>
        <p:spPr>
          <a:xfrm>
            <a:off x="425301" y="894900"/>
            <a:ext cx="8304028" cy="0"/>
          </a:xfrm>
          <a:prstGeom prst="line">
            <a:avLst/>
          </a:prstGeom>
          <a:ln w="25400">
            <a:solidFill>
              <a:srgbClr val="0078AE"/>
            </a:solidFill>
            <a:prstDash val="dash"/>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EA9AC8F-3AC6-3412-5ECB-66F8FA5F0457}"/>
              </a:ext>
            </a:extLst>
          </p:cNvPr>
          <p:cNvPicPr>
            <a:picLocks noChangeAspect="1"/>
          </p:cNvPicPr>
          <p:nvPr/>
        </p:nvPicPr>
        <p:blipFill>
          <a:blip r:embed="rId3"/>
          <a:stretch>
            <a:fillRect/>
          </a:stretch>
        </p:blipFill>
        <p:spPr>
          <a:xfrm>
            <a:off x="1614119" y="1603240"/>
            <a:ext cx="232983" cy="454317"/>
          </a:xfrm>
          <a:prstGeom prst="rect">
            <a:avLst/>
          </a:prstGeom>
        </p:spPr>
      </p:pic>
    </p:spTree>
    <p:extLst>
      <p:ext uri="{BB962C8B-B14F-4D97-AF65-F5344CB8AC3E}">
        <p14:creationId xmlns:p14="http://schemas.microsoft.com/office/powerpoint/2010/main" val="2407764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TextBox 1"/>
          <p:cNvSpPr txBox="1"/>
          <p:nvPr/>
        </p:nvSpPr>
        <p:spPr>
          <a:xfrm>
            <a:off x="2516909" y="658091"/>
            <a:ext cx="184666" cy="307777"/>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0EDCC6CB-C36E-0D4C-BBAD-DD4AF13FE946}"/>
              </a:ext>
            </a:extLst>
          </p:cNvPr>
          <p:cNvSpPr txBox="1"/>
          <p:nvPr/>
        </p:nvSpPr>
        <p:spPr>
          <a:xfrm>
            <a:off x="355758" y="690315"/>
            <a:ext cx="8568878" cy="1482457"/>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Write an Equation From a Graph</a:t>
            </a:r>
            <a:endParaRPr lang="en-IN" sz="1800" b="1" dirty="0">
              <a:solidFill>
                <a:srgbClr val="58585A"/>
              </a:solidFill>
            </a:endParaRPr>
          </a:p>
          <a:p>
            <a:pPr>
              <a:spcAft>
                <a:spcPts val="29400"/>
              </a:spcAft>
            </a:pPr>
            <a:r>
              <a:rPr lang="en-US" sz="1600" b="1" dirty="0">
                <a:solidFill>
                  <a:schemeClr val="tx1"/>
                </a:solidFill>
              </a:rPr>
              <a:t>A scenic train ride makes trips on an old mining line. The graph shows the distance </a:t>
            </a:r>
            <a:br>
              <a:rPr lang="en-US" sz="1600" b="1" dirty="0">
                <a:solidFill>
                  <a:schemeClr val="tx1"/>
                </a:solidFill>
              </a:rPr>
            </a:br>
            <a:r>
              <a:rPr lang="en-US" sz="1600" b="1" i="1" dirty="0">
                <a:solidFill>
                  <a:schemeClr val="tx1"/>
                </a:solidFill>
              </a:rPr>
              <a:t>y</a:t>
            </a:r>
            <a:r>
              <a:rPr lang="en-US" sz="1600" b="1" dirty="0">
                <a:solidFill>
                  <a:schemeClr val="tx1"/>
                </a:solidFill>
              </a:rPr>
              <a:t> in kilometers of the train from the station </a:t>
            </a:r>
            <a:r>
              <a:rPr lang="en-US" sz="1600" b="1" i="1" dirty="0">
                <a:solidFill>
                  <a:schemeClr val="tx1"/>
                </a:solidFill>
              </a:rPr>
              <a:t>x</a:t>
            </a:r>
            <a:r>
              <a:rPr lang="en-US" sz="1600" b="1" dirty="0">
                <a:solidFill>
                  <a:schemeClr val="tx1"/>
                </a:solidFill>
              </a:rPr>
              <a:t> minutes after the ride begins. What equation represents the distance from the station as a function of time? What is </a:t>
            </a:r>
            <a:br>
              <a:rPr lang="en-US" sz="1600" b="1" dirty="0">
                <a:solidFill>
                  <a:schemeClr val="tx1"/>
                </a:solidFill>
              </a:rPr>
            </a:br>
            <a:r>
              <a:rPr lang="en-US" sz="1600" b="1" dirty="0">
                <a:solidFill>
                  <a:schemeClr val="tx1"/>
                </a:solidFill>
              </a:rPr>
              <a:t>its domain?</a:t>
            </a:r>
          </a:p>
        </p:txBody>
      </p:sp>
      <p:sp>
        <p:nvSpPr>
          <p:cNvPr id="8" name="TextBox 7">
            <a:extLst>
              <a:ext uri="{FF2B5EF4-FFF2-40B4-BE49-F238E27FC236}">
                <a16:creationId xmlns:a16="http://schemas.microsoft.com/office/drawing/2014/main" id="{E2AF600D-6F8E-AF4F-9F8A-7A6BE3BFBF7F}"/>
              </a:ext>
            </a:extLst>
          </p:cNvPr>
          <p:cNvSpPr txBox="1"/>
          <p:nvPr/>
        </p:nvSpPr>
        <p:spPr>
          <a:xfrm>
            <a:off x="355758" y="351588"/>
            <a:ext cx="8341433" cy="369332"/>
          </a:xfrm>
          <a:prstGeom prst="rect">
            <a:avLst/>
          </a:prstGeom>
          <a:noFill/>
        </p:spPr>
        <p:txBody>
          <a:bodyPr wrap="square" rIns="36000" rtlCol="0">
            <a:spAutoFit/>
          </a:bodyPr>
          <a:lstStyle/>
          <a:p>
            <a:r>
              <a:rPr lang="en-IN" sz="1800" b="1" dirty="0">
                <a:solidFill>
                  <a:srgbClr val="137F97"/>
                </a:solidFill>
              </a:rPr>
              <a:t>APPLICATION</a:t>
            </a:r>
            <a:endParaRPr lang="en-IN" sz="1800" dirty="0">
              <a:solidFill>
                <a:srgbClr val="137F97"/>
              </a:solidFill>
            </a:endParaRPr>
          </a:p>
        </p:txBody>
      </p:sp>
      <p:sp>
        <p:nvSpPr>
          <p:cNvPr id="9" name="Rectangle 8">
            <a:extLst>
              <a:ext uri="{FF2B5EF4-FFF2-40B4-BE49-F238E27FC236}">
                <a16:creationId xmlns:a16="http://schemas.microsoft.com/office/drawing/2014/main" id="{AF2B9A9F-94DB-C945-92F4-1D544FF120FB}"/>
              </a:ext>
            </a:extLst>
          </p:cNvPr>
          <p:cNvSpPr/>
          <p:nvPr/>
        </p:nvSpPr>
        <p:spPr>
          <a:xfrm>
            <a:off x="452745" y="724935"/>
            <a:ext cx="1480558"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6</a:t>
            </a:r>
            <a:endParaRPr lang="en-US" sz="1800" cap="all" dirty="0"/>
          </a:p>
        </p:txBody>
      </p:sp>
      <p:sp>
        <p:nvSpPr>
          <p:cNvPr id="10" name="Google Shape;195;g10c86f8f910_0_5">
            <a:extLst>
              <a:ext uri="{FF2B5EF4-FFF2-40B4-BE49-F238E27FC236}">
                <a16:creationId xmlns:a16="http://schemas.microsoft.com/office/drawing/2014/main" id="{BD451FE6-4340-25E2-DAFC-8B65109A7E31}"/>
              </a:ext>
            </a:extLst>
          </p:cNvPr>
          <p:cNvSpPr/>
          <p:nvPr/>
        </p:nvSpPr>
        <p:spPr>
          <a:xfrm>
            <a:off x="280675" y="6454800"/>
            <a:ext cx="8614500" cy="165000"/>
          </a:xfrm>
          <a:prstGeom prst="rect">
            <a:avLst/>
          </a:prstGeom>
          <a:noFill/>
          <a:ln>
            <a:noFill/>
          </a:ln>
        </p:spPr>
        <p:txBody>
          <a:bodyPr spcFirstLastPara="1" wrap="square" lIns="91425" tIns="45700" rIns="91425" bIns="45700" anchor="t" anchorCtr="0">
            <a:noAutofit/>
          </a:bodyPr>
          <a:lstStyle/>
          <a:p>
            <a:pPr lvl="0" algn="ctr">
              <a:buSzPts val="1800"/>
            </a:pPr>
            <a:r>
              <a:rPr lang="en-US" sz="800" dirty="0">
                <a:solidFill>
                  <a:srgbClr val="595959"/>
                </a:solidFill>
                <a:latin typeface="Arial" panose="020B0604020202020204" pitchFamily="34" charset="0"/>
                <a:ea typeface="Avenir"/>
                <a:cs typeface="Arial" panose="020B0604020202020204" pitchFamily="34" charset="0"/>
                <a:sym typeface="Avenir"/>
              </a:rPr>
              <a:t>Photo credit: Jan </a:t>
            </a:r>
            <a:r>
              <a:rPr lang="en-US" sz="800" dirty="0" err="1">
                <a:solidFill>
                  <a:srgbClr val="595959"/>
                </a:solidFill>
                <a:latin typeface="Arial" panose="020B0604020202020204" pitchFamily="34" charset="0"/>
                <a:ea typeface="Avenir"/>
                <a:cs typeface="Arial" panose="020B0604020202020204" pitchFamily="34" charset="0"/>
                <a:sym typeface="Avenir"/>
              </a:rPr>
              <a:t>Gorzynik</a:t>
            </a:r>
            <a:r>
              <a:rPr lang="en-US" sz="800" dirty="0">
                <a:solidFill>
                  <a:srgbClr val="595959"/>
                </a:solidFill>
                <a:latin typeface="Arial" panose="020B0604020202020204" pitchFamily="34" charset="0"/>
                <a:ea typeface="Avenir"/>
                <a:cs typeface="Arial" panose="020B0604020202020204" pitchFamily="34" charset="0"/>
                <a:sym typeface="Avenir"/>
              </a:rPr>
              <a:t>/123RF</a:t>
            </a:r>
            <a:endParaRPr lang="en-US" sz="800" dirty="0">
              <a:solidFill>
                <a:schemeClr val="tx1">
                  <a:lumMod val="50000"/>
                  <a:lumOff val="50000"/>
                </a:schemeClr>
              </a:solidFill>
              <a:latin typeface="Arial" panose="020B0604020202020204" pitchFamily="34" charset="0"/>
              <a:ea typeface="Avenir"/>
              <a:cs typeface="Arial" panose="020B0604020202020204" pitchFamily="34" charset="0"/>
              <a:sym typeface="Avenir"/>
            </a:endParaRPr>
          </a:p>
        </p:txBody>
      </p:sp>
      <p:pic>
        <p:nvPicPr>
          <p:cNvPr id="5" name="Picture 4">
            <a:extLst>
              <a:ext uri="{FF2B5EF4-FFF2-40B4-BE49-F238E27FC236}">
                <a16:creationId xmlns:a16="http://schemas.microsoft.com/office/drawing/2014/main" id="{943D1344-53E4-0790-67B5-2C7FA4B088A6}"/>
              </a:ext>
            </a:extLst>
          </p:cNvPr>
          <p:cNvPicPr>
            <a:picLocks noChangeAspect="1"/>
          </p:cNvPicPr>
          <p:nvPr/>
        </p:nvPicPr>
        <p:blipFill>
          <a:blip r:embed="rId3"/>
          <a:stretch>
            <a:fillRect/>
          </a:stretch>
        </p:blipFill>
        <p:spPr>
          <a:xfrm>
            <a:off x="31141" y="1938926"/>
            <a:ext cx="9017548" cy="4231423"/>
          </a:xfrm>
          <a:prstGeom prst="rect">
            <a:avLst/>
          </a:prstGeom>
        </p:spPr>
      </p:pic>
    </p:spTree>
    <p:extLst>
      <p:ext uri="{BB962C8B-B14F-4D97-AF65-F5344CB8AC3E}">
        <p14:creationId xmlns:p14="http://schemas.microsoft.com/office/powerpoint/2010/main" val="3620211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TextBox 1"/>
          <p:cNvSpPr txBox="1"/>
          <p:nvPr/>
        </p:nvSpPr>
        <p:spPr>
          <a:xfrm>
            <a:off x="2516909" y="658091"/>
            <a:ext cx="184666" cy="307777"/>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0EDCC6CB-C36E-0D4C-BBAD-DD4AF13FE946}"/>
              </a:ext>
            </a:extLst>
          </p:cNvPr>
          <p:cNvSpPr txBox="1"/>
          <p:nvPr/>
        </p:nvSpPr>
        <p:spPr>
          <a:xfrm>
            <a:off x="355758" y="690315"/>
            <a:ext cx="8568878" cy="5345053"/>
          </a:xfrm>
          <a:prstGeom prst="rect">
            <a:avLst/>
          </a:prstGeom>
          <a:noFill/>
        </p:spPr>
        <p:txBody>
          <a:bodyPr wrap="square" rIns="36000" rtlCol="0">
            <a:spAutoFit/>
          </a:bodyPr>
          <a:lstStyle/>
          <a:p>
            <a:pPr>
              <a:spcAft>
                <a:spcPts val="1000"/>
              </a:spcAft>
              <a:tabLst>
                <a:tab pos="1584000" algn="l"/>
              </a:tabLst>
            </a:pPr>
            <a:r>
              <a:rPr lang="en-IN" sz="1800" b="1" dirty="0">
                <a:solidFill>
                  <a:srgbClr val="0078AE"/>
                </a:solidFill>
              </a:rPr>
              <a:t>	</a:t>
            </a:r>
            <a:r>
              <a:rPr lang="en-US" sz="1800" b="1" dirty="0">
                <a:solidFill>
                  <a:srgbClr val="58585A"/>
                </a:solidFill>
              </a:rPr>
              <a:t>Write an Equation From a Graph</a:t>
            </a:r>
            <a:endParaRPr lang="en-IN" sz="1800" b="1" dirty="0">
              <a:solidFill>
                <a:srgbClr val="58585A"/>
              </a:solidFill>
            </a:endParaRPr>
          </a:p>
          <a:p>
            <a:pPr>
              <a:spcAft>
                <a:spcPts val="600"/>
              </a:spcAft>
            </a:pPr>
            <a:r>
              <a:rPr lang="en-US" sz="1600" b="1" dirty="0">
                <a:solidFill>
                  <a:schemeClr val="tx1"/>
                </a:solidFill>
              </a:rPr>
              <a:t>A scenic train ride makes trips on an old mining line. The graph shows the distance </a:t>
            </a:r>
            <a:br>
              <a:rPr lang="en-US" sz="1600" b="1" dirty="0">
                <a:solidFill>
                  <a:schemeClr val="tx1"/>
                </a:solidFill>
              </a:rPr>
            </a:br>
            <a:r>
              <a:rPr lang="en-US" sz="1600" b="1" i="1" dirty="0">
                <a:solidFill>
                  <a:schemeClr val="tx1"/>
                </a:solidFill>
              </a:rPr>
              <a:t>y</a:t>
            </a:r>
            <a:r>
              <a:rPr lang="en-US" sz="1600" b="1" dirty="0">
                <a:solidFill>
                  <a:schemeClr val="tx1"/>
                </a:solidFill>
              </a:rPr>
              <a:t> in kilometers of the train from the station </a:t>
            </a:r>
            <a:r>
              <a:rPr lang="en-US" sz="1600" b="1" i="1" dirty="0">
                <a:solidFill>
                  <a:schemeClr val="tx1"/>
                </a:solidFill>
              </a:rPr>
              <a:t>x</a:t>
            </a:r>
            <a:r>
              <a:rPr lang="en-US" sz="1600" b="1" dirty="0">
                <a:solidFill>
                  <a:schemeClr val="tx1"/>
                </a:solidFill>
              </a:rPr>
              <a:t> minutes after the ride begins. What equation represents the distance from the station as a function of time? What is </a:t>
            </a:r>
            <a:br>
              <a:rPr lang="en-US" sz="1600" b="1" dirty="0">
                <a:solidFill>
                  <a:schemeClr val="tx1"/>
                </a:solidFill>
              </a:rPr>
            </a:br>
            <a:r>
              <a:rPr lang="en-US" sz="1600" b="1" dirty="0">
                <a:solidFill>
                  <a:schemeClr val="tx1"/>
                </a:solidFill>
              </a:rPr>
              <a:t>its domain?</a:t>
            </a:r>
          </a:p>
          <a:p>
            <a:pPr>
              <a:spcAft>
                <a:spcPts val="600"/>
              </a:spcAft>
            </a:pPr>
            <a:r>
              <a:rPr lang="en-US" dirty="0">
                <a:solidFill>
                  <a:schemeClr val="tx1"/>
                </a:solidFill>
              </a:rPr>
              <a:t>The graph shows a reflection of an absolute value graph across the </a:t>
            </a:r>
            <a:r>
              <a:rPr lang="en-US" i="1" dirty="0">
                <a:solidFill>
                  <a:schemeClr val="tx1"/>
                </a:solidFill>
              </a:rPr>
              <a:t>x</a:t>
            </a:r>
            <a:r>
              <a:rPr lang="en-US" dirty="0">
                <a:solidFill>
                  <a:schemeClr val="tx1"/>
                </a:solidFill>
              </a:rPr>
              <a:t>-axis and a translation upward and to the right. The general form of this absolute value function is </a:t>
            </a:r>
            <a:r>
              <a:rPr lang="en-US" i="1" dirty="0">
                <a:solidFill>
                  <a:schemeClr val="tx1"/>
                </a:solidFill>
              </a:rPr>
              <a:t>y</a:t>
            </a:r>
            <a:r>
              <a:rPr lang="en-US" dirty="0">
                <a:solidFill>
                  <a:schemeClr val="tx1"/>
                </a:solidFill>
              </a:rPr>
              <a:t> = −</a:t>
            </a:r>
            <a:r>
              <a:rPr lang="en-US" i="1" dirty="0" err="1">
                <a:solidFill>
                  <a:schemeClr val="tx1"/>
                </a:solidFill>
              </a:rPr>
              <a:t>a</a:t>
            </a:r>
            <a:r>
              <a:rPr lang="en-US" dirty="0" err="1">
                <a:solidFill>
                  <a:schemeClr val="tx1"/>
                </a:solidFill>
              </a:rPr>
              <a:t>∣</a:t>
            </a:r>
            <a:r>
              <a:rPr lang="en-US" i="1" dirty="0" err="1">
                <a:solidFill>
                  <a:schemeClr val="tx1"/>
                </a:solidFill>
              </a:rPr>
              <a:t>x</a:t>
            </a:r>
            <a:r>
              <a:rPr lang="en-US" dirty="0">
                <a:solidFill>
                  <a:schemeClr val="tx1"/>
                </a:solidFill>
              </a:rPr>
              <a:t> − </a:t>
            </a:r>
            <a:r>
              <a:rPr lang="en-US" i="1" dirty="0">
                <a:solidFill>
                  <a:schemeClr val="tx1"/>
                </a:solidFill>
              </a:rPr>
              <a:t>h</a:t>
            </a:r>
            <a:r>
              <a:rPr lang="en-US" dirty="0">
                <a:solidFill>
                  <a:schemeClr val="tx1"/>
                </a:solidFill>
              </a:rPr>
              <a:t>∣ + </a:t>
            </a:r>
            <a:r>
              <a:rPr lang="en-US" i="1" dirty="0">
                <a:solidFill>
                  <a:schemeClr val="tx1"/>
                </a:solidFill>
              </a:rPr>
              <a:t>k</a:t>
            </a:r>
            <a:r>
              <a:rPr lang="en-US" dirty="0">
                <a:solidFill>
                  <a:schemeClr val="tx1"/>
                </a:solidFill>
              </a:rPr>
              <a:t>, where the point (</a:t>
            </a:r>
            <a:r>
              <a:rPr lang="en-US" i="1" dirty="0">
                <a:solidFill>
                  <a:schemeClr val="tx1"/>
                </a:solidFill>
              </a:rPr>
              <a:t>h</a:t>
            </a:r>
            <a:r>
              <a:rPr lang="en-US" dirty="0">
                <a:solidFill>
                  <a:schemeClr val="tx1"/>
                </a:solidFill>
              </a:rPr>
              <a:t>, </a:t>
            </a:r>
            <a:r>
              <a:rPr lang="en-US" i="1" dirty="0">
                <a:solidFill>
                  <a:schemeClr val="tx1"/>
                </a:solidFill>
              </a:rPr>
              <a:t>k</a:t>
            </a:r>
            <a:r>
              <a:rPr lang="en-US" dirty="0">
                <a:solidFill>
                  <a:schemeClr val="tx1"/>
                </a:solidFill>
              </a:rPr>
              <a:t>) represents the vertex and −</a:t>
            </a:r>
            <a:r>
              <a:rPr lang="en-US" i="1" dirty="0">
                <a:solidFill>
                  <a:schemeClr val="tx1"/>
                </a:solidFill>
              </a:rPr>
              <a:t>a</a:t>
            </a:r>
            <a:r>
              <a:rPr lang="en-US" dirty="0">
                <a:solidFill>
                  <a:schemeClr val="tx1"/>
                </a:solidFill>
              </a:rPr>
              <a:t> indicates that the graph opens downward. </a:t>
            </a:r>
          </a:p>
          <a:p>
            <a:pPr>
              <a:spcAft>
                <a:spcPts val="600"/>
              </a:spcAft>
            </a:pPr>
            <a:r>
              <a:rPr lang="en-US" dirty="0">
                <a:solidFill>
                  <a:schemeClr val="tx1"/>
                </a:solidFill>
              </a:rPr>
              <a:t>Substituting the point of the vertex (15, 15) for (</a:t>
            </a:r>
            <a:r>
              <a:rPr lang="en-US" i="1" dirty="0">
                <a:solidFill>
                  <a:schemeClr val="tx1"/>
                </a:solidFill>
              </a:rPr>
              <a:t>h</a:t>
            </a:r>
            <a:r>
              <a:rPr lang="en-US" dirty="0">
                <a:solidFill>
                  <a:schemeClr val="tx1"/>
                </a:solidFill>
              </a:rPr>
              <a:t>, </a:t>
            </a:r>
            <a:r>
              <a:rPr lang="en-US" i="1" dirty="0">
                <a:solidFill>
                  <a:schemeClr val="tx1"/>
                </a:solidFill>
              </a:rPr>
              <a:t>k</a:t>
            </a:r>
            <a:r>
              <a:rPr lang="en-US" dirty="0">
                <a:solidFill>
                  <a:schemeClr val="tx1"/>
                </a:solidFill>
              </a:rPr>
              <a:t>) gives the equation </a:t>
            </a:r>
            <a:r>
              <a:rPr lang="en-US" i="1" dirty="0">
                <a:solidFill>
                  <a:schemeClr val="tx1"/>
                </a:solidFill>
              </a:rPr>
              <a:t>y</a:t>
            </a:r>
            <a:r>
              <a:rPr lang="en-US" dirty="0">
                <a:solidFill>
                  <a:schemeClr val="tx1"/>
                </a:solidFill>
              </a:rPr>
              <a:t> = −</a:t>
            </a:r>
            <a:r>
              <a:rPr lang="en-US" i="1" dirty="0" err="1">
                <a:solidFill>
                  <a:schemeClr val="tx1"/>
                </a:solidFill>
              </a:rPr>
              <a:t>a</a:t>
            </a:r>
            <a:r>
              <a:rPr lang="en-US" dirty="0" err="1">
                <a:solidFill>
                  <a:schemeClr val="tx1"/>
                </a:solidFill>
              </a:rPr>
              <a:t>∣</a:t>
            </a:r>
            <a:r>
              <a:rPr lang="en-US" i="1" dirty="0" err="1">
                <a:solidFill>
                  <a:schemeClr val="tx1"/>
                </a:solidFill>
              </a:rPr>
              <a:t>x</a:t>
            </a:r>
            <a:r>
              <a:rPr lang="en-US" dirty="0">
                <a:solidFill>
                  <a:schemeClr val="tx1"/>
                </a:solidFill>
              </a:rPr>
              <a:t> − 15∣ + 15.</a:t>
            </a:r>
          </a:p>
          <a:p>
            <a:pPr>
              <a:spcAft>
                <a:spcPts val="600"/>
              </a:spcAft>
            </a:pPr>
            <a:r>
              <a:rPr lang="en-US" dirty="0">
                <a:solidFill>
                  <a:schemeClr val="tx1"/>
                </a:solidFill>
              </a:rPr>
              <a:t>To solve for </a:t>
            </a:r>
            <a:r>
              <a:rPr lang="en-US" i="1" dirty="0">
                <a:solidFill>
                  <a:schemeClr val="tx1"/>
                </a:solidFill>
              </a:rPr>
              <a:t>a</a:t>
            </a:r>
            <a:r>
              <a:rPr lang="en-US" dirty="0">
                <a:solidFill>
                  <a:schemeClr val="tx1"/>
                </a:solidFill>
              </a:rPr>
              <a:t>, you can use any point on the graph. Using the point (0, 0) to substitute for (</a:t>
            </a:r>
            <a:r>
              <a:rPr lang="en-US" i="1" dirty="0">
                <a:solidFill>
                  <a:schemeClr val="tx1"/>
                </a:solidFill>
              </a:rPr>
              <a:t>x</a:t>
            </a:r>
            <a:r>
              <a:rPr lang="en-US" dirty="0">
                <a:solidFill>
                  <a:schemeClr val="tx1"/>
                </a:solidFill>
              </a:rPr>
              <a:t>, </a:t>
            </a:r>
            <a:r>
              <a:rPr lang="en-US" i="1" dirty="0">
                <a:solidFill>
                  <a:schemeClr val="tx1"/>
                </a:solidFill>
              </a:rPr>
              <a:t>y</a:t>
            </a:r>
            <a:r>
              <a:rPr lang="en-US" dirty="0">
                <a:solidFill>
                  <a:schemeClr val="tx1"/>
                </a:solidFill>
              </a:rPr>
              <a:t>) in the equation simplifies the computation:</a:t>
            </a:r>
            <a:endParaRPr lang="en-IN" dirty="0">
              <a:solidFill>
                <a:schemeClr val="tx1"/>
              </a:solidFill>
            </a:endParaRPr>
          </a:p>
          <a:p>
            <a:pPr marL="360000" indent="-360000">
              <a:spcAft>
                <a:spcPts val="600"/>
              </a:spcAft>
            </a:pPr>
            <a:r>
              <a:rPr lang="mr-IN" dirty="0">
                <a:solidFill>
                  <a:schemeClr val="tx1"/>
                </a:solidFill>
              </a:rPr>
              <a:t>	</a:t>
            </a:r>
            <a:r>
              <a:rPr lang="mr-IN" i="1" dirty="0">
                <a:solidFill>
                  <a:schemeClr val="tx1"/>
                </a:solidFill>
              </a:rPr>
              <a:t>y</a:t>
            </a:r>
            <a:r>
              <a:rPr lang="mr-IN" dirty="0">
                <a:solidFill>
                  <a:schemeClr val="tx1"/>
                </a:solidFill>
              </a:rPr>
              <a:t> = −</a:t>
            </a:r>
            <a:r>
              <a:rPr lang="mr-IN" i="1" dirty="0">
                <a:solidFill>
                  <a:schemeClr val="tx1"/>
                </a:solidFill>
              </a:rPr>
              <a:t>a</a:t>
            </a:r>
            <a:r>
              <a:rPr lang="mr-IN" dirty="0">
                <a:solidFill>
                  <a:schemeClr val="tx1"/>
                </a:solidFill>
              </a:rPr>
              <a:t>∣</a:t>
            </a:r>
            <a:r>
              <a:rPr lang="mr-IN" i="1" dirty="0">
                <a:solidFill>
                  <a:schemeClr val="tx1"/>
                </a:solidFill>
              </a:rPr>
              <a:t>x</a:t>
            </a:r>
            <a:r>
              <a:rPr lang="mr-IN" dirty="0">
                <a:solidFill>
                  <a:schemeClr val="tx1"/>
                </a:solidFill>
              </a:rPr>
              <a:t> − 15∣ + 15 </a:t>
            </a:r>
          </a:p>
          <a:p>
            <a:pPr marL="360000" indent="-360000">
              <a:spcAft>
                <a:spcPts val="600"/>
              </a:spcAft>
            </a:pPr>
            <a:r>
              <a:rPr lang="mr-IN" dirty="0">
                <a:solidFill>
                  <a:schemeClr val="tx1"/>
                </a:solidFill>
              </a:rPr>
              <a:t>	0 = −</a:t>
            </a:r>
            <a:r>
              <a:rPr lang="mr-IN" i="1" dirty="0">
                <a:solidFill>
                  <a:schemeClr val="tx1"/>
                </a:solidFill>
              </a:rPr>
              <a:t>a</a:t>
            </a:r>
            <a:r>
              <a:rPr lang="mr-IN" dirty="0">
                <a:solidFill>
                  <a:schemeClr val="tx1"/>
                </a:solidFill>
              </a:rPr>
              <a:t>∣0 − 15∣ + 15</a:t>
            </a:r>
          </a:p>
          <a:p>
            <a:pPr marL="360000" indent="-360000">
              <a:spcAft>
                <a:spcPts val="600"/>
              </a:spcAft>
            </a:pPr>
            <a:r>
              <a:rPr lang="mr-IN" dirty="0">
                <a:solidFill>
                  <a:schemeClr val="tx1"/>
                </a:solidFill>
              </a:rPr>
              <a:t>	0 = −15</a:t>
            </a:r>
            <a:r>
              <a:rPr lang="mr-IN" i="1" dirty="0">
                <a:solidFill>
                  <a:schemeClr val="tx1"/>
                </a:solidFill>
              </a:rPr>
              <a:t>a</a:t>
            </a:r>
            <a:r>
              <a:rPr lang="mr-IN" dirty="0">
                <a:solidFill>
                  <a:schemeClr val="tx1"/>
                </a:solidFill>
              </a:rPr>
              <a:t> + 15</a:t>
            </a:r>
          </a:p>
          <a:p>
            <a:pPr marL="360000" indent="-360000">
              <a:spcAft>
                <a:spcPts val="600"/>
              </a:spcAft>
            </a:pPr>
            <a:r>
              <a:rPr lang="en-US" dirty="0">
                <a:solidFill>
                  <a:schemeClr val="tx1"/>
                </a:solidFill>
              </a:rPr>
              <a:t>   </a:t>
            </a:r>
            <a:r>
              <a:rPr lang="mr-IN" dirty="0">
                <a:solidFill>
                  <a:schemeClr val="tx1"/>
                </a:solidFill>
              </a:rPr>
              <a:t>−15 = −15</a:t>
            </a:r>
            <a:r>
              <a:rPr lang="mr-IN" i="1" dirty="0">
                <a:solidFill>
                  <a:schemeClr val="tx1"/>
                </a:solidFill>
              </a:rPr>
              <a:t>a</a:t>
            </a:r>
            <a:endParaRPr lang="mr-IN" dirty="0">
              <a:solidFill>
                <a:schemeClr val="tx1"/>
              </a:solidFill>
            </a:endParaRPr>
          </a:p>
          <a:p>
            <a:pPr marL="360000" indent="-360000">
              <a:spcAft>
                <a:spcPts val="600"/>
              </a:spcAft>
            </a:pPr>
            <a:r>
              <a:rPr lang="en-US" dirty="0">
                <a:solidFill>
                  <a:schemeClr val="tx1"/>
                </a:solidFill>
              </a:rPr>
              <a:t> 	</a:t>
            </a:r>
            <a:r>
              <a:rPr lang="mr-IN" i="1" dirty="0">
                <a:solidFill>
                  <a:schemeClr val="tx1"/>
                </a:solidFill>
              </a:rPr>
              <a:t>a</a:t>
            </a:r>
            <a:r>
              <a:rPr lang="en-US" dirty="0">
                <a:solidFill>
                  <a:schemeClr val="tx1"/>
                </a:solidFill>
              </a:rPr>
              <a:t> = 1</a:t>
            </a:r>
          </a:p>
          <a:p>
            <a:pPr marL="360000" indent="-360000">
              <a:spcAft>
                <a:spcPts val="600"/>
              </a:spcAft>
            </a:pPr>
            <a:r>
              <a:rPr lang="en-US" dirty="0">
                <a:solidFill>
                  <a:schemeClr val="tx1"/>
                </a:solidFill>
              </a:rPr>
              <a:t>Now you can write the equation for distance as a function of time: </a:t>
            </a:r>
          </a:p>
          <a:p>
            <a:pPr marL="360000" indent="-360000">
              <a:spcAft>
                <a:spcPts val="600"/>
              </a:spcAft>
            </a:pPr>
            <a:r>
              <a:rPr lang="en-US" dirty="0">
                <a:solidFill>
                  <a:schemeClr val="tx1"/>
                </a:solidFill>
              </a:rPr>
              <a:t>	</a:t>
            </a:r>
            <a:r>
              <a:rPr lang="en-US" i="1" dirty="0">
                <a:solidFill>
                  <a:schemeClr val="tx1"/>
                </a:solidFill>
              </a:rPr>
              <a:t>y</a:t>
            </a:r>
            <a:r>
              <a:rPr lang="en-US" dirty="0">
                <a:solidFill>
                  <a:schemeClr val="tx1"/>
                </a:solidFill>
              </a:rPr>
              <a:t> = −∣</a:t>
            </a:r>
            <a:r>
              <a:rPr lang="en-US" i="1" dirty="0">
                <a:solidFill>
                  <a:schemeClr val="tx1"/>
                </a:solidFill>
              </a:rPr>
              <a:t>x</a:t>
            </a:r>
            <a:r>
              <a:rPr lang="en-US" dirty="0">
                <a:solidFill>
                  <a:schemeClr val="tx1"/>
                </a:solidFill>
              </a:rPr>
              <a:t> − 15∣ + 15. </a:t>
            </a:r>
          </a:p>
          <a:p>
            <a:pPr>
              <a:spcAft>
                <a:spcPts val="600"/>
              </a:spcAft>
            </a:pPr>
            <a:r>
              <a:rPr lang="en-US" dirty="0">
                <a:solidFill>
                  <a:schemeClr val="tx1"/>
                </a:solidFill>
              </a:rPr>
              <a:t>According to the graph, the train returns to its station after 30 minutes, so the function’s domain is [0, 30].</a:t>
            </a:r>
            <a:endParaRPr lang="en-IN" dirty="0">
              <a:solidFill>
                <a:schemeClr val="tx1"/>
              </a:solidFill>
            </a:endParaRPr>
          </a:p>
        </p:txBody>
      </p:sp>
      <p:sp>
        <p:nvSpPr>
          <p:cNvPr id="8" name="TextBox 7">
            <a:extLst>
              <a:ext uri="{FF2B5EF4-FFF2-40B4-BE49-F238E27FC236}">
                <a16:creationId xmlns:a16="http://schemas.microsoft.com/office/drawing/2014/main" id="{E2AF600D-6F8E-AF4F-9F8A-7A6BE3BFBF7F}"/>
              </a:ext>
            </a:extLst>
          </p:cNvPr>
          <p:cNvSpPr txBox="1"/>
          <p:nvPr/>
        </p:nvSpPr>
        <p:spPr>
          <a:xfrm>
            <a:off x="355758" y="351588"/>
            <a:ext cx="8341433" cy="369332"/>
          </a:xfrm>
          <a:prstGeom prst="rect">
            <a:avLst/>
          </a:prstGeom>
          <a:noFill/>
        </p:spPr>
        <p:txBody>
          <a:bodyPr wrap="square" rIns="36000" rtlCol="0">
            <a:spAutoFit/>
          </a:bodyPr>
          <a:lstStyle/>
          <a:p>
            <a:r>
              <a:rPr lang="en-IN" sz="1800" b="1" dirty="0">
                <a:solidFill>
                  <a:srgbClr val="137F97"/>
                </a:solidFill>
              </a:rPr>
              <a:t>APPLICATION</a:t>
            </a:r>
            <a:endParaRPr lang="en-IN" sz="1800" dirty="0">
              <a:solidFill>
                <a:srgbClr val="137F97"/>
              </a:solidFill>
            </a:endParaRPr>
          </a:p>
        </p:txBody>
      </p:sp>
      <p:sp>
        <p:nvSpPr>
          <p:cNvPr id="9" name="Rectangle 8">
            <a:extLst>
              <a:ext uri="{FF2B5EF4-FFF2-40B4-BE49-F238E27FC236}">
                <a16:creationId xmlns:a16="http://schemas.microsoft.com/office/drawing/2014/main" id="{AF2B9A9F-94DB-C945-92F4-1D544FF120FB}"/>
              </a:ext>
            </a:extLst>
          </p:cNvPr>
          <p:cNvSpPr/>
          <p:nvPr/>
        </p:nvSpPr>
        <p:spPr>
          <a:xfrm>
            <a:off x="452745" y="724935"/>
            <a:ext cx="1480558"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6</a:t>
            </a:r>
            <a:endParaRPr lang="en-US" sz="1800" cap="all" dirty="0"/>
          </a:p>
        </p:txBody>
      </p:sp>
      <p:sp>
        <p:nvSpPr>
          <p:cNvPr id="10" name="Rounded Rectangle 9">
            <a:extLst>
              <a:ext uri="{FF2B5EF4-FFF2-40B4-BE49-F238E27FC236}">
                <a16:creationId xmlns:a16="http://schemas.microsoft.com/office/drawing/2014/main" id="{8F64C450-5A2A-B44B-B667-D61D459945DB}"/>
              </a:ext>
            </a:extLst>
          </p:cNvPr>
          <p:cNvSpPr/>
          <p:nvPr/>
        </p:nvSpPr>
        <p:spPr>
          <a:xfrm>
            <a:off x="3705543" y="4114545"/>
            <a:ext cx="4249275" cy="717082"/>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de-DE" sz="1200" b="1" dirty="0">
                <a:solidFill>
                  <a:srgbClr val="137F97"/>
                </a:solidFill>
              </a:rPr>
              <a:t>STUDY TIP</a:t>
            </a:r>
          </a:p>
          <a:p>
            <a:pPr>
              <a:spcAft>
                <a:spcPts val="300"/>
              </a:spcAft>
            </a:pPr>
            <a:r>
              <a:rPr lang="en-US" sz="1200" dirty="0">
                <a:solidFill>
                  <a:schemeClr val="tx1"/>
                </a:solidFill>
                <a:latin typeface="Arial" panose="020B0604020202020204" pitchFamily="34" charset="0"/>
                <a:cs typeface="Arial" panose="020B0604020202020204" pitchFamily="34" charset="0"/>
              </a:rPr>
              <a:t>Solving algebraically is only one method for determining a stretch or compression factor.</a:t>
            </a:r>
            <a:endParaRPr lang="en-IN"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6322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TextBox 1"/>
          <p:cNvSpPr txBox="1"/>
          <p:nvPr/>
        </p:nvSpPr>
        <p:spPr>
          <a:xfrm>
            <a:off x="2516909" y="658091"/>
            <a:ext cx="184666" cy="307777"/>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6E8F0502-F26D-4842-97A7-E6A7B55ABA0B}"/>
              </a:ext>
            </a:extLst>
          </p:cNvPr>
          <p:cNvSpPr txBox="1"/>
          <p:nvPr/>
        </p:nvSpPr>
        <p:spPr>
          <a:xfrm>
            <a:off x="355758" y="430002"/>
            <a:ext cx="8341433" cy="1472198"/>
          </a:xfrm>
          <a:prstGeom prst="rect">
            <a:avLst/>
          </a:prstGeom>
          <a:noFill/>
        </p:spPr>
        <p:txBody>
          <a:bodyPr wrap="square" rIns="36000" rtlCol="0">
            <a:spAutoFit/>
          </a:bodyPr>
          <a:lstStyle/>
          <a:p>
            <a:pPr>
              <a:spcAft>
                <a:spcPts val="2000"/>
              </a:spcAft>
              <a:tabLst>
                <a:tab pos="1584000" algn="l"/>
              </a:tabLst>
            </a:pPr>
            <a:r>
              <a:rPr lang="en-IN" sz="1800" b="1" dirty="0">
                <a:solidFill>
                  <a:srgbClr val="0078AE"/>
                </a:solidFill>
              </a:rPr>
              <a:t>	</a:t>
            </a:r>
            <a:r>
              <a:rPr lang="en-US" sz="1800" b="1" dirty="0">
                <a:solidFill>
                  <a:srgbClr val="58585A"/>
                </a:solidFill>
              </a:rPr>
              <a:t>Write an Equation From a Graph</a:t>
            </a:r>
            <a:endParaRPr lang="en-IN" sz="1800" b="1" dirty="0">
              <a:solidFill>
                <a:srgbClr val="58585A"/>
              </a:solidFill>
            </a:endParaRPr>
          </a:p>
          <a:p>
            <a:pPr marL="1476375" indent="-1466850">
              <a:spcAft>
                <a:spcPts val="600"/>
              </a:spcAft>
              <a:tabLst>
                <a:tab pos="1062038" algn="l"/>
                <a:tab pos="1465263" algn="l"/>
              </a:tabLst>
            </a:pPr>
            <a:r>
              <a:rPr lang="en-IN" sz="1800" b="1" dirty="0">
                <a:solidFill>
                  <a:srgbClr val="D92B31"/>
                </a:solidFill>
              </a:rPr>
              <a:t>Try It!</a:t>
            </a:r>
            <a:endParaRPr lang="en-IN" sz="1800" b="1" dirty="0">
              <a:solidFill>
                <a:schemeClr val="tx1"/>
              </a:solidFill>
            </a:endParaRPr>
          </a:p>
          <a:p>
            <a:pPr marL="342900" indent="-342900">
              <a:spcAft>
                <a:spcPts val="600"/>
              </a:spcAft>
              <a:buFont typeface="+mj-lt"/>
              <a:buAutoNum type="arabicPeriod" startAt="6"/>
            </a:pPr>
            <a:r>
              <a:rPr lang="en-IN" sz="1600" b="1" dirty="0"/>
              <a:t>​</a:t>
            </a:r>
            <a:r>
              <a:rPr lang="en-US" sz="1600" dirty="0"/>
              <a:t>How would the graph and equation be affected if the train traveled twice as far in the same amount of time?</a:t>
            </a:r>
            <a:endParaRPr lang="en-IN" sz="1600" dirty="0">
              <a:solidFill>
                <a:schemeClr val="tx1"/>
              </a:solidFill>
            </a:endParaRPr>
          </a:p>
        </p:txBody>
      </p:sp>
      <p:sp>
        <p:nvSpPr>
          <p:cNvPr id="11" name="Rectangle 10">
            <a:extLst>
              <a:ext uri="{FF2B5EF4-FFF2-40B4-BE49-F238E27FC236}">
                <a16:creationId xmlns:a16="http://schemas.microsoft.com/office/drawing/2014/main" id="{33341DDE-51A7-BB4A-A5D0-B99BDB557C68}"/>
              </a:ext>
            </a:extLst>
          </p:cNvPr>
          <p:cNvSpPr/>
          <p:nvPr/>
        </p:nvSpPr>
        <p:spPr>
          <a:xfrm>
            <a:off x="452746" y="464612"/>
            <a:ext cx="1480557" cy="295175"/>
          </a:xfrm>
          <a:prstGeom prst="rect">
            <a:avLst/>
          </a:prstGeom>
          <a:solidFill>
            <a:srgbClr val="1A4F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0" bIns="18000" rtlCol="0" anchor="ctr">
            <a:spAutoFit/>
          </a:bodyPr>
          <a:lstStyle/>
          <a:p>
            <a:r>
              <a:rPr lang="en-IN" sz="1800" b="1" cap="all" dirty="0">
                <a:solidFill>
                  <a:schemeClr val="bg1"/>
                </a:solidFill>
              </a:rPr>
              <a:t>Example 6</a:t>
            </a:r>
            <a:endParaRPr lang="en-US" sz="1800" cap="all" dirty="0"/>
          </a:p>
        </p:txBody>
      </p:sp>
      <p:cxnSp>
        <p:nvCxnSpPr>
          <p:cNvPr id="12" name="Straight Connector 11">
            <a:extLst>
              <a:ext uri="{FF2B5EF4-FFF2-40B4-BE49-F238E27FC236}">
                <a16:creationId xmlns:a16="http://schemas.microsoft.com/office/drawing/2014/main" id="{2D026447-33AB-3446-A23C-AFEA10330B4F}"/>
              </a:ext>
            </a:extLst>
          </p:cNvPr>
          <p:cNvCxnSpPr/>
          <p:nvPr/>
        </p:nvCxnSpPr>
        <p:spPr>
          <a:xfrm>
            <a:off x="425301" y="894900"/>
            <a:ext cx="8304028" cy="0"/>
          </a:xfrm>
          <a:prstGeom prst="line">
            <a:avLst/>
          </a:prstGeom>
          <a:ln w="25400">
            <a:solidFill>
              <a:srgbClr val="0078AE"/>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3619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8" name="TextBox 7">
            <a:extLst>
              <a:ext uri="{FF2B5EF4-FFF2-40B4-BE49-F238E27FC236}">
                <a16:creationId xmlns:a16="http://schemas.microsoft.com/office/drawing/2014/main" id="{E2AF600D-6F8E-AF4F-9F8A-7A6BE3BFBF7F}"/>
              </a:ext>
            </a:extLst>
          </p:cNvPr>
          <p:cNvSpPr txBox="1"/>
          <p:nvPr/>
        </p:nvSpPr>
        <p:spPr>
          <a:xfrm>
            <a:off x="355758" y="351588"/>
            <a:ext cx="8534242" cy="1231106"/>
          </a:xfrm>
          <a:prstGeom prst="rect">
            <a:avLst/>
          </a:prstGeom>
          <a:noFill/>
        </p:spPr>
        <p:txBody>
          <a:bodyPr wrap="square" rIns="36000" rtlCol="0">
            <a:spAutoFit/>
          </a:bodyPr>
          <a:lstStyle/>
          <a:p>
            <a:pPr>
              <a:spcAft>
                <a:spcPts val="600"/>
              </a:spcAft>
            </a:pPr>
            <a:r>
              <a:rPr lang="en-IN" sz="1800" b="1" dirty="0">
                <a:solidFill>
                  <a:srgbClr val="137F97"/>
                </a:solidFill>
              </a:rPr>
              <a:t>CONCEPT SUMMARY</a:t>
            </a:r>
          </a:p>
          <a:p>
            <a:pPr>
              <a:spcAft>
                <a:spcPts val="600"/>
              </a:spcAft>
            </a:pPr>
            <a:r>
              <a:rPr lang="en-US" sz="1800" b="1" dirty="0">
                <a:solidFill>
                  <a:srgbClr val="58585A"/>
                </a:solidFill>
              </a:rPr>
              <a:t>Transformations of Functions</a:t>
            </a:r>
          </a:p>
          <a:p>
            <a:r>
              <a:rPr lang="en-US" dirty="0">
                <a:solidFill>
                  <a:schemeClr val="tx1"/>
                </a:solidFill>
              </a:rPr>
              <a:t>For a function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the graph of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a</a:t>
            </a:r>
            <a:r>
              <a:rPr lang="en-US" dirty="0">
                <a:solidFill>
                  <a:schemeClr val="tx1"/>
                </a:solidFill>
              </a:rPr>
              <a:t> </a:t>
            </a:r>
            <a:r>
              <a:rPr lang="en-IN" i="1" dirty="0">
                <a:solidFill>
                  <a:schemeClr val="tx1"/>
                </a:solidFill>
              </a:rPr>
              <a:t>•</a:t>
            </a:r>
            <a:r>
              <a:rPr lang="en-US" dirty="0">
                <a:solidFill>
                  <a:schemeClr val="tx1"/>
                </a:solidFill>
              </a:rPr>
              <a:t> </a:t>
            </a:r>
            <a:r>
              <a:rPr lang="en-US" i="1" dirty="0">
                <a:solidFill>
                  <a:schemeClr val="tx1"/>
                </a:solidFill>
              </a:rPr>
              <a:t>f</a:t>
            </a:r>
            <a:r>
              <a:rPr lang="en-US" dirty="0">
                <a:solidFill>
                  <a:schemeClr val="tx1"/>
                </a:solidFill>
              </a:rPr>
              <a:t> [</a:t>
            </a:r>
            <a:r>
              <a:rPr lang="en-US" i="1" dirty="0">
                <a:solidFill>
                  <a:schemeClr val="tx1"/>
                </a:solidFill>
              </a:rPr>
              <a:t>b</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h</a:t>
            </a:r>
            <a:r>
              <a:rPr lang="en-US" dirty="0">
                <a:solidFill>
                  <a:schemeClr val="tx1"/>
                </a:solidFill>
              </a:rPr>
              <a:t>)] + </a:t>
            </a:r>
            <a:r>
              <a:rPr lang="en-US" i="1" dirty="0">
                <a:solidFill>
                  <a:schemeClr val="tx1"/>
                </a:solidFill>
              </a:rPr>
              <a:t>k</a:t>
            </a:r>
            <a:r>
              <a:rPr lang="en-US" dirty="0">
                <a:solidFill>
                  <a:schemeClr val="tx1"/>
                </a:solidFill>
              </a:rPr>
              <a:t> represents a transformation of the graph of that function by translation, reflection, or stretching.</a:t>
            </a:r>
            <a:endParaRPr lang="en-IN" dirty="0">
              <a:solidFill>
                <a:schemeClr val="tx1"/>
              </a:solidFill>
            </a:endParaRPr>
          </a:p>
        </p:txBody>
      </p:sp>
      <p:graphicFrame>
        <p:nvGraphicFramePr>
          <p:cNvPr id="2" name="Table 2">
            <a:extLst>
              <a:ext uri="{FF2B5EF4-FFF2-40B4-BE49-F238E27FC236}">
                <a16:creationId xmlns:a16="http://schemas.microsoft.com/office/drawing/2014/main" id="{4AC2A2CE-CAD1-E342-B645-7A414BACAF15}"/>
              </a:ext>
            </a:extLst>
          </p:cNvPr>
          <p:cNvGraphicFramePr>
            <a:graphicFrameLocks noGrp="1"/>
          </p:cNvGraphicFramePr>
          <p:nvPr>
            <p:extLst>
              <p:ext uri="{D42A27DB-BD31-4B8C-83A1-F6EECF244321}">
                <p14:modId xmlns:p14="http://schemas.microsoft.com/office/powerpoint/2010/main" val="2576302775"/>
              </p:ext>
            </p:extLst>
          </p:nvPr>
        </p:nvGraphicFramePr>
        <p:xfrm>
          <a:off x="452575" y="1684890"/>
          <a:ext cx="8206515" cy="3141110"/>
        </p:xfrm>
        <a:graphic>
          <a:graphicData uri="http://schemas.openxmlformats.org/drawingml/2006/table">
            <a:tbl>
              <a:tblPr firstRow="1" bandRow="1">
                <a:tableStyleId>{5C22544A-7EE6-4342-B048-85BDC9FD1C3A}</a:tableStyleId>
              </a:tblPr>
              <a:tblGrid>
                <a:gridCol w="2602747">
                  <a:extLst>
                    <a:ext uri="{9D8B030D-6E8A-4147-A177-3AD203B41FA5}">
                      <a16:colId xmlns:a16="http://schemas.microsoft.com/office/drawing/2014/main" val="3077242538"/>
                    </a:ext>
                  </a:extLst>
                </a:gridCol>
                <a:gridCol w="3229364">
                  <a:extLst>
                    <a:ext uri="{9D8B030D-6E8A-4147-A177-3AD203B41FA5}">
                      <a16:colId xmlns:a16="http://schemas.microsoft.com/office/drawing/2014/main" val="2690181536"/>
                    </a:ext>
                  </a:extLst>
                </a:gridCol>
                <a:gridCol w="2374404">
                  <a:extLst>
                    <a:ext uri="{9D8B030D-6E8A-4147-A177-3AD203B41FA5}">
                      <a16:colId xmlns:a16="http://schemas.microsoft.com/office/drawing/2014/main" val="4138872822"/>
                    </a:ext>
                  </a:extLst>
                </a:gridCol>
              </a:tblGrid>
              <a:tr h="386854">
                <a:tc>
                  <a:txBody>
                    <a:bodyPr/>
                    <a:lstStyle/>
                    <a:p>
                      <a:r>
                        <a:rPr lang="en-US" sz="1600" b="1" dirty="0">
                          <a:solidFill>
                            <a:srgbClr val="0A7E97"/>
                          </a:solidFill>
                          <a:latin typeface="Arial" panose="020B0604020202020204" pitchFamily="34" charset="0"/>
                          <a:cs typeface="Arial" panose="020B0604020202020204" pitchFamily="34" charset="0"/>
                        </a:rPr>
                        <a:t>WORDS</a:t>
                      </a: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olid"/>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r>
                        <a:rPr lang="en-US" sz="1400" b="1" dirty="0">
                          <a:solidFill>
                            <a:srgbClr val="0A7E97"/>
                          </a:solidFill>
                          <a:latin typeface="Arial" panose="020B0604020202020204" pitchFamily="34" charset="0"/>
                          <a:cs typeface="Arial" panose="020B0604020202020204" pitchFamily="34" charset="0"/>
                        </a:rPr>
                        <a:t>EQUATIONS</a:t>
                      </a:r>
                      <a:endParaRPr lang="en-US" sz="1400" b="1" i="1"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olid"/>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r>
                        <a:rPr lang="en-US" sz="1400" b="1" dirty="0">
                          <a:solidFill>
                            <a:srgbClr val="0A7E97"/>
                          </a:solidFill>
                          <a:latin typeface="Arial" panose="020B0604020202020204" pitchFamily="34" charset="0"/>
                          <a:cs typeface="Arial" panose="020B0604020202020204" pitchFamily="34" charset="0"/>
                        </a:rPr>
                        <a:t>           GRAPHS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olid"/>
                      <a:round/>
                      <a:headEnd type="none" w="med" len="med"/>
                      <a:tailEnd type="none" w="med" len="med"/>
                    </a:lnT>
                    <a:lnB w="12700" cap="flat" cmpd="sng" algn="ctr">
                      <a:solidFill>
                        <a:srgbClr val="137F97"/>
                      </a:solidFill>
                      <a:prstDash val="sysDash"/>
                      <a:round/>
                      <a:headEnd type="none" w="med" len="med"/>
                      <a:tailEnd type="none" w="med" len="med"/>
                    </a:lnB>
                    <a:noFill/>
                  </a:tcPr>
                </a:tc>
                <a:extLst>
                  <a:ext uri="{0D108BD9-81ED-4DB2-BD59-A6C34878D82A}">
                    <a16:rowId xmlns:a16="http://schemas.microsoft.com/office/drawing/2014/main" val="3766605183"/>
                  </a:ext>
                </a:extLst>
              </a:tr>
              <a:tr h="1403438">
                <a:tc>
                  <a:txBody>
                    <a:bodyPr/>
                    <a:lstStyle/>
                    <a:p>
                      <a:r>
                        <a:rPr lang="en-US" sz="1400" b="1" i="0" u="none" strike="noStrike" cap="none" baseline="0" dirty="0">
                          <a:solidFill>
                            <a:schemeClr val="dk1"/>
                          </a:solidFill>
                          <a:latin typeface="+mn-lt"/>
                          <a:ea typeface="+mn-ea"/>
                          <a:cs typeface="+mn-cs"/>
                          <a:sym typeface="Arial"/>
                        </a:rPr>
                        <a:t>Horizontal translation </a:t>
                      </a:r>
                      <a:br>
                        <a:rPr lang="en-US" sz="1400" b="1" i="0" u="none" strike="noStrike" cap="none" baseline="0" dirty="0">
                          <a:solidFill>
                            <a:schemeClr val="dk1"/>
                          </a:solidFill>
                          <a:latin typeface="+mn-lt"/>
                          <a:ea typeface="+mn-ea"/>
                          <a:cs typeface="+mn-cs"/>
                          <a:sym typeface="Arial"/>
                        </a:rPr>
                      </a:br>
                      <a:r>
                        <a:rPr lang="en-US" sz="1400" b="1" i="0" u="none" strike="noStrike" cap="none" baseline="0" dirty="0">
                          <a:solidFill>
                            <a:schemeClr val="dk1"/>
                          </a:solidFill>
                          <a:latin typeface="+mn-lt"/>
                          <a:ea typeface="+mn-ea"/>
                          <a:cs typeface="+mn-cs"/>
                          <a:sym typeface="Arial"/>
                        </a:rPr>
                        <a:t>of </a:t>
                      </a:r>
                      <a:r>
                        <a:rPr lang="en-US" sz="1400" b="1" i="1" u="none" strike="noStrike" cap="none" baseline="0" dirty="0">
                          <a:solidFill>
                            <a:schemeClr val="dk1"/>
                          </a:solidFill>
                          <a:latin typeface="+mn-lt"/>
                          <a:ea typeface="+mn-ea"/>
                          <a:cs typeface="+mn-cs"/>
                          <a:sym typeface="Arial"/>
                        </a:rPr>
                        <a:t>f</a:t>
                      </a:r>
                      <a:r>
                        <a:rPr lang="en-US" sz="1400" b="1" i="0" u="none" strike="noStrike" cap="none" baseline="0" dirty="0">
                          <a:solidFill>
                            <a:schemeClr val="dk1"/>
                          </a:solidFill>
                          <a:latin typeface="+mn-lt"/>
                          <a:ea typeface="+mn-ea"/>
                          <a:cs typeface="+mn-cs"/>
                          <a:sym typeface="Arial"/>
                        </a:rPr>
                        <a:t> right 2 units </a:t>
                      </a:r>
                      <a:br>
                        <a:rPr lang="en-US" sz="1400" b="1" i="0" u="none" strike="noStrike" cap="none" baseline="0" dirty="0">
                          <a:solidFill>
                            <a:schemeClr val="dk1"/>
                          </a:solidFill>
                          <a:latin typeface="+mn-lt"/>
                          <a:ea typeface="+mn-ea"/>
                          <a:cs typeface="+mn-cs"/>
                          <a:sym typeface="Arial"/>
                        </a:rPr>
                      </a:br>
                      <a:r>
                        <a:rPr lang="en-US" sz="1400" b="1" i="0" u="none" strike="noStrike" cap="none" baseline="0" dirty="0">
                          <a:solidFill>
                            <a:schemeClr val="dk1"/>
                          </a:solidFill>
                          <a:latin typeface="+mn-lt"/>
                          <a:ea typeface="+mn-ea"/>
                          <a:cs typeface="+mn-cs"/>
                          <a:sym typeface="Arial"/>
                        </a:rPr>
                        <a:t>(altering </a:t>
                      </a:r>
                      <a:r>
                        <a:rPr lang="en-US" sz="1400" b="1" i="1" u="none" strike="noStrike" cap="none" baseline="0" dirty="0">
                          <a:solidFill>
                            <a:schemeClr val="dk1"/>
                          </a:solidFill>
                          <a:latin typeface="+mn-lt"/>
                          <a:ea typeface="+mn-ea"/>
                          <a:cs typeface="+mn-cs"/>
                          <a:sym typeface="Arial"/>
                        </a:rPr>
                        <a:t>h</a:t>
                      </a:r>
                      <a:r>
                        <a:rPr lang="en-US" sz="1400" b="1" i="0" u="none" strike="noStrike" cap="none" baseline="0" dirty="0">
                          <a:solidFill>
                            <a:schemeClr val="dk1"/>
                          </a:solidFill>
                          <a:latin typeface="+mn-lt"/>
                          <a:ea typeface="+mn-ea"/>
                          <a:cs typeface="+mn-cs"/>
                          <a:sym typeface="Arial"/>
                        </a:rPr>
                        <a:t>)</a:t>
                      </a:r>
                      <a:endParaRPr lang="en-US" sz="1400" b="1" dirty="0">
                        <a:solidFill>
                          <a:srgbClr val="0A7E97"/>
                        </a:solidFill>
                        <a:latin typeface="Arial" panose="020B0604020202020204" pitchFamily="34" charset="0"/>
                        <a:cs typeface="Arial" panose="020B0604020202020204" pitchFamily="34" charset="0"/>
                      </a:endParaRP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pPr>
                        <a:spcAft>
                          <a:spcPts val="600"/>
                        </a:spcAft>
                      </a:pPr>
                      <a:r>
                        <a:rPr lang="de-DE" sz="1400" i="1" dirty="0">
                          <a:solidFill>
                            <a:schemeClr val="tx1"/>
                          </a:solidFill>
                          <a:latin typeface="Arial" panose="020B0604020202020204" pitchFamily="34" charset="0"/>
                          <a:cs typeface="Arial" panose="020B0604020202020204" pitchFamily="34" charset="0"/>
                        </a:rPr>
                        <a:t>g</a:t>
                      </a:r>
                      <a:r>
                        <a:rPr lang="de-DE" sz="1400" i="0" dirty="0">
                          <a:solidFill>
                            <a:schemeClr val="tx1"/>
                          </a:solidFill>
                          <a:latin typeface="Arial" panose="020B0604020202020204" pitchFamily="34" charset="0"/>
                          <a:cs typeface="Arial" panose="020B0604020202020204" pitchFamily="34" charset="0"/>
                        </a:rPr>
                        <a:t>(</a:t>
                      </a:r>
                      <a:r>
                        <a:rPr lang="de-DE" sz="1400" i="1" dirty="0">
                          <a:solidFill>
                            <a:schemeClr val="tx1"/>
                          </a:solidFill>
                          <a:latin typeface="Arial" panose="020B0604020202020204" pitchFamily="34" charset="0"/>
                          <a:cs typeface="Arial" panose="020B0604020202020204" pitchFamily="34" charset="0"/>
                        </a:rPr>
                        <a:t>x</a:t>
                      </a:r>
                      <a:r>
                        <a:rPr lang="de-DE" sz="1400" i="0" dirty="0">
                          <a:solidFill>
                            <a:schemeClr val="tx1"/>
                          </a:solidFill>
                          <a:latin typeface="Arial" panose="020B0604020202020204" pitchFamily="34" charset="0"/>
                          <a:cs typeface="Arial" panose="020B0604020202020204" pitchFamily="34" charset="0"/>
                        </a:rPr>
                        <a:t>) = </a:t>
                      </a:r>
                      <a:r>
                        <a:rPr lang="de-DE" sz="1400" i="1" dirty="0">
                          <a:solidFill>
                            <a:schemeClr val="tx1"/>
                          </a:solidFill>
                          <a:latin typeface="Arial" panose="020B0604020202020204" pitchFamily="34" charset="0"/>
                          <a:cs typeface="Arial" panose="020B0604020202020204" pitchFamily="34" charset="0"/>
                        </a:rPr>
                        <a:t>f</a:t>
                      </a:r>
                      <a:r>
                        <a:rPr lang="de-DE" sz="1400" i="0" dirty="0">
                          <a:solidFill>
                            <a:schemeClr val="tx1"/>
                          </a:solidFill>
                          <a:latin typeface="Arial" panose="020B0604020202020204" pitchFamily="34" charset="0"/>
                          <a:cs typeface="Arial" panose="020B0604020202020204" pitchFamily="34" charset="0"/>
                        </a:rPr>
                        <a:t>(</a:t>
                      </a:r>
                      <a:r>
                        <a:rPr lang="de-DE" sz="1400" i="1" dirty="0">
                          <a:solidFill>
                            <a:schemeClr val="tx1"/>
                          </a:solidFill>
                          <a:latin typeface="Arial" panose="020B0604020202020204" pitchFamily="34" charset="0"/>
                          <a:cs typeface="Arial" panose="020B0604020202020204" pitchFamily="34" charset="0"/>
                        </a:rPr>
                        <a:t>x</a:t>
                      </a:r>
                      <a:r>
                        <a:rPr lang="de-DE" sz="1400" i="0" dirty="0">
                          <a:solidFill>
                            <a:schemeClr val="tx1"/>
                          </a:solidFill>
                          <a:latin typeface="Arial" panose="020B0604020202020204" pitchFamily="34" charset="0"/>
                          <a:cs typeface="Arial" panose="020B0604020202020204" pitchFamily="34" charset="0"/>
                        </a:rPr>
                        <a:t> − 2)</a:t>
                      </a:r>
                    </a:p>
                    <a:p>
                      <a:pPr>
                        <a:spcAft>
                          <a:spcPts val="600"/>
                        </a:spcAft>
                      </a:pPr>
                      <a:r>
                        <a:rPr lang="de-DE" sz="1400" i="1" dirty="0">
                          <a:solidFill>
                            <a:srgbClr val="D92B30"/>
                          </a:solidFill>
                          <a:latin typeface="Arial" panose="020B0604020202020204" pitchFamily="34" charset="0"/>
                          <a:cs typeface="Arial" panose="020B0604020202020204" pitchFamily="34" charset="0"/>
                        </a:rPr>
                        <a:t>f(x) = x</a:t>
                      </a:r>
                      <a:r>
                        <a:rPr lang="de-DE" sz="1400" i="0" baseline="30000" dirty="0">
                          <a:solidFill>
                            <a:srgbClr val="D92B30"/>
                          </a:solidFill>
                          <a:latin typeface="Arial" panose="020B0604020202020204" pitchFamily="34" charset="0"/>
                          <a:cs typeface="Arial" panose="020B0604020202020204" pitchFamily="34" charset="0"/>
                        </a:rPr>
                        <a:t>2</a:t>
                      </a:r>
                      <a:r>
                        <a:rPr lang="de-DE" sz="1400" i="1" dirty="0">
                          <a:solidFill>
                            <a:srgbClr val="D92B30"/>
                          </a:solidFill>
                          <a:latin typeface="Arial" panose="020B0604020202020204" pitchFamily="34" charset="0"/>
                          <a:cs typeface="Arial" panose="020B0604020202020204" pitchFamily="34" charset="0"/>
                        </a:rPr>
                        <a:t> + x</a:t>
                      </a:r>
                    </a:p>
                    <a:p>
                      <a:pPr>
                        <a:spcAft>
                          <a:spcPts val="600"/>
                        </a:spcAft>
                      </a:pPr>
                      <a:r>
                        <a:rPr lang="de-DE" sz="1400" i="1" dirty="0">
                          <a:solidFill>
                            <a:srgbClr val="256BB9"/>
                          </a:solidFill>
                          <a:latin typeface="Arial" panose="020B0604020202020204" pitchFamily="34" charset="0"/>
                          <a:cs typeface="Arial" panose="020B0604020202020204" pitchFamily="34" charset="0"/>
                        </a:rPr>
                        <a:t>g</a:t>
                      </a:r>
                      <a:r>
                        <a:rPr lang="de-DE" sz="1400" i="0" u="none" dirty="0">
                          <a:solidFill>
                            <a:srgbClr val="256BB9"/>
                          </a:solidFill>
                          <a:latin typeface="Arial" panose="020B0604020202020204" pitchFamily="34" charset="0"/>
                          <a:cs typeface="Arial" panose="020B0604020202020204" pitchFamily="34" charset="0"/>
                        </a:rPr>
                        <a:t>(</a:t>
                      </a:r>
                      <a:r>
                        <a:rPr lang="de-DE" sz="1400" i="1" dirty="0">
                          <a:solidFill>
                            <a:srgbClr val="256BB9"/>
                          </a:solidFill>
                          <a:latin typeface="Arial" panose="020B0604020202020204" pitchFamily="34" charset="0"/>
                          <a:cs typeface="Arial" panose="020B0604020202020204" pitchFamily="34" charset="0"/>
                        </a:rPr>
                        <a:t>x</a:t>
                      </a:r>
                      <a:r>
                        <a:rPr lang="de-DE" sz="1400" i="0" u="none" dirty="0">
                          <a:solidFill>
                            <a:srgbClr val="256BB9"/>
                          </a:solidFill>
                          <a:latin typeface="Arial" panose="020B0604020202020204" pitchFamily="34" charset="0"/>
                          <a:cs typeface="Arial" panose="020B0604020202020204" pitchFamily="34" charset="0"/>
                        </a:rPr>
                        <a:t>)</a:t>
                      </a:r>
                      <a:r>
                        <a:rPr lang="de-DE" sz="1400" i="1" dirty="0">
                          <a:solidFill>
                            <a:srgbClr val="256BB9"/>
                          </a:solidFill>
                          <a:latin typeface="Arial" panose="020B0604020202020204" pitchFamily="34" charset="0"/>
                          <a:cs typeface="Arial" panose="020B0604020202020204" pitchFamily="34" charset="0"/>
                        </a:rPr>
                        <a:t> = </a:t>
                      </a:r>
                      <a:r>
                        <a:rPr lang="de-DE" sz="1400" i="0" dirty="0">
                          <a:solidFill>
                            <a:srgbClr val="256BB9"/>
                          </a:solidFill>
                          <a:latin typeface="Arial" panose="020B0604020202020204" pitchFamily="34" charset="0"/>
                          <a:cs typeface="Arial" panose="020B0604020202020204" pitchFamily="34" charset="0"/>
                        </a:rPr>
                        <a:t>(</a:t>
                      </a:r>
                      <a:r>
                        <a:rPr lang="de-DE" sz="1400" i="1" dirty="0">
                          <a:solidFill>
                            <a:srgbClr val="256BB9"/>
                          </a:solidFill>
                          <a:latin typeface="Arial" panose="020B0604020202020204" pitchFamily="34" charset="0"/>
                          <a:cs typeface="Arial" panose="020B0604020202020204" pitchFamily="34" charset="0"/>
                        </a:rPr>
                        <a:t>x − </a:t>
                      </a:r>
                      <a:r>
                        <a:rPr lang="de-DE" sz="1400" i="0" dirty="0">
                          <a:solidFill>
                            <a:srgbClr val="256BB9"/>
                          </a:solidFill>
                          <a:latin typeface="Arial" panose="020B0604020202020204" pitchFamily="34" charset="0"/>
                          <a:cs typeface="Arial" panose="020B0604020202020204" pitchFamily="34" charset="0"/>
                        </a:rPr>
                        <a:t>2)</a:t>
                      </a:r>
                      <a:r>
                        <a:rPr lang="de-DE" sz="1400" i="0" baseline="30000" dirty="0">
                          <a:solidFill>
                            <a:srgbClr val="256BB9"/>
                          </a:solidFill>
                          <a:latin typeface="Arial" panose="020B0604020202020204" pitchFamily="34" charset="0"/>
                          <a:cs typeface="Arial" panose="020B0604020202020204" pitchFamily="34" charset="0"/>
                        </a:rPr>
                        <a:t>2</a:t>
                      </a:r>
                      <a:r>
                        <a:rPr lang="de-DE" sz="1400" i="0" dirty="0">
                          <a:solidFill>
                            <a:srgbClr val="256BB9"/>
                          </a:solidFill>
                          <a:latin typeface="Arial" panose="020B0604020202020204" pitchFamily="34" charset="0"/>
                          <a:cs typeface="Arial" panose="020B0604020202020204" pitchFamily="34" charset="0"/>
                        </a:rPr>
                        <a:t> + (</a:t>
                      </a:r>
                      <a:r>
                        <a:rPr lang="de-DE" sz="1400" i="1" dirty="0">
                          <a:solidFill>
                            <a:srgbClr val="256BB9"/>
                          </a:solidFill>
                          <a:latin typeface="Arial" panose="020B0604020202020204" pitchFamily="34" charset="0"/>
                          <a:cs typeface="Arial" panose="020B0604020202020204" pitchFamily="34" charset="0"/>
                        </a:rPr>
                        <a:t>x</a:t>
                      </a:r>
                      <a:r>
                        <a:rPr lang="de-DE" sz="1400" i="0" dirty="0">
                          <a:solidFill>
                            <a:srgbClr val="256BB9"/>
                          </a:solidFill>
                          <a:latin typeface="Arial" panose="020B0604020202020204" pitchFamily="34" charset="0"/>
                          <a:cs typeface="Arial" panose="020B0604020202020204" pitchFamily="34" charset="0"/>
                        </a:rPr>
                        <a:t> − 2)</a:t>
                      </a:r>
                      <a:r>
                        <a:rPr lang="de-DE" sz="1400" i="1" dirty="0">
                          <a:solidFill>
                            <a:srgbClr val="256BB9"/>
                          </a:solidFill>
                          <a:latin typeface="Arial" panose="020B0604020202020204" pitchFamily="34" charset="0"/>
                          <a:cs typeface="Arial" panose="020B0604020202020204" pitchFamily="34" charset="0"/>
                        </a:rPr>
                        <a:t> = x</a:t>
                      </a:r>
                      <a:r>
                        <a:rPr lang="de-DE" sz="1400" i="0" baseline="30000" dirty="0">
                          <a:solidFill>
                            <a:srgbClr val="256BB9"/>
                          </a:solidFill>
                          <a:latin typeface="Arial" panose="020B0604020202020204" pitchFamily="34" charset="0"/>
                          <a:cs typeface="Arial" panose="020B0604020202020204" pitchFamily="34" charset="0"/>
                        </a:rPr>
                        <a:t>2</a:t>
                      </a:r>
                      <a:r>
                        <a:rPr lang="de-DE" sz="1400" i="0" dirty="0">
                          <a:solidFill>
                            <a:srgbClr val="256BB9"/>
                          </a:solidFill>
                          <a:latin typeface="Arial" panose="020B0604020202020204" pitchFamily="34" charset="0"/>
                          <a:cs typeface="Arial" panose="020B0604020202020204" pitchFamily="34" charset="0"/>
                        </a:rPr>
                        <a:t> − 3</a:t>
                      </a:r>
                      <a:r>
                        <a:rPr lang="de-DE" sz="1400" i="1" dirty="0">
                          <a:solidFill>
                            <a:srgbClr val="256BB9"/>
                          </a:solidFill>
                          <a:latin typeface="Arial" panose="020B0604020202020204" pitchFamily="34" charset="0"/>
                          <a:cs typeface="Arial" panose="020B0604020202020204" pitchFamily="34" charset="0"/>
                        </a:rPr>
                        <a:t>x</a:t>
                      </a:r>
                      <a:r>
                        <a:rPr lang="de-DE" sz="1400" i="0" dirty="0">
                          <a:solidFill>
                            <a:srgbClr val="256BB9"/>
                          </a:solidFill>
                          <a:latin typeface="Arial" panose="020B0604020202020204" pitchFamily="34" charset="0"/>
                          <a:cs typeface="Arial" panose="020B0604020202020204" pitchFamily="34" charset="0"/>
                        </a:rPr>
                        <a:t> + 2</a:t>
                      </a: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endParaRPr lang="en-US" sz="20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extLst>
                  <a:ext uri="{0D108BD9-81ED-4DB2-BD59-A6C34878D82A}">
                    <a16:rowId xmlns:a16="http://schemas.microsoft.com/office/drawing/2014/main" val="355139273"/>
                  </a:ext>
                </a:extLst>
              </a:tr>
              <a:tr h="135081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chemeClr val="tx1"/>
                          </a:solidFill>
                          <a:latin typeface="Arial" panose="020B0604020202020204" pitchFamily="34" charset="0"/>
                          <a:cs typeface="Arial" panose="020B0604020202020204" pitchFamily="34" charset="0"/>
                        </a:rPr>
                        <a:t>Vertical translation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of </a:t>
                      </a:r>
                      <a:r>
                        <a:rPr lang="en-US" sz="1400" b="1" i="1" dirty="0">
                          <a:solidFill>
                            <a:schemeClr val="tx1"/>
                          </a:solidFill>
                          <a:latin typeface="Arial" panose="020B0604020202020204" pitchFamily="34" charset="0"/>
                          <a:cs typeface="Arial" panose="020B0604020202020204" pitchFamily="34" charset="0"/>
                        </a:rPr>
                        <a:t>f</a:t>
                      </a:r>
                      <a:r>
                        <a:rPr lang="en-US" sz="1400" b="1" dirty="0">
                          <a:solidFill>
                            <a:schemeClr val="tx1"/>
                          </a:solidFill>
                          <a:latin typeface="Arial" panose="020B0604020202020204" pitchFamily="34" charset="0"/>
                          <a:cs typeface="Arial" panose="020B0604020202020204" pitchFamily="34" charset="0"/>
                        </a:rPr>
                        <a:t> up 3 units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(altering </a:t>
                      </a:r>
                      <a:r>
                        <a:rPr lang="en-US" sz="1400" b="1" i="1" dirty="0">
                          <a:solidFill>
                            <a:schemeClr val="tx1"/>
                          </a:solidFill>
                          <a:latin typeface="Arial" panose="020B0604020202020204" pitchFamily="34" charset="0"/>
                          <a:cs typeface="Arial" panose="020B0604020202020204" pitchFamily="34" charset="0"/>
                        </a:rPr>
                        <a:t>k</a:t>
                      </a:r>
                      <a:r>
                        <a:rPr lang="en-US" sz="1400" b="1" dirty="0">
                          <a:solidFill>
                            <a:schemeClr val="tx1"/>
                          </a:solidFill>
                          <a:latin typeface="Arial" panose="020B0604020202020204" pitchFamily="34" charset="0"/>
                          <a:cs typeface="Arial" panose="020B0604020202020204" pitchFamily="34" charset="0"/>
                        </a:rPr>
                        <a:t>)</a:t>
                      </a: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pPr>
                        <a:spcAft>
                          <a:spcPts val="600"/>
                        </a:spcAft>
                      </a:pPr>
                      <a:r>
                        <a:rPr lang="pt-BR" sz="1400" i="1" dirty="0">
                          <a:solidFill>
                            <a:schemeClr val="tx1"/>
                          </a:solidFill>
                          <a:latin typeface="Arial" panose="020B0604020202020204" pitchFamily="34" charset="0"/>
                          <a:cs typeface="Arial" panose="020B0604020202020204" pitchFamily="34" charset="0"/>
                        </a:rPr>
                        <a:t>h</a:t>
                      </a:r>
                      <a:r>
                        <a:rPr lang="pt-BR" sz="1400" b="0" i="0" dirty="0">
                          <a:solidFill>
                            <a:schemeClr val="tx1"/>
                          </a:solidFill>
                          <a:latin typeface="Arial" panose="020B0604020202020204" pitchFamily="34" charset="0"/>
                          <a:cs typeface="Arial" panose="020B0604020202020204" pitchFamily="34" charset="0"/>
                        </a:rPr>
                        <a:t>(</a:t>
                      </a:r>
                      <a:r>
                        <a:rPr lang="pt-BR" sz="1400" i="1" dirty="0">
                          <a:solidFill>
                            <a:schemeClr val="tx1"/>
                          </a:solidFill>
                          <a:latin typeface="Arial" panose="020B0604020202020204" pitchFamily="34" charset="0"/>
                          <a:cs typeface="Arial" panose="020B0604020202020204" pitchFamily="34" charset="0"/>
                        </a:rPr>
                        <a:t>x</a:t>
                      </a:r>
                      <a:r>
                        <a:rPr lang="pt-BR" sz="1400" i="0" dirty="0">
                          <a:solidFill>
                            <a:schemeClr val="tx1"/>
                          </a:solidFill>
                          <a:latin typeface="Arial" panose="020B0604020202020204" pitchFamily="34" charset="0"/>
                          <a:cs typeface="Arial" panose="020B0604020202020204" pitchFamily="34" charset="0"/>
                        </a:rPr>
                        <a:t>) = </a:t>
                      </a:r>
                      <a:r>
                        <a:rPr lang="pt-BR" sz="1400" i="1" dirty="0">
                          <a:solidFill>
                            <a:schemeClr val="tx1"/>
                          </a:solidFill>
                          <a:latin typeface="Arial" panose="020B0604020202020204" pitchFamily="34" charset="0"/>
                          <a:cs typeface="Arial" panose="020B0604020202020204" pitchFamily="34" charset="0"/>
                        </a:rPr>
                        <a:t>f</a:t>
                      </a:r>
                      <a:r>
                        <a:rPr lang="pt-BR" sz="1400" i="0" dirty="0">
                          <a:solidFill>
                            <a:schemeClr val="tx1"/>
                          </a:solidFill>
                          <a:latin typeface="Arial" panose="020B0604020202020204" pitchFamily="34" charset="0"/>
                          <a:cs typeface="Arial" panose="020B0604020202020204" pitchFamily="34" charset="0"/>
                        </a:rPr>
                        <a:t>(</a:t>
                      </a:r>
                      <a:r>
                        <a:rPr lang="pt-BR" sz="1400" i="1" dirty="0">
                          <a:solidFill>
                            <a:schemeClr val="tx1"/>
                          </a:solidFill>
                          <a:latin typeface="Arial" panose="020B0604020202020204" pitchFamily="34" charset="0"/>
                          <a:cs typeface="Arial" panose="020B0604020202020204" pitchFamily="34" charset="0"/>
                        </a:rPr>
                        <a:t>x</a:t>
                      </a:r>
                      <a:r>
                        <a:rPr lang="pt-BR" sz="1400" i="0" dirty="0">
                          <a:solidFill>
                            <a:schemeClr val="tx1"/>
                          </a:solidFill>
                          <a:latin typeface="Arial" panose="020B0604020202020204" pitchFamily="34" charset="0"/>
                          <a:cs typeface="Arial" panose="020B0604020202020204" pitchFamily="34" charset="0"/>
                        </a:rPr>
                        <a:t>) + 3</a:t>
                      </a:r>
                    </a:p>
                    <a:p>
                      <a:pPr>
                        <a:spcAft>
                          <a:spcPts val="600"/>
                        </a:spcAft>
                      </a:pPr>
                      <a:r>
                        <a:rPr lang="en-US" sz="1400" b="0" i="1" dirty="0">
                          <a:solidFill>
                            <a:srgbClr val="D92B30"/>
                          </a:solidFill>
                          <a:latin typeface="Arial" panose="020B0604020202020204" pitchFamily="34" charset="0"/>
                          <a:cs typeface="Arial" panose="020B0604020202020204" pitchFamily="34" charset="0"/>
                        </a:rPr>
                        <a:t>f</a:t>
                      </a:r>
                      <a:r>
                        <a:rPr lang="en-US" sz="1400" b="0" i="0" dirty="0">
                          <a:solidFill>
                            <a:srgbClr val="D92B30"/>
                          </a:solidFill>
                          <a:latin typeface="Arial" panose="020B0604020202020204" pitchFamily="34" charset="0"/>
                          <a:cs typeface="Arial" panose="020B0604020202020204" pitchFamily="34" charset="0"/>
                        </a:rPr>
                        <a:t>(</a:t>
                      </a:r>
                      <a:r>
                        <a:rPr lang="en-US" sz="1400" b="0" i="1" dirty="0">
                          <a:solidFill>
                            <a:srgbClr val="D92B30"/>
                          </a:solidFill>
                          <a:latin typeface="Arial" panose="020B0604020202020204" pitchFamily="34" charset="0"/>
                          <a:cs typeface="Arial" panose="020B0604020202020204" pitchFamily="34" charset="0"/>
                        </a:rPr>
                        <a:t>x</a:t>
                      </a:r>
                      <a:r>
                        <a:rPr lang="en-US" sz="1400" b="0" i="0" dirty="0">
                          <a:solidFill>
                            <a:srgbClr val="D92B30"/>
                          </a:solidFill>
                          <a:latin typeface="Arial" panose="020B0604020202020204" pitchFamily="34" charset="0"/>
                          <a:cs typeface="Arial" panose="020B0604020202020204" pitchFamily="34" charset="0"/>
                        </a:rPr>
                        <a:t>)</a:t>
                      </a:r>
                      <a:r>
                        <a:rPr lang="en-US" sz="1400" b="0" dirty="0">
                          <a:solidFill>
                            <a:srgbClr val="D92B30"/>
                          </a:solidFill>
                          <a:latin typeface="Arial" panose="020B0604020202020204" pitchFamily="34" charset="0"/>
                          <a:cs typeface="Arial" panose="020B0604020202020204" pitchFamily="34" charset="0"/>
                        </a:rPr>
                        <a:t> = </a:t>
                      </a:r>
                      <a:r>
                        <a:rPr lang="en-US" sz="1400" b="0" i="1" dirty="0">
                          <a:solidFill>
                            <a:srgbClr val="D92B30"/>
                          </a:solidFill>
                          <a:latin typeface="Arial" panose="020B0604020202020204" pitchFamily="34" charset="0"/>
                          <a:cs typeface="Arial" panose="020B0604020202020204" pitchFamily="34" charset="0"/>
                        </a:rPr>
                        <a:t>x</a:t>
                      </a:r>
                      <a:r>
                        <a:rPr lang="en-US" sz="1400" b="0" baseline="30000" dirty="0">
                          <a:solidFill>
                            <a:srgbClr val="D92B30"/>
                          </a:solidFill>
                          <a:latin typeface="Arial" panose="020B0604020202020204" pitchFamily="34" charset="0"/>
                          <a:cs typeface="Arial" panose="020B0604020202020204" pitchFamily="34" charset="0"/>
                        </a:rPr>
                        <a:t>2</a:t>
                      </a:r>
                      <a:r>
                        <a:rPr lang="en-US" sz="1400" b="0" dirty="0">
                          <a:solidFill>
                            <a:srgbClr val="D92B30"/>
                          </a:solidFill>
                          <a:latin typeface="Arial" panose="020B0604020202020204" pitchFamily="34" charset="0"/>
                          <a:cs typeface="Arial" panose="020B0604020202020204" pitchFamily="34" charset="0"/>
                        </a:rPr>
                        <a:t> + </a:t>
                      </a:r>
                      <a:r>
                        <a:rPr lang="en-US" sz="1400" b="0" i="1" dirty="0">
                          <a:solidFill>
                            <a:srgbClr val="D92B30"/>
                          </a:solidFill>
                          <a:latin typeface="Arial" panose="020B0604020202020204" pitchFamily="34" charset="0"/>
                          <a:cs typeface="Arial" panose="020B0604020202020204" pitchFamily="34" charset="0"/>
                        </a:rPr>
                        <a:t>x</a:t>
                      </a:r>
                    </a:p>
                    <a:p>
                      <a:pPr>
                        <a:spcAft>
                          <a:spcPts val="600"/>
                        </a:spcAft>
                      </a:pPr>
                      <a:r>
                        <a:rPr lang="pt-BR" sz="1400" b="0" i="1" dirty="0">
                          <a:solidFill>
                            <a:srgbClr val="168446"/>
                          </a:solidFill>
                          <a:latin typeface="Arial" panose="020B0604020202020204" pitchFamily="34" charset="0"/>
                          <a:cs typeface="Arial" panose="020B0604020202020204" pitchFamily="34" charset="0"/>
                        </a:rPr>
                        <a:t>h</a:t>
                      </a:r>
                      <a:r>
                        <a:rPr lang="pt-BR" sz="1400" b="0" i="0" dirty="0">
                          <a:solidFill>
                            <a:srgbClr val="168446"/>
                          </a:solidFill>
                          <a:latin typeface="Arial" panose="020B0604020202020204" pitchFamily="34" charset="0"/>
                          <a:cs typeface="Arial" panose="020B0604020202020204" pitchFamily="34" charset="0"/>
                        </a:rPr>
                        <a:t>(</a:t>
                      </a:r>
                      <a:r>
                        <a:rPr lang="pt-BR" sz="1400" b="0" i="1" dirty="0">
                          <a:solidFill>
                            <a:srgbClr val="168446"/>
                          </a:solidFill>
                          <a:latin typeface="Arial" panose="020B0604020202020204" pitchFamily="34" charset="0"/>
                          <a:cs typeface="Arial" panose="020B0604020202020204" pitchFamily="34" charset="0"/>
                        </a:rPr>
                        <a:t>x</a:t>
                      </a:r>
                      <a:r>
                        <a:rPr lang="pt-BR" sz="1400" b="0" i="0">
                          <a:solidFill>
                            <a:srgbClr val="168446"/>
                          </a:solidFill>
                          <a:latin typeface="Arial" panose="020B0604020202020204" pitchFamily="34" charset="0"/>
                          <a:cs typeface="Arial" panose="020B0604020202020204" pitchFamily="34" charset="0"/>
                        </a:rPr>
                        <a:t>) =</a:t>
                      </a:r>
                      <a:r>
                        <a:rPr lang="pt-BR" sz="1400" b="0" i="1">
                          <a:solidFill>
                            <a:srgbClr val="168446"/>
                          </a:solidFill>
                          <a:latin typeface="Arial" panose="020B0604020202020204" pitchFamily="34" charset="0"/>
                          <a:cs typeface="Arial" panose="020B0604020202020204" pitchFamily="34" charset="0"/>
                        </a:rPr>
                        <a:t> </a:t>
                      </a:r>
                      <a:r>
                        <a:rPr lang="pt-BR" sz="1400" b="0" i="1" dirty="0">
                          <a:solidFill>
                            <a:srgbClr val="168446"/>
                          </a:solidFill>
                          <a:latin typeface="Arial" panose="020B0604020202020204" pitchFamily="34" charset="0"/>
                          <a:cs typeface="Arial" panose="020B0604020202020204" pitchFamily="34" charset="0"/>
                        </a:rPr>
                        <a:t>x</a:t>
                      </a:r>
                      <a:r>
                        <a:rPr lang="pt-BR" sz="1400" b="0" i="0" baseline="30000" dirty="0">
                          <a:solidFill>
                            <a:srgbClr val="168446"/>
                          </a:solidFill>
                          <a:latin typeface="Arial" panose="020B0604020202020204" pitchFamily="34" charset="0"/>
                          <a:cs typeface="Arial" panose="020B0604020202020204" pitchFamily="34" charset="0"/>
                        </a:rPr>
                        <a:t>2</a:t>
                      </a:r>
                      <a:r>
                        <a:rPr lang="pt-BR" sz="1400" b="0" i="0" dirty="0">
                          <a:solidFill>
                            <a:srgbClr val="168446"/>
                          </a:solidFill>
                          <a:latin typeface="Arial" panose="020B0604020202020204" pitchFamily="34" charset="0"/>
                          <a:cs typeface="Arial" panose="020B0604020202020204" pitchFamily="34" charset="0"/>
                        </a:rPr>
                        <a:t> + </a:t>
                      </a:r>
                      <a:r>
                        <a:rPr lang="pt-BR" sz="1400" b="0" i="1" dirty="0">
                          <a:solidFill>
                            <a:srgbClr val="168446"/>
                          </a:solidFill>
                          <a:latin typeface="Arial" panose="020B0604020202020204" pitchFamily="34" charset="0"/>
                          <a:cs typeface="Arial" panose="020B0604020202020204" pitchFamily="34" charset="0"/>
                        </a:rPr>
                        <a:t>x</a:t>
                      </a:r>
                      <a:r>
                        <a:rPr lang="pt-BR" sz="1400" b="0" i="0" dirty="0">
                          <a:solidFill>
                            <a:srgbClr val="168446"/>
                          </a:solidFill>
                          <a:latin typeface="Arial" panose="020B0604020202020204" pitchFamily="34" charset="0"/>
                          <a:cs typeface="Arial" panose="020B0604020202020204" pitchFamily="34" charset="0"/>
                        </a:rPr>
                        <a:t> + 3</a:t>
                      </a:r>
                      <a:endParaRPr lang="en-US" sz="1400" b="0" i="0" dirty="0">
                        <a:solidFill>
                          <a:srgbClr val="168446"/>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extLst>
                  <a:ext uri="{0D108BD9-81ED-4DB2-BD59-A6C34878D82A}">
                    <a16:rowId xmlns:a16="http://schemas.microsoft.com/office/drawing/2014/main" val="3361553739"/>
                  </a:ext>
                </a:extLst>
              </a:tr>
            </a:tbl>
          </a:graphicData>
        </a:graphic>
      </p:graphicFrame>
      <p:pic>
        <p:nvPicPr>
          <p:cNvPr id="6" name="Picture 5">
            <a:extLst>
              <a:ext uri="{FF2B5EF4-FFF2-40B4-BE49-F238E27FC236}">
                <a16:creationId xmlns:a16="http://schemas.microsoft.com/office/drawing/2014/main" id="{42FA969F-827D-97D1-E067-A1D0FC03CC1E}"/>
              </a:ext>
            </a:extLst>
          </p:cNvPr>
          <p:cNvPicPr>
            <a:picLocks noChangeAspect="1"/>
          </p:cNvPicPr>
          <p:nvPr/>
        </p:nvPicPr>
        <p:blipFill>
          <a:blip r:embed="rId3"/>
          <a:stretch>
            <a:fillRect/>
          </a:stretch>
        </p:blipFill>
        <p:spPr>
          <a:xfrm>
            <a:off x="6504879" y="2396818"/>
            <a:ext cx="2154211" cy="2036562"/>
          </a:xfrm>
          <a:prstGeom prst="rect">
            <a:avLst/>
          </a:prstGeom>
        </p:spPr>
      </p:pic>
    </p:spTree>
    <p:extLst>
      <p:ext uri="{BB962C8B-B14F-4D97-AF65-F5344CB8AC3E}">
        <p14:creationId xmlns:p14="http://schemas.microsoft.com/office/powerpoint/2010/main" val="23466854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8" name="TextBox 7">
            <a:extLst>
              <a:ext uri="{FF2B5EF4-FFF2-40B4-BE49-F238E27FC236}">
                <a16:creationId xmlns:a16="http://schemas.microsoft.com/office/drawing/2014/main" id="{E2AF600D-6F8E-AF4F-9F8A-7A6BE3BFBF7F}"/>
              </a:ext>
            </a:extLst>
          </p:cNvPr>
          <p:cNvSpPr txBox="1"/>
          <p:nvPr/>
        </p:nvSpPr>
        <p:spPr>
          <a:xfrm>
            <a:off x="355758" y="351588"/>
            <a:ext cx="8534242" cy="1231106"/>
          </a:xfrm>
          <a:prstGeom prst="rect">
            <a:avLst/>
          </a:prstGeom>
          <a:noFill/>
        </p:spPr>
        <p:txBody>
          <a:bodyPr wrap="square" rIns="36000" rtlCol="0">
            <a:spAutoFit/>
          </a:bodyPr>
          <a:lstStyle/>
          <a:p>
            <a:pPr>
              <a:spcAft>
                <a:spcPts val="600"/>
              </a:spcAft>
            </a:pPr>
            <a:r>
              <a:rPr lang="en-IN" sz="1800" b="1" dirty="0">
                <a:solidFill>
                  <a:srgbClr val="137F97"/>
                </a:solidFill>
              </a:rPr>
              <a:t>CONCEPT SUMMARY</a:t>
            </a:r>
          </a:p>
          <a:p>
            <a:pPr>
              <a:spcAft>
                <a:spcPts val="600"/>
              </a:spcAft>
            </a:pPr>
            <a:r>
              <a:rPr lang="en-US" sz="1800" b="1" dirty="0">
                <a:solidFill>
                  <a:srgbClr val="58585A"/>
                </a:solidFill>
              </a:rPr>
              <a:t>Transformations of Functions</a:t>
            </a:r>
          </a:p>
          <a:p>
            <a:r>
              <a:rPr lang="en-US" dirty="0">
                <a:solidFill>
                  <a:schemeClr val="tx1"/>
                </a:solidFill>
              </a:rPr>
              <a:t>For a function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the graph of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a</a:t>
            </a:r>
            <a:r>
              <a:rPr lang="en-US" dirty="0">
                <a:solidFill>
                  <a:schemeClr val="tx1"/>
                </a:solidFill>
              </a:rPr>
              <a:t> </a:t>
            </a:r>
            <a:r>
              <a:rPr lang="en-IN" i="1" dirty="0">
                <a:solidFill>
                  <a:schemeClr val="tx1"/>
                </a:solidFill>
              </a:rPr>
              <a:t>•</a:t>
            </a:r>
            <a:r>
              <a:rPr lang="en-US" dirty="0">
                <a:solidFill>
                  <a:schemeClr val="tx1"/>
                </a:solidFill>
              </a:rPr>
              <a:t> </a:t>
            </a:r>
            <a:r>
              <a:rPr lang="en-US" i="1" dirty="0">
                <a:solidFill>
                  <a:schemeClr val="tx1"/>
                </a:solidFill>
              </a:rPr>
              <a:t>f</a:t>
            </a:r>
            <a:r>
              <a:rPr lang="en-US" dirty="0">
                <a:solidFill>
                  <a:schemeClr val="tx1"/>
                </a:solidFill>
              </a:rPr>
              <a:t> [</a:t>
            </a:r>
            <a:r>
              <a:rPr lang="en-US" i="1" dirty="0">
                <a:solidFill>
                  <a:schemeClr val="tx1"/>
                </a:solidFill>
              </a:rPr>
              <a:t>b</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h</a:t>
            </a:r>
            <a:r>
              <a:rPr lang="en-US" dirty="0">
                <a:solidFill>
                  <a:schemeClr val="tx1"/>
                </a:solidFill>
              </a:rPr>
              <a:t>)] + </a:t>
            </a:r>
            <a:r>
              <a:rPr lang="en-US" i="1" dirty="0">
                <a:solidFill>
                  <a:schemeClr val="tx1"/>
                </a:solidFill>
              </a:rPr>
              <a:t>k</a:t>
            </a:r>
            <a:r>
              <a:rPr lang="en-US" dirty="0">
                <a:solidFill>
                  <a:schemeClr val="tx1"/>
                </a:solidFill>
              </a:rPr>
              <a:t> represents a transformation of the graph of that function by translation, reflection, or stretching.</a:t>
            </a:r>
            <a:endParaRPr lang="en-IN" dirty="0">
              <a:solidFill>
                <a:schemeClr val="tx1"/>
              </a:solidFill>
            </a:endParaRPr>
          </a:p>
        </p:txBody>
      </p:sp>
      <p:graphicFrame>
        <p:nvGraphicFramePr>
          <p:cNvPr id="2" name="Table 2">
            <a:extLst>
              <a:ext uri="{FF2B5EF4-FFF2-40B4-BE49-F238E27FC236}">
                <a16:creationId xmlns:a16="http://schemas.microsoft.com/office/drawing/2014/main" id="{4AC2A2CE-CAD1-E342-B645-7A414BACAF15}"/>
              </a:ext>
            </a:extLst>
          </p:cNvPr>
          <p:cNvGraphicFramePr>
            <a:graphicFrameLocks noGrp="1"/>
          </p:cNvGraphicFramePr>
          <p:nvPr>
            <p:extLst>
              <p:ext uri="{D42A27DB-BD31-4B8C-83A1-F6EECF244321}">
                <p14:modId xmlns:p14="http://schemas.microsoft.com/office/powerpoint/2010/main" val="1400063462"/>
              </p:ext>
            </p:extLst>
          </p:nvPr>
        </p:nvGraphicFramePr>
        <p:xfrm>
          <a:off x="452575" y="1684890"/>
          <a:ext cx="8206515" cy="3193730"/>
        </p:xfrm>
        <a:graphic>
          <a:graphicData uri="http://schemas.openxmlformats.org/drawingml/2006/table">
            <a:tbl>
              <a:tblPr firstRow="1" bandRow="1">
                <a:tableStyleId>{5C22544A-7EE6-4342-B048-85BDC9FD1C3A}</a:tableStyleId>
              </a:tblPr>
              <a:tblGrid>
                <a:gridCol w="2602747">
                  <a:extLst>
                    <a:ext uri="{9D8B030D-6E8A-4147-A177-3AD203B41FA5}">
                      <a16:colId xmlns:a16="http://schemas.microsoft.com/office/drawing/2014/main" val="3077242538"/>
                    </a:ext>
                  </a:extLst>
                </a:gridCol>
                <a:gridCol w="2963976">
                  <a:extLst>
                    <a:ext uri="{9D8B030D-6E8A-4147-A177-3AD203B41FA5}">
                      <a16:colId xmlns:a16="http://schemas.microsoft.com/office/drawing/2014/main" val="2690181536"/>
                    </a:ext>
                  </a:extLst>
                </a:gridCol>
                <a:gridCol w="2639792">
                  <a:extLst>
                    <a:ext uri="{9D8B030D-6E8A-4147-A177-3AD203B41FA5}">
                      <a16:colId xmlns:a16="http://schemas.microsoft.com/office/drawing/2014/main" val="4138872822"/>
                    </a:ext>
                  </a:extLst>
                </a:gridCol>
              </a:tblGrid>
              <a:tr h="386854">
                <a:tc>
                  <a:txBody>
                    <a:bodyPr/>
                    <a:lstStyle/>
                    <a:p>
                      <a:r>
                        <a:rPr lang="en-US" sz="1600" b="1" dirty="0">
                          <a:solidFill>
                            <a:srgbClr val="0A7E97"/>
                          </a:solidFill>
                          <a:latin typeface="Arial" panose="020B0604020202020204" pitchFamily="34" charset="0"/>
                          <a:cs typeface="Arial" panose="020B0604020202020204" pitchFamily="34" charset="0"/>
                        </a:rPr>
                        <a:t>WORDS</a:t>
                      </a: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r>
                        <a:rPr lang="en-US" sz="1400" b="1" dirty="0">
                          <a:solidFill>
                            <a:srgbClr val="0A7E97"/>
                          </a:solidFill>
                          <a:latin typeface="Arial" panose="020B0604020202020204" pitchFamily="34" charset="0"/>
                          <a:cs typeface="Arial" panose="020B0604020202020204" pitchFamily="34" charset="0"/>
                        </a:rPr>
                        <a:t>EQUATIONS</a:t>
                      </a:r>
                      <a:endParaRPr lang="en-US" sz="1400" b="1" i="1"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r>
                        <a:rPr lang="en-US" sz="1400" b="1" dirty="0">
                          <a:solidFill>
                            <a:srgbClr val="0A7E97"/>
                          </a:solidFill>
                          <a:latin typeface="Arial" panose="020B0604020202020204" pitchFamily="34" charset="0"/>
                          <a:cs typeface="Arial" panose="020B0604020202020204" pitchFamily="34" charset="0"/>
                        </a:rPr>
                        <a:t>                  GRAPHS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extLst>
                  <a:ext uri="{0D108BD9-81ED-4DB2-BD59-A6C34878D82A}">
                    <a16:rowId xmlns:a16="http://schemas.microsoft.com/office/drawing/2014/main" val="3766605183"/>
                  </a:ext>
                </a:extLst>
              </a:tr>
              <a:tr h="140343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chemeClr val="tx1"/>
                          </a:solidFill>
                          <a:latin typeface="Arial" panose="020B0604020202020204" pitchFamily="34" charset="0"/>
                          <a:cs typeface="Arial" panose="020B0604020202020204" pitchFamily="34" charset="0"/>
                        </a:rPr>
                        <a:t>Reflection of </a:t>
                      </a:r>
                      <a:r>
                        <a:rPr lang="en-US" sz="1400" b="1" i="1" dirty="0">
                          <a:solidFill>
                            <a:schemeClr val="tx1"/>
                          </a:solidFill>
                          <a:latin typeface="Arial" panose="020B0604020202020204" pitchFamily="34" charset="0"/>
                          <a:cs typeface="Arial" panose="020B0604020202020204" pitchFamily="34" charset="0"/>
                        </a:rPr>
                        <a:t>f</a:t>
                      </a:r>
                      <a:r>
                        <a:rPr lang="en-US" sz="1400" b="1" dirty="0">
                          <a:solidFill>
                            <a:schemeClr val="tx1"/>
                          </a:solidFill>
                          <a:latin typeface="Arial" panose="020B0604020202020204" pitchFamily="34" charset="0"/>
                          <a:cs typeface="Arial" panose="020B0604020202020204" pitchFamily="34" charset="0"/>
                        </a:rPr>
                        <a:t> across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the </a:t>
                      </a:r>
                      <a:r>
                        <a:rPr lang="en-US" sz="1400" b="1" i="1" dirty="0">
                          <a:solidFill>
                            <a:schemeClr val="tx1"/>
                          </a:solidFill>
                          <a:latin typeface="Arial" panose="020B0604020202020204" pitchFamily="34" charset="0"/>
                          <a:cs typeface="Arial" panose="020B0604020202020204" pitchFamily="34" charset="0"/>
                        </a:rPr>
                        <a:t>x</a:t>
                      </a:r>
                      <a:r>
                        <a:rPr lang="en-US" sz="1400" b="1" dirty="0">
                          <a:solidFill>
                            <a:schemeClr val="tx1"/>
                          </a:solidFill>
                          <a:latin typeface="Arial" panose="020B0604020202020204" pitchFamily="34" charset="0"/>
                          <a:cs typeface="Arial" panose="020B0604020202020204" pitchFamily="34" charset="0"/>
                        </a:rPr>
                        <a:t>-axis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(altering </a:t>
                      </a:r>
                      <a:r>
                        <a:rPr lang="en-US" sz="1400" b="1" i="1" dirty="0">
                          <a:solidFill>
                            <a:schemeClr val="tx1"/>
                          </a:solidFill>
                          <a:latin typeface="Arial" panose="020B0604020202020204" pitchFamily="34" charset="0"/>
                          <a:cs typeface="Arial" panose="020B0604020202020204" pitchFamily="34" charset="0"/>
                        </a:rPr>
                        <a:t>a</a:t>
                      </a:r>
                      <a:r>
                        <a:rPr lang="en-US" sz="1400" b="1" dirty="0">
                          <a:solidFill>
                            <a:schemeClr val="tx1"/>
                          </a:solidFill>
                          <a:latin typeface="Arial" panose="020B0604020202020204" pitchFamily="34" charset="0"/>
                          <a:cs typeface="Arial" panose="020B0604020202020204" pitchFamily="34" charset="0"/>
                        </a:rPr>
                        <a:t>)</a:t>
                      </a: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pPr>
                        <a:spcAft>
                          <a:spcPts val="600"/>
                        </a:spcAft>
                      </a:pPr>
                      <a:r>
                        <a:rPr lang="en-US" sz="1400" b="0" i="1" u="none" dirty="0">
                          <a:solidFill>
                            <a:schemeClr val="tx1"/>
                          </a:solidFill>
                          <a:latin typeface="Arial" panose="020B0604020202020204" pitchFamily="34" charset="0"/>
                          <a:cs typeface="Arial" panose="020B0604020202020204" pitchFamily="34" charset="0"/>
                        </a:rPr>
                        <a:t>g</a:t>
                      </a:r>
                      <a:r>
                        <a:rPr lang="en-US" sz="1400" b="0" i="0" u="none" dirty="0">
                          <a:solidFill>
                            <a:schemeClr val="tx1"/>
                          </a:solidFill>
                          <a:latin typeface="Arial" panose="020B0604020202020204" pitchFamily="34" charset="0"/>
                          <a:cs typeface="Arial" panose="020B0604020202020204" pitchFamily="34" charset="0"/>
                        </a:rPr>
                        <a:t>(</a:t>
                      </a:r>
                      <a:r>
                        <a:rPr lang="en-US" sz="1400" b="0" i="1" u="none" dirty="0">
                          <a:solidFill>
                            <a:schemeClr val="tx1"/>
                          </a:solidFill>
                          <a:latin typeface="Arial" panose="020B0604020202020204" pitchFamily="34" charset="0"/>
                          <a:cs typeface="Arial" panose="020B0604020202020204" pitchFamily="34" charset="0"/>
                        </a:rPr>
                        <a:t>x</a:t>
                      </a:r>
                      <a:r>
                        <a:rPr lang="en-US" sz="1400" b="0" i="0" u="none" dirty="0">
                          <a:solidFill>
                            <a:schemeClr val="tx1"/>
                          </a:solidFill>
                          <a:latin typeface="Arial" panose="020B0604020202020204" pitchFamily="34" charset="0"/>
                          <a:cs typeface="Arial" panose="020B0604020202020204" pitchFamily="34" charset="0"/>
                        </a:rPr>
                        <a:t>)</a:t>
                      </a:r>
                      <a:r>
                        <a:rPr lang="en-US" sz="1400" b="0" dirty="0">
                          <a:solidFill>
                            <a:schemeClr val="tx1"/>
                          </a:solidFill>
                          <a:latin typeface="Arial" panose="020B0604020202020204" pitchFamily="34" charset="0"/>
                          <a:cs typeface="Arial" panose="020B0604020202020204" pitchFamily="34" charset="0"/>
                        </a:rPr>
                        <a:t> = −</a:t>
                      </a:r>
                      <a:r>
                        <a:rPr lang="en-US" sz="1400" b="0" i="1" dirty="0">
                          <a:solidFill>
                            <a:schemeClr val="tx1"/>
                          </a:solidFill>
                          <a:latin typeface="Arial" panose="020B0604020202020204" pitchFamily="34" charset="0"/>
                          <a:cs typeface="Arial" panose="020B0604020202020204" pitchFamily="34" charset="0"/>
                        </a:rPr>
                        <a:t>f</a:t>
                      </a:r>
                      <a:r>
                        <a:rPr lang="en-US" sz="1400" b="0" i="0" dirty="0">
                          <a:solidFill>
                            <a:schemeClr val="tx1"/>
                          </a:solidFill>
                          <a:latin typeface="Arial" panose="020B0604020202020204" pitchFamily="34" charset="0"/>
                          <a:cs typeface="Arial" panose="020B0604020202020204" pitchFamily="34" charset="0"/>
                        </a:rPr>
                        <a:t>(</a:t>
                      </a:r>
                      <a:r>
                        <a:rPr lang="en-US" sz="1400" b="0" i="1" dirty="0">
                          <a:solidFill>
                            <a:schemeClr val="tx1"/>
                          </a:solidFill>
                          <a:latin typeface="Arial" panose="020B0604020202020204" pitchFamily="34" charset="0"/>
                          <a:cs typeface="Arial" panose="020B0604020202020204" pitchFamily="34" charset="0"/>
                        </a:rPr>
                        <a:t>x</a:t>
                      </a:r>
                      <a:r>
                        <a:rPr lang="en-US" sz="1400" b="0" i="0" dirty="0">
                          <a:solidFill>
                            <a:schemeClr val="tx1"/>
                          </a:solidFill>
                          <a:latin typeface="Arial" panose="020B0604020202020204" pitchFamily="34" charset="0"/>
                          <a:cs typeface="Arial" panose="020B0604020202020204" pitchFamily="34" charset="0"/>
                        </a:rPr>
                        <a:t>)</a:t>
                      </a:r>
                    </a:p>
                    <a:p>
                      <a:pPr>
                        <a:spcAft>
                          <a:spcPts val="600"/>
                        </a:spcAft>
                      </a:pPr>
                      <a:r>
                        <a:rPr lang="en-US" sz="1400" b="0" i="1" dirty="0">
                          <a:solidFill>
                            <a:srgbClr val="D92B30"/>
                          </a:solidFill>
                          <a:latin typeface="Arial" panose="020B0604020202020204" pitchFamily="34" charset="0"/>
                          <a:cs typeface="Arial" panose="020B0604020202020204" pitchFamily="34" charset="0"/>
                        </a:rPr>
                        <a:t>f</a:t>
                      </a:r>
                      <a:r>
                        <a:rPr lang="en-US" sz="1400" b="0" i="0" dirty="0">
                          <a:solidFill>
                            <a:srgbClr val="D92B30"/>
                          </a:solidFill>
                          <a:latin typeface="Arial" panose="020B0604020202020204" pitchFamily="34" charset="0"/>
                          <a:cs typeface="Arial" panose="020B0604020202020204" pitchFamily="34" charset="0"/>
                        </a:rPr>
                        <a:t>(</a:t>
                      </a:r>
                      <a:r>
                        <a:rPr lang="en-US" sz="1400" b="0" i="1" dirty="0">
                          <a:solidFill>
                            <a:srgbClr val="D92B30"/>
                          </a:solidFill>
                          <a:latin typeface="Arial" panose="020B0604020202020204" pitchFamily="34" charset="0"/>
                          <a:cs typeface="Arial" panose="020B0604020202020204" pitchFamily="34" charset="0"/>
                        </a:rPr>
                        <a:t>x</a:t>
                      </a:r>
                      <a:r>
                        <a:rPr lang="en-US" sz="1400" b="0" i="0" dirty="0">
                          <a:solidFill>
                            <a:srgbClr val="D92B30"/>
                          </a:solidFill>
                          <a:latin typeface="Arial" panose="020B0604020202020204" pitchFamily="34" charset="0"/>
                          <a:cs typeface="Arial" panose="020B0604020202020204" pitchFamily="34" charset="0"/>
                        </a:rPr>
                        <a:t>)</a:t>
                      </a:r>
                      <a:r>
                        <a:rPr lang="en-US" sz="1400" b="0" dirty="0">
                          <a:solidFill>
                            <a:srgbClr val="D92B30"/>
                          </a:solidFill>
                          <a:latin typeface="Arial" panose="020B0604020202020204" pitchFamily="34" charset="0"/>
                          <a:cs typeface="Arial" panose="020B0604020202020204" pitchFamily="34" charset="0"/>
                        </a:rPr>
                        <a:t> = </a:t>
                      </a:r>
                      <a:r>
                        <a:rPr lang="en-US" sz="1400" b="0" i="1" dirty="0">
                          <a:solidFill>
                            <a:srgbClr val="D92B30"/>
                          </a:solidFill>
                          <a:latin typeface="Arial" panose="020B0604020202020204" pitchFamily="34" charset="0"/>
                          <a:cs typeface="Arial" panose="020B0604020202020204" pitchFamily="34" charset="0"/>
                        </a:rPr>
                        <a:t>x</a:t>
                      </a:r>
                      <a:r>
                        <a:rPr lang="en-US" sz="1400" b="0" baseline="30000" dirty="0">
                          <a:solidFill>
                            <a:srgbClr val="D92B30"/>
                          </a:solidFill>
                          <a:latin typeface="Arial" panose="020B0604020202020204" pitchFamily="34" charset="0"/>
                          <a:cs typeface="Arial" panose="020B0604020202020204" pitchFamily="34" charset="0"/>
                        </a:rPr>
                        <a:t>2</a:t>
                      </a:r>
                      <a:r>
                        <a:rPr lang="en-US" sz="1400" b="0" dirty="0">
                          <a:solidFill>
                            <a:srgbClr val="D92B30"/>
                          </a:solidFill>
                          <a:latin typeface="Arial" panose="020B0604020202020204" pitchFamily="34" charset="0"/>
                          <a:cs typeface="Arial" panose="020B0604020202020204" pitchFamily="34" charset="0"/>
                        </a:rPr>
                        <a:t> + </a:t>
                      </a:r>
                      <a:r>
                        <a:rPr lang="en-US" sz="1400" b="0" i="1" dirty="0">
                          <a:solidFill>
                            <a:srgbClr val="D92B30"/>
                          </a:solidFill>
                          <a:latin typeface="Arial" panose="020B0604020202020204" pitchFamily="34" charset="0"/>
                          <a:cs typeface="Arial" panose="020B0604020202020204" pitchFamily="34" charset="0"/>
                        </a:rPr>
                        <a:t>x</a:t>
                      </a:r>
                    </a:p>
                    <a:p>
                      <a:pPr>
                        <a:spcAft>
                          <a:spcPts val="600"/>
                        </a:spcAft>
                      </a:pPr>
                      <a:r>
                        <a:rPr lang="en-US" sz="1400" b="0" dirty="0">
                          <a:solidFill>
                            <a:srgbClr val="256BB9"/>
                          </a:solidFill>
                          <a:latin typeface="Arial" panose="020B0604020202020204" pitchFamily="34" charset="0"/>
                          <a:cs typeface="Arial" panose="020B0604020202020204" pitchFamily="34" charset="0"/>
                        </a:rPr>
                        <a:t>−</a:t>
                      </a:r>
                      <a:r>
                        <a:rPr lang="en-US" sz="1400" b="0" i="1" dirty="0">
                          <a:solidFill>
                            <a:srgbClr val="256BB9"/>
                          </a:solidFill>
                          <a:latin typeface="Arial" panose="020B0604020202020204" pitchFamily="34" charset="0"/>
                          <a:cs typeface="Arial" panose="020B0604020202020204" pitchFamily="34" charset="0"/>
                        </a:rPr>
                        <a:t>f</a:t>
                      </a:r>
                      <a:r>
                        <a:rPr lang="en-US" sz="1400" b="0" i="0" dirty="0">
                          <a:solidFill>
                            <a:srgbClr val="256BB9"/>
                          </a:solidFill>
                          <a:latin typeface="Arial" panose="020B0604020202020204" pitchFamily="34" charset="0"/>
                          <a:cs typeface="Arial" panose="020B0604020202020204" pitchFamily="34" charset="0"/>
                        </a:rPr>
                        <a:t>(</a:t>
                      </a:r>
                      <a:r>
                        <a:rPr lang="en-US" sz="1400" b="0" i="1" dirty="0">
                          <a:solidFill>
                            <a:srgbClr val="256BB9"/>
                          </a:solidFill>
                          <a:latin typeface="Arial" panose="020B0604020202020204" pitchFamily="34" charset="0"/>
                          <a:cs typeface="Arial" panose="020B0604020202020204" pitchFamily="34" charset="0"/>
                        </a:rPr>
                        <a:t>x</a:t>
                      </a:r>
                      <a:r>
                        <a:rPr lang="en-US" sz="1400" b="0" i="0" dirty="0">
                          <a:solidFill>
                            <a:srgbClr val="256BB9"/>
                          </a:solidFill>
                          <a:latin typeface="Arial" panose="020B0604020202020204" pitchFamily="34" charset="0"/>
                          <a:cs typeface="Arial" panose="020B0604020202020204" pitchFamily="34" charset="0"/>
                        </a:rPr>
                        <a:t>)</a:t>
                      </a:r>
                      <a:r>
                        <a:rPr lang="en-US" sz="1400" b="0" dirty="0">
                          <a:solidFill>
                            <a:srgbClr val="256BB9"/>
                          </a:solidFill>
                          <a:latin typeface="Arial" panose="020B0604020202020204" pitchFamily="34" charset="0"/>
                          <a:cs typeface="Arial" panose="020B0604020202020204" pitchFamily="34" charset="0"/>
                        </a:rPr>
                        <a:t> = −</a:t>
                      </a:r>
                      <a:r>
                        <a:rPr lang="en-US" sz="1400" b="0" i="0" dirty="0">
                          <a:solidFill>
                            <a:srgbClr val="256BB9"/>
                          </a:solidFill>
                          <a:latin typeface="Arial" panose="020B0604020202020204" pitchFamily="34" charset="0"/>
                          <a:cs typeface="Arial" panose="020B0604020202020204" pitchFamily="34" charset="0"/>
                        </a:rPr>
                        <a:t>(</a:t>
                      </a:r>
                      <a:r>
                        <a:rPr lang="en-US" sz="1400" b="0" i="1" dirty="0">
                          <a:solidFill>
                            <a:srgbClr val="256BB9"/>
                          </a:solidFill>
                          <a:latin typeface="Arial" panose="020B0604020202020204" pitchFamily="34" charset="0"/>
                          <a:cs typeface="Arial" panose="020B0604020202020204" pitchFamily="34" charset="0"/>
                        </a:rPr>
                        <a:t>x</a:t>
                      </a:r>
                      <a:r>
                        <a:rPr lang="en-US" sz="1400" b="0" baseline="30000" dirty="0">
                          <a:solidFill>
                            <a:srgbClr val="256BB9"/>
                          </a:solidFill>
                          <a:latin typeface="Arial" panose="020B0604020202020204" pitchFamily="34" charset="0"/>
                          <a:cs typeface="Arial" panose="020B0604020202020204" pitchFamily="34" charset="0"/>
                        </a:rPr>
                        <a:t>2</a:t>
                      </a:r>
                      <a:r>
                        <a:rPr lang="en-US" sz="1400" b="0" dirty="0">
                          <a:solidFill>
                            <a:srgbClr val="256BB9"/>
                          </a:solidFill>
                          <a:latin typeface="Arial" panose="020B0604020202020204" pitchFamily="34" charset="0"/>
                          <a:cs typeface="Arial" panose="020B0604020202020204" pitchFamily="34" charset="0"/>
                        </a:rPr>
                        <a:t> + </a:t>
                      </a:r>
                      <a:r>
                        <a:rPr lang="en-US" sz="1400" b="0" i="1" dirty="0">
                          <a:solidFill>
                            <a:srgbClr val="256BB9"/>
                          </a:solidFill>
                          <a:latin typeface="Arial" panose="020B0604020202020204" pitchFamily="34" charset="0"/>
                          <a:cs typeface="Arial" panose="020B0604020202020204" pitchFamily="34" charset="0"/>
                        </a:rPr>
                        <a:t>x</a:t>
                      </a:r>
                      <a:r>
                        <a:rPr lang="en-US" sz="1400" b="0" i="0" dirty="0">
                          <a:solidFill>
                            <a:srgbClr val="256BB9"/>
                          </a:solidFill>
                          <a:latin typeface="Arial" panose="020B0604020202020204" pitchFamily="34" charset="0"/>
                          <a:cs typeface="Arial" panose="020B0604020202020204" pitchFamily="34" charset="0"/>
                        </a:rPr>
                        <a:t>)</a:t>
                      </a:r>
                      <a:r>
                        <a:rPr lang="en-US" sz="1400" b="0" dirty="0">
                          <a:solidFill>
                            <a:srgbClr val="256BB9"/>
                          </a:solidFill>
                          <a:latin typeface="Arial" panose="020B0604020202020204" pitchFamily="34" charset="0"/>
                          <a:cs typeface="Arial" panose="020B0604020202020204" pitchFamily="34" charset="0"/>
                        </a:rPr>
                        <a:t> = −</a:t>
                      </a:r>
                      <a:r>
                        <a:rPr lang="en-US" sz="1400" b="0" i="1" dirty="0">
                          <a:solidFill>
                            <a:srgbClr val="256BB9"/>
                          </a:solidFill>
                          <a:latin typeface="Arial" panose="020B0604020202020204" pitchFamily="34" charset="0"/>
                          <a:cs typeface="Arial" panose="020B0604020202020204" pitchFamily="34" charset="0"/>
                        </a:rPr>
                        <a:t>x</a:t>
                      </a:r>
                      <a:r>
                        <a:rPr lang="en-US" sz="1400" b="0" baseline="30000" dirty="0">
                          <a:solidFill>
                            <a:srgbClr val="256BB9"/>
                          </a:solidFill>
                          <a:latin typeface="Arial" panose="020B0604020202020204" pitchFamily="34" charset="0"/>
                          <a:cs typeface="Arial" panose="020B0604020202020204" pitchFamily="34" charset="0"/>
                        </a:rPr>
                        <a:t>2</a:t>
                      </a:r>
                      <a:r>
                        <a:rPr lang="en-US" sz="1400" b="0" dirty="0">
                          <a:solidFill>
                            <a:srgbClr val="256BB9"/>
                          </a:solidFill>
                          <a:latin typeface="Arial" panose="020B0604020202020204" pitchFamily="34" charset="0"/>
                          <a:cs typeface="Arial" panose="020B0604020202020204" pitchFamily="34" charset="0"/>
                        </a:rPr>
                        <a:t> − </a:t>
                      </a:r>
                      <a:r>
                        <a:rPr lang="en-US" sz="1400" b="0" i="1" dirty="0">
                          <a:solidFill>
                            <a:srgbClr val="256BB9"/>
                          </a:solidFill>
                          <a:latin typeface="Arial" panose="020B0604020202020204" pitchFamily="34" charset="0"/>
                          <a:cs typeface="Arial" panose="020B0604020202020204" pitchFamily="34" charset="0"/>
                        </a:rPr>
                        <a:t>x</a:t>
                      </a:r>
                      <a:r>
                        <a:rPr lang="en-US" sz="1400" b="0" dirty="0">
                          <a:solidFill>
                            <a:srgbClr val="256BB9"/>
                          </a:solidFill>
                          <a:latin typeface="Arial" panose="020B0604020202020204" pitchFamily="34" charset="0"/>
                          <a:cs typeface="Arial" panose="020B0604020202020204" pitchFamily="34" charset="0"/>
                        </a:rPr>
                        <a:t> </a:t>
                      </a: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extLst>
                  <a:ext uri="{0D108BD9-81ED-4DB2-BD59-A6C34878D82A}">
                    <a16:rowId xmlns:a16="http://schemas.microsoft.com/office/drawing/2014/main" val="10001"/>
                  </a:ext>
                </a:extLst>
              </a:tr>
              <a:tr h="140343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chemeClr val="tx1"/>
                          </a:solidFill>
                          <a:latin typeface="Arial" panose="020B0604020202020204" pitchFamily="34" charset="0"/>
                          <a:cs typeface="Arial" panose="020B0604020202020204" pitchFamily="34" charset="0"/>
                        </a:rPr>
                        <a:t>Reflection of </a:t>
                      </a:r>
                      <a:r>
                        <a:rPr lang="en-US" sz="1400" b="1" i="1" dirty="0">
                          <a:solidFill>
                            <a:schemeClr val="tx1"/>
                          </a:solidFill>
                          <a:latin typeface="Arial" panose="020B0604020202020204" pitchFamily="34" charset="0"/>
                          <a:cs typeface="Arial" panose="020B0604020202020204" pitchFamily="34" charset="0"/>
                        </a:rPr>
                        <a:t>f</a:t>
                      </a:r>
                      <a:r>
                        <a:rPr lang="en-US" sz="1400" b="1" dirty="0">
                          <a:solidFill>
                            <a:schemeClr val="tx1"/>
                          </a:solidFill>
                          <a:latin typeface="Arial" panose="020B0604020202020204" pitchFamily="34" charset="0"/>
                          <a:cs typeface="Arial" panose="020B0604020202020204" pitchFamily="34" charset="0"/>
                        </a:rPr>
                        <a:t> across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the </a:t>
                      </a:r>
                      <a:r>
                        <a:rPr lang="en-US" sz="1400" b="1" i="1" dirty="0">
                          <a:solidFill>
                            <a:schemeClr val="tx1"/>
                          </a:solidFill>
                          <a:latin typeface="Arial" panose="020B0604020202020204" pitchFamily="34" charset="0"/>
                          <a:cs typeface="Arial" panose="020B0604020202020204" pitchFamily="34" charset="0"/>
                        </a:rPr>
                        <a:t>y</a:t>
                      </a:r>
                      <a:r>
                        <a:rPr lang="en-US" sz="1400" b="1" dirty="0">
                          <a:solidFill>
                            <a:schemeClr val="tx1"/>
                          </a:solidFill>
                          <a:latin typeface="Arial" panose="020B0604020202020204" pitchFamily="34" charset="0"/>
                          <a:cs typeface="Arial" panose="020B0604020202020204" pitchFamily="34" charset="0"/>
                        </a:rPr>
                        <a:t>-axis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(altering </a:t>
                      </a:r>
                      <a:r>
                        <a:rPr lang="en-US" sz="1400" b="1" i="1" dirty="0">
                          <a:solidFill>
                            <a:schemeClr val="tx1"/>
                          </a:solidFill>
                          <a:latin typeface="Arial" panose="020B0604020202020204" pitchFamily="34" charset="0"/>
                          <a:cs typeface="Arial" panose="020B0604020202020204" pitchFamily="34" charset="0"/>
                        </a:rPr>
                        <a:t>b</a:t>
                      </a:r>
                      <a:r>
                        <a:rPr lang="en-US" sz="1400" b="1" dirty="0">
                          <a:solidFill>
                            <a:schemeClr val="tx1"/>
                          </a:solidFill>
                          <a:latin typeface="Arial" panose="020B0604020202020204" pitchFamily="34" charset="0"/>
                          <a:cs typeface="Arial" panose="020B0604020202020204" pitchFamily="34" charset="0"/>
                        </a:rPr>
                        <a:t>)</a:t>
                      </a: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pPr>
                        <a:spcAft>
                          <a:spcPts val="600"/>
                        </a:spcAft>
                      </a:pPr>
                      <a:r>
                        <a:rPr lang="en-US" sz="1400" b="0" i="1" dirty="0">
                          <a:solidFill>
                            <a:schemeClr val="tx1"/>
                          </a:solidFill>
                          <a:latin typeface="Arial" panose="020B0604020202020204" pitchFamily="34" charset="0"/>
                          <a:cs typeface="Arial" panose="020B0604020202020204" pitchFamily="34" charset="0"/>
                        </a:rPr>
                        <a:t>h</a:t>
                      </a:r>
                      <a:r>
                        <a:rPr lang="en-US" sz="1400" b="0" i="0" dirty="0">
                          <a:solidFill>
                            <a:schemeClr val="tx1"/>
                          </a:solidFill>
                          <a:latin typeface="Arial" panose="020B0604020202020204" pitchFamily="34" charset="0"/>
                          <a:cs typeface="Arial" panose="020B0604020202020204" pitchFamily="34" charset="0"/>
                        </a:rPr>
                        <a:t>(</a:t>
                      </a:r>
                      <a:r>
                        <a:rPr lang="en-US" sz="1400" b="0" i="1" dirty="0">
                          <a:solidFill>
                            <a:schemeClr val="tx1"/>
                          </a:solidFill>
                          <a:latin typeface="Arial" panose="020B0604020202020204" pitchFamily="34" charset="0"/>
                          <a:cs typeface="Arial" panose="020B0604020202020204" pitchFamily="34" charset="0"/>
                        </a:rPr>
                        <a:t>x</a:t>
                      </a:r>
                      <a:r>
                        <a:rPr lang="en-US" sz="1400" b="0" i="0" dirty="0">
                          <a:solidFill>
                            <a:schemeClr val="tx1"/>
                          </a:solidFill>
                          <a:latin typeface="Arial" panose="020B0604020202020204" pitchFamily="34" charset="0"/>
                          <a:cs typeface="Arial" panose="020B0604020202020204" pitchFamily="34" charset="0"/>
                        </a:rPr>
                        <a:t>)</a:t>
                      </a:r>
                      <a:r>
                        <a:rPr lang="en-US" sz="1400" b="0" dirty="0">
                          <a:solidFill>
                            <a:schemeClr val="tx1"/>
                          </a:solidFill>
                          <a:latin typeface="Arial" panose="020B0604020202020204" pitchFamily="34" charset="0"/>
                          <a:cs typeface="Arial" panose="020B0604020202020204" pitchFamily="34" charset="0"/>
                        </a:rPr>
                        <a:t> = </a:t>
                      </a:r>
                      <a:r>
                        <a:rPr lang="en-US" sz="1400" b="0" i="1" dirty="0">
                          <a:solidFill>
                            <a:schemeClr val="tx1"/>
                          </a:solidFill>
                          <a:latin typeface="Arial" panose="020B0604020202020204" pitchFamily="34" charset="0"/>
                          <a:cs typeface="Arial" panose="020B0604020202020204" pitchFamily="34" charset="0"/>
                        </a:rPr>
                        <a:t>f</a:t>
                      </a:r>
                      <a:r>
                        <a:rPr lang="en-US" sz="1400" b="0" i="0" dirty="0">
                          <a:solidFill>
                            <a:schemeClr val="tx1"/>
                          </a:solidFill>
                          <a:latin typeface="Arial" panose="020B0604020202020204" pitchFamily="34" charset="0"/>
                          <a:cs typeface="Arial" panose="020B0604020202020204" pitchFamily="34" charset="0"/>
                        </a:rPr>
                        <a:t>(</a:t>
                      </a:r>
                      <a:r>
                        <a:rPr lang="en-US" sz="1400" b="0" i="1" dirty="0">
                          <a:solidFill>
                            <a:schemeClr val="tx1"/>
                          </a:solidFill>
                          <a:latin typeface="Arial" panose="020B0604020202020204" pitchFamily="34" charset="0"/>
                          <a:cs typeface="Arial" panose="020B0604020202020204" pitchFamily="34" charset="0"/>
                        </a:rPr>
                        <a:t>−x</a:t>
                      </a:r>
                      <a:r>
                        <a:rPr lang="en-US" sz="1400" b="0" i="0" dirty="0">
                          <a:solidFill>
                            <a:schemeClr val="tx1"/>
                          </a:solidFill>
                          <a:latin typeface="Arial" panose="020B0604020202020204" pitchFamily="34" charset="0"/>
                          <a:cs typeface="Arial" panose="020B0604020202020204" pitchFamily="34" charset="0"/>
                        </a:rPr>
                        <a:t>)</a:t>
                      </a:r>
                    </a:p>
                    <a:p>
                      <a:pPr>
                        <a:spcAft>
                          <a:spcPts val="600"/>
                        </a:spcAft>
                      </a:pPr>
                      <a:r>
                        <a:rPr lang="en-US" sz="1400" b="0" i="1" dirty="0">
                          <a:solidFill>
                            <a:srgbClr val="D92B30"/>
                          </a:solidFill>
                          <a:latin typeface="Arial" panose="020B0604020202020204" pitchFamily="34" charset="0"/>
                          <a:cs typeface="Arial" panose="020B0604020202020204" pitchFamily="34" charset="0"/>
                        </a:rPr>
                        <a:t>f</a:t>
                      </a:r>
                      <a:r>
                        <a:rPr lang="en-US" sz="1400" b="0" i="0" dirty="0">
                          <a:solidFill>
                            <a:srgbClr val="D92B30"/>
                          </a:solidFill>
                          <a:latin typeface="Arial" panose="020B0604020202020204" pitchFamily="34" charset="0"/>
                          <a:cs typeface="Arial" panose="020B0604020202020204" pitchFamily="34" charset="0"/>
                        </a:rPr>
                        <a:t>(</a:t>
                      </a:r>
                      <a:r>
                        <a:rPr lang="en-US" sz="1400" b="0" i="1" dirty="0">
                          <a:solidFill>
                            <a:srgbClr val="D92B30"/>
                          </a:solidFill>
                          <a:latin typeface="Arial" panose="020B0604020202020204" pitchFamily="34" charset="0"/>
                          <a:cs typeface="Arial" panose="020B0604020202020204" pitchFamily="34" charset="0"/>
                        </a:rPr>
                        <a:t>x</a:t>
                      </a:r>
                      <a:r>
                        <a:rPr lang="en-US" sz="1400" b="0" i="0" dirty="0">
                          <a:solidFill>
                            <a:srgbClr val="D92B30"/>
                          </a:solidFill>
                          <a:latin typeface="Arial" panose="020B0604020202020204" pitchFamily="34" charset="0"/>
                          <a:cs typeface="Arial" panose="020B0604020202020204" pitchFamily="34" charset="0"/>
                        </a:rPr>
                        <a:t>)</a:t>
                      </a:r>
                      <a:r>
                        <a:rPr lang="en-US" sz="1400" b="0" dirty="0">
                          <a:solidFill>
                            <a:srgbClr val="D92B30"/>
                          </a:solidFill>
                          <a:latin typeface="Arial" panose="020B0604020202020204" pitchFamily="34" charset="0"/>
                          <a:cs typeface="Arial" panose="020B0604020202020204" pitchFamily="34" charset="0"/>
                        </a:rPr>
                        <a:t> = </a:t>
                      </a:r>
                      <a:r>
                        <a:rPr lang="en-US" sz="1400" b="0" i="1" dirty="0">
                          <a:solidFill>
                            <a:srgbClr val="D92B30"/>
                          </a:solidFill>
                          <a:latin typeface="Arial" panose="020B0604020202020204" pitchFamily="34" charset="0"/>
                          <a:cs typeface="Arial" panose="020B0604020202020204" pitchFamily="34" charset="0"/>
                        </a:rPr>
                        <a:t>x</a:t>
                      </a:r>
                      <a:r>
                        <a:rPr lang="en-US" sz="1400" b="0" baseline="30000" dirty="0">
                          <a:solidFill>
                            <a:srgbClr val="D92B30"/>
                          </a:solidFill>
                          <a:latin typeface="Arial" panose="020B0604020202020204" pitchFamily="34" charset="0"/>
                          <a:cs typeface="Arial" panose="020B0604020202020204" pitchFamily="34" charset="0"/>
                        </a:rPr>
                        <a:t>2</a:t>
                      </a:r>
                      <a:r>
                        <a:rPr lang="en-US" sz="1400" b="0" dirty="0">
                          <a:solidFill>
                            <a:srgbClr val="D92B30"/>
                          </a:solidFill>
                          <a:latin typeface="Arial" panose="020B0604020202020204" pitchFamily="34" charset="0"/>
                          <a:cs typeface="Arial" panose="020B0604020202020204" pitchFamily="34" charset="0"/>
                        </a:rPr>
                        <a:t> + </a:t>
                      </a:r>
                      <a:r>
                        <a:rPr lang="en-US" sz="1400" b="0" i="1" dirty="0">
                          <a:solidFill>
                            <a:srgbClr val="D92B30"/>
                          </a:solidFill>
                          <a:latin typeface="Arial" panose="020B0604020202020204" pitchFamily="34" charset="0"/>
                          <a:cs typeface="Arial" panose="020B0604020202020204" pitchFamily="34" charset="0"/>
                        </a:rPr>
                        <a:t>x</a:t>
                      </a:r>
                    </a:p>
                    <a:p>
                      <a:pPr>
                        <a:spcAft>
                          <a:spcPts val="600"/>
                        </a:spcAft>
                      </a:pPr>
                      <a:r>
                        <a:rPr lang="en-US" sz="1400" b="0" i="1" dirty="0">
                          <a:solidFill>
                            <a:srgbClr val="168446"/>
                          </a:solidFill>
                          <a:latin typeface="Arial" panose="020B0604020202020204" pitchFamily="34" charset="0"/>
                          <a:cs typeface="Arial" panose="020B0604020202020204" pitchFamily="34" charset="0"/>
                        </a:rPr>
                        <a:t>f</a:t>
                      </a:r>
                      <a:r>
                        <a:rPr lang="en-US" sz="1400" b="0" i="0" dirty="0">
                          <a:solidFill>
                            <a:srgbClr val="168446"/>
                          </a:solidFill>
                          <a:latin typeface="Arial" panose="020B0604020202020204" pitchFamily="34" charset="0"/>
                          <a:cs typeface="Arial" panose="020B0604020202020204" pitchFamily="34" charset="0"/>
                        </a:rPr>
                        <a:t>(</a:t>
                      </a:r>
                      <a:r>
                        <a:rPr lang="en-US" sz="1400" b="0" i="1" dirty="0">
                          <a:solidFill>
                            <a:srgbClr val="168446"/>
                          </a:solidFill>
                          <a:latin typeface="Arial" panose="020B0604020202020204" pitchFamily="34" charset="0"/>
                          <a:cs typeface="Arial" panose="020B0604020202020204" pitchFamily="34" charset="0"/>
                        </a:rPr>
                        <a:t>−x</a:t>
                      </a:r>
                      <a:r>
                        <a:rPr lang="en-US" sz="1400" b="0" i="0" dirty="0">
                          <a:solidFill>
                            <a:srgbClr val="168446"/>
                          </a:solidFill>
                          <a:latin typeface="Arial" panose="020B0604020202020204" pitchFamily="34" charset="0"/>
                          <a:cs typeface="Arial" panose="020B0604020202020204" pitchFamily="34" charset="0"/>
                        </a:rPr>
                        <a:t>)</a:t>
                      </a:r>
                      <a:r>
                        <a:rPr lang="en-US" sz="1400" b="0" dirty="0">
                          <a:solidFill>
                            <a:srgbClr val="168446"/>
                          </a:solidFill>
                          <a:latin typeface="Arial" panose="020B0604020202020204" pitchFamily="34" charset="0"/>
                          <a:cs typeface="Arial" panose="020B0604020202020204" pitchFamily="34" charset="0"/>
                        </a:rPr>
                        <a:t> = </a:t>
                      </a:r>
                      <a:r>
                        <a:rPr lang="en-US" sz="1400" b="0" i="0" dirty="0">
                          <a:solidFill>
                            <a:srgbClr val="168446"/>
                          </a:solidFill>
                          <a:latin typeface="Arial" panose="020B0604020202020204" pitchFamily="34" charset="0"/>
                          <a:cs typeface="Arial" panose="020B0604020202020204" pitchFamily="34" charset="0"/>
                        </a:rPr>
                        <a:t>(</a:t>
                      </a:r>
                      <a:r>
                        <a:rPr lang="en-US" sz="1400" b="0" i="1" dirty="0">
                          <a:solidFill>
                            <a:srgbClr val="168446"/>
                          </a:solidFill>
                          <a:latin typeface="Arial" panose="020B0604020202020204" pitchFamily="34" charset="0"/>
                          <a:cs typeface="Arial" panose="020B0604020202020204" pitchFamily="34" charset="0"/>
                        </a:rPr>
                        <a:t>−x</a:t>
                      </a:r>
                      <a:r>
                        <a:rPr lang="en-US" sz="1400" b="0" i="0" dirty="0">
                          <a:solidFill>
                            <a:srgbClr val="168446"/>
                          </a:solidFill>
                          <a:latin typeface="Arial" panose="020B0604020202020204" pitchFamily="34" charset="0"/>
                          <a:cs typeface="Arial" panose="020B0604020202020204" pitchFamily="34" charset="0"/>
                        </a:rPr>
                        <a:t>)</a:t>
                      </a:r>
                      <a:r>
                        <a:rPr lang="en-US" sz="1400" b="0" baseline="30000" dirty="0">
                          <a:solidFill>
                            <a:srgbClr val="168446"/>
                          </a:solidFill>
                          <a:latin typeface="Arial" panose="020B0604020202020204" pitchFamily="34" charset="0"/>
                          <a:cs typeface="Arial" panose="020B0604020202020204" pitchFamily="34" charset="0"/>
                        </a:rPr>
                        <a:t>2</a:t>
                      </a:r>
                      <a:r>
                        <a:rPr lang="en-US" sz="1400" b="0" dirty="0">
                          <a:solidFill>
                            <a:srgbClr val="168446"/>
                          </a:solidFill>
                          <a:latin typeface="Arial" panose="020B0604020202020204" pitchFamily="34" charset="0"/>
                          <a:cs typeface="Arial" panose="020B0604020202020204" pitchFamily="34" charset="0"/>
                        </a:rPr>
                        <a:t> + </a:t>
                      </a:r>
                      <a:r>
                        <a:rPr lang="en-US" sz="1400" b="0" i="0" dirty="0">
                          <a:solidFill>
                            <a:srgbClr val="168446"/>
                          </a:solidFill>
                          <a:latin typeface="Arial" panose="020B0604020202020204" pitchFamily="34" charset="0"/>
                          <a:cs typeface="Arial" panose="020B0604020202020204" pitchFamily="34" charset="0"/>
                        </a:rPr>
                        <a:t>(</a:t>
                      </a:r>
                      <a:r>
                        <a:rPr lang="en-US" sz="1400" b="0" i="1" dirty="0">
                          <a:solidFill>
                            <a:srgbClr val="168446"/>
                          </a:solidFill>
                          <a:latin typeface="Arial" panose="020B0604020202020204" pitchFamily="34" charset="0"/>
                          <a:cs typeface="Arial" panose="020B0604020202020204" pitchFamily="34" charset="0"/>
                        </a:rPr>
                        <a:t>−x</a:t>
                      </a:r>
                      <a:r>
                        <a:rPr lang="en-US" sz="1400" b="0" i="0" dirty="0">
                          <a:solidFill>
                            <a:srgbClr val="168446"/>
                          </a:solidFill>
                          <a:latin typeface="Arial" panose="020B0604020202020204" pitchFamily="34" charset="0"/>
                          <a:cs typeface="Arial" panose="020B0604020202020204" pitchFamily="34" charset="0"/>
                        </a:rPr>
                        <a:t>)</a:t>
                      </a:r>
                      <a:r>
                        <a:rPr lang="en-US" sz="1400" b="0" dirty="0">
                          <a:solidFill>
                            <a:srgbClr val="168446"/>
                          </a:solidFill>
                          <a:latin typeface="Arial" panose="020B0604020202020204" pitchFamily="34" charset="0"/>
                          <a:cs typeface="Arial" panose="020B0604020202020204" pitchFamily="34" charset="0"/>
                        </a:rPr>
                        <a:t> = </a:t>
                      </a:r>
                      <a:r>
                        <a:rPr lang="en-US" sz="1400" b="0" i="1" dirty="0">
                          <a:solidFill>
                            <a:srgbClr val="168446"/>
                          </a:solidFill>
                          <a:latin typeface="Arial" panose="020B0604020202020204" pitchFamily="34" charset="0"/>
                          <a:cs typeface="Arial" panose="020B0604020202020204" pitchFamily="34" charset="0"/>
                        </a:rPr>
                        <a:t>x</a:t>
                      </a:r>
                      <a:r>
                        <a:rPr lang="en-US" sz="1400" b="0" baseline="30000" dirty="0">
                          <a:solidFill>
                            <a:srgbClr val="168446"/>
                          </a:solidFill>
                          <a:latin typeface="Arial" panose="020B0604020202020204" pitchFamily="34" charset="0"/>
                          <a:cs typeface="Arial" panose="020B0604020202020204" pitchFamily="34" charset="0"/>
                        </a:rPr>
                        <a:t>2</a:t>
                      </a:r>
                      <a:r>
                        <a:rPr lang="en-US" sz="1400" b="0" dirty="0">
                          <a:solidFill>
                            <a:srgbClr val="168446"/>
                          </a:solidFill>
                          <a:latin typeface="Arial" panose="020B0604020202020204" pitchFamily="34" charset="0"/>
                          <a:cs typeface="Arial" panose="020B0604020202020204" pitchFamily="34" charset="0"/>
                        </a:rPr>
                        <a:t> − </a:t>
                      </a:r>
                      <a:r>
                        <a:rPr lang="en-US" sz="1400" b="0" i="1" dirty="0">
                          <a:solidFill>
                            <a:srgbClr val="168446"/>
                          </a:solidFill>
                          <a:latin typeface="Arial" panose="020B0604020202020204" pitchFamily="34" charset="0"/>
                          <a:cs typeface="Arial" panose="020B0604020202020204" pitchFamily="34" charset="0"/>
                        </a:rPr>
                        <a:t>x</a:t>
                      </a:r>
                      <a:r>
                        <a:rPr lang="en-US" sz="1400" b="0" dirty="0">
                          <a:solidFill>
                            <a:srgbClr val="168446"/>
                          </a:solidFill>
                          <a:latin typeface="Arial" panose="020B0604020202020204" pitchFamily="34" charset="0"/>
                          <a:cs typeface="Arial" panose="020B0604020202020204" pitchFamily="34" charset="0"/>
                        </a:rPr>
                        <a:t> </a:t>
                      </a: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endParaRPr lang="en-US" sz="20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extLst>
                  <a:ext uri="{0D108BD9-81ED-4DB2-BD59-A6C34878D82A}">
                    <a16:rowId xmlns:a16="http://schemas.microsoft.com/office/drawing/2014/main" val="355139273"/>
                  </a:ext>
                </a:extLst>
              </a:tr>
            </a:tbl>
          </a:graphicData>
        </a:graphic>
      </p:graphicFrame>
      <p:pic>
        <p:nvPicPr>
          <p:cNvPr id="6" name="Picture 5">
            <a:extLst>
              <a:ext uri="{FF2B5EF4-FFF2-40B4-BE49-F238E27FC236}">
                <a16:creationId xmlns:a16="http://schemas.microsoft.com/office/drawing/2014/main" id="{48B20682-15A8-09AD-DE22-2835A14BE427}"/>
              </a:ext>
            </a:extLst>
          </p:cNvPr>
          <p:cNvPicPr>
            <a:picLocks noChangeAspect="1"/>
          </p:cNvPicPr>
          <p:nvPr/>
        </p:nvPicPr>
        <p:blipFill>
          <a:blip r:embed="rId3"/>
          <a:stretch>
            <a:fillRect/>
          </a:stretch>
        </p:blipFill>
        <p:spPr>
          <a:xfrm>
            <a:off x="6537214" y="2343074"/>
            <a:ext cx="2154211" cy="2109586"/>
          </a:xfrm>
          <a:prstGeom prst="rect">
            <a:avLst/>
          </a:prstGeom>
        </p:spPr>
      </p:pic>
    </p:spTree>
    <p:extLst>
      <p:ext uri="{BB962C8B-B14F-4D97-AF65-F5344CB8AC3E}">
        <p14:creationId xmlns:p14="http://schemas.microsoft.com/office/powerpoint/2010/main" val="1285355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8" name="TextBox 7">
            <a:extLst>
              <a:ext uri="{FF2B5EF4-FFF2-40B4-BE49-F238E27FC236}">
                <a16:creationId xmlns:a16="http://schemas.microsoft.com/office/drawing/2014/main" id="{E2AF600D-6F8E-AF4F-9F8A-7A6BE3BFBF7F}"/>
              </a:ext>
            </a:extLst>
          </p:cNvPr>
          <p:cNvSpPr txBox="1"/>
          <p:nvPr/>
        </p:nvSpPr>
        <p:spPr>
          <a:xfrm>
            <a:off x="355758" y="351588"/>
            <a:ext cx="8534242" cy="1231106"/>
          </a:xfrm>
          <a:prstGeom prst="rect">
            <a:avLst/>
          </a:prstGeom>
          <a:noFill/>
        </p:spPr>
        <p:txBody>
          <a:bodyPr wrap="square" rIns="36000" rtlCol="0">
            <a:spAutoFit/>
          </a:bodyPr>
          <a:lstStyle/>
          <a:p>
            <a:pPr>
              <a:spcAft>
                <a:spcPts val="600"/>
              </a:spcAft>
            </a:pPr>
            <a:r>
              <a:rPr lang="en-IN" sz="1800" b="1" dirty="0">
                <a:solidFill>
                  <a:srgbClr val="137F97"/>
                </a:solidFill>
              </a:rPr>
              <a:t>CONCEPT SUMMARY</a:t>
            </a:r>
          </a:p>
          <a:p>
            <a:pPr>
              <a:spcAft>
                <a:spcPts val="600"/>
              </a:spcAft>
            </a:pPr>
            <a:r>
              <a:rPr lang="en-US" sz="1800" b="1" dirty="0">
                <a:solidFill>
                  <a:srgbClr val="58585A"/>
                </a:solidFill>
              </a:rPr>
              <a:t>Transformations of Functions</a:t>
            </a:r>
          </a:p>
          <a:p>
            <a:r>
              <a:rPr lang="en-US" dirty="0">
                <a:solidFill>
                  <a:schemeClr val="tx1"/>
                </a:solidFill>
              </a:rPr>
              <a:t>For a function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the graph of </a:t>
            </a:r>
            <a:r>
              <a:rPr lang="en-US" i="1" dirty="0">
                <a:solidFill>
                  <a:schemeClr val="tx1"/>
                </a:solidFill>
              </a:rPr>
              <a:t>f</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a</a:t>
            </a:r>
            <a:r>
              <a:rPr lang="en-IN" i="1" dirty="0">
                <a:solidFill>
                  <a:schemeClr val="tx1"/>
                </a:solidFill>
              </a:rPr>
              <a:t> •</a:t>
            </a:r>
            <a:r>
              <a:rPr lang="en-US" dirty="0">
                <a:solidFill>
                  <a:schemeClr val="tx1"/>
                </a:solidFill>
              </a:rPr>
              <a:t> </a:t>
            </a:r>
            <a:r>
              <a:rPr lang="en-US" i="1" dirty="0">
                <a:solidFill>
                  <a:schemeClr val="tx1"/>
                </a:solidFill>
              </a:rPr>
              <a:t>f</a:t>
            </a:r>
            <a:r>
              <a:rPr lang="en-US" dirty="0">
                <a:solidFill>
                  <a:schemeClr val="tx1"/>
                </a:solidFill>
              </a:rPr>
              <a:t> [</a:t>
            </a:r>
            <a:r>
              <a:rPr lang="en-US" i="1" dirty="0">
                <a:solidFill>
                  <a:schemeClr val="tx1"/>
                </a:solidFill>
              </a:rPr>
              <a:t>b</a:t>
            </a:r>
            <a:r>
              <a:rPr lang="en-US" dirty="0">
                <a:solidFill>
                  <a:schemeClr val="tx1"/>
                </a:solidFill>
              </a:rPr>
              <a:t>(</a:t>
            </a:r>
            <a:r>
              <a:rPr lang="en-US" i="1" dirty="0">
                <a:solidFill>
                  <a:schemeClr val="tx1"/>
                </a:solidFill>
              </a:rPr>
              <a:t>x</a:t>
            </a:r>
            <a:r>
              <a:rPr lang="en-US" dirty="0">
                <a:solidFill>
                  <a:schemeClr val="tx1"/>
                </a:solidFill>
              </a:rPr>
              <a:t> − </a:t>
            </a:r>
            <a:r>
              <a:rPr lang="en-US" i="1" dirty="0">
                <a:solidFill>
                  <a:schemeClr val="tx1"/>
                </a:solidFill>
              </a:rPr>
              <a:t>h</a:t>
            </a:r>
            <a:r>
              <a:rPr lang="en-US" dirty="0">
                <a:solidFill>
                  <a:schemeClr val="tx1"/>
                </a:solidFill>
              </a:rPr>
              <a:t>)] + </a:t>
            </a:r>
            <a:r>
              <a:rPr lang="en-US" i="1" dirty="0">
                <a:solidFill>
                  <a:schemeClr val="tx1"/>
                </a:solidFill>
              </a:rPr>
              <a:t>k</a:t>
            </a:r>
            <a:r>
              <a:rPr lang="en-US" dirty="0">
                <a:solidFill>
                  <a:schemeClr val="tx1"/>
                </a:solidFill>
              </a:rPr>
              <a:t> represents a transformation of the graph of that function by translation, reflection, or stretching.</a:t>
            </a:r>
            <a:endParaRPr lang="en-IN" dirty="0">
              <a:solidFill>
                <a:schemeClr val="tx1"/>
              </a:solidFill>
            </a:endParaRPr>
          </a:p>
        </p:txBody>
      </p:sp>
      <p:graphicFrame>
        <p:nvGraphicFramePr>
          <p:cNvPr id="2" name="Table 2">
            <a:extLst>
              <a:ext uri="{FF2B5EF4-FFF2-40B4-BE49-F238E27FC236}">
                <a16:creationId xmlns:a16="http://schemas.microsoft.com/office/drawing/2014/main" id="{4AC2A2CE-CAD1-E342-B645-7A414BACAF15}"/>
              </a:ext>
            </a:extLst>
          </p:cNvPr>
          <p:cNvGraphicFramePr>
            <a:graphicFrameLocks noGrp="1"/>
          </p:cNvGraphicFramePr>
          <p:nvPr>
            <p:extLst>
              <p:ext uri="{D42A27DB-BD31-4B8C-83A1-F6EECF244321}">
                <p14:modId xmlns:p14="http://schemas.microsoft.com/office/powerpoint/2010/main" val="918279315"/>
              </p:ext>
            </p:extLst>
          </p:nvPr>
        </p:nvGraphicFramePr>
        <p:xfrm>
          <a:off x="452575" y="1684890"/>
          <a:ext cx="8206515" cy="3227036"/>
        </p:xfrm>
        <a:graphic>
          <a:graphicData uri="http://schemas.openxmlformats.org/drawingml/2006/table">
            <a:tbl>
              <a:tblPr firstRow="1" bandRow="1">
                <a:tableStyleId>{5C22544A-7EE6-4342-B048-85BDC9FD1C3A}</a:tableStyleId>
              </a:tblPr>
              <a:tblGrid>
                <a:gridCol w="2602747">
                  <a:extLst>
                    <a:ext uri="{9D8B030D-6E8A-4147-A177-3AD203B41FA5}">
                      <a16:colId xmlns:a16="http://schemas.microsoft.com/office/drawing/2014/main" val="3077242538"/>
                    </a:ext>
                  </a:extLst>
                </a:gridCol>
                <a:gridCol w="2963976">
                  <a:extLst>
                    <a:ext uri="{9D8B030D-6E8A-4147-A177-3AD203B41FA5}">
                      <a16:colId xmlns:a16="http://schemas.microsoft.com/office/drawing/2014/main" val="2690181536"/>
                    </a:ext>
                  </a:extLst>
                </a:gridCol>
                <a:gridCol w="2639792">
                  <a:extLst>
                    <a:ext uri="{9D8B030D-6E8A-4147-A177-3AD203B41FA5}">
                      <a16:colId xmlns:a16="http://schemas.microsoft.com/office/drawing/2014/main" val="4138872822"/>
                    </a:ext>
                  </a:extLst>
                </a:gridCol>
              </a:tblGrid>
              <a:tr h="386854">
                <a:tc>
                  <a:txBody>
                    <a:bodyPr/>
                    <a:lstStyle/>
                    <a:p>
                      <a:r>
                        <a:rPr lang="en-US" sz="1600" b="1" dirty="0">
                          <a:solidFill>
                            <a:srgbClr val="0A7E97"/>
                          </a:solidFill>
                          <a:latin typeface="Arial" panose="020B0604020202020204" pitchFamily="34" charset="0"/>
                          <a:cs typeface="Arial" panose="020B0604020202020204" pitchFamily="34" charset="0"/>
                        </a:rPr>
                        <a:t>WORDS</a:t>
                      </a: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r>
                        <a:rPr lang="en-US" sz="1400" b="1" dirty="0">
                          <a:solidFill>
                            <a:srgbClr val="0A7E97"/>
                          </a:solidFill>
                          <a:latin typeface="Arial" panose="020B0604020202020204" pitchFamily="34" charset="0"/>
                          <a:cs typeface="Arial" panose="020B0604020202020204" pitchFamily="34" charset="0"/>
                        </a:rPr>
                        <a:t>EQUATIONS</a:t>
                      </a:r>
                      <a:endParaRPr lang="en-US" sz="1400" b="1" i="1"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r>
                        <a:rPr lang="en-US" sz="1400" b="1" dirty="0">
                          <a:solidFill>
                            <a:srgbClr val="0A7E97"/>
                          </a:solidFill>
                          <a:latin typeface="Arial" panose="020B0604020202020204" pitchFamily="34" charset="0"/>
                          <a:cs typeface="Arial" panose="020B0604020202020204" pitchFamily="34" charset="0"/>
                        </a:rPr>
                        <a:t>                  GRAPHS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extLst>
                  <a:ext uri="{0D108BD9-81ED-4DB2-BD59-A6C34878D82A}">
                    <a16:rowId xmlns:a16="http://schemas.microsoft.com/office/drawing/2014/main" val="3766605183"/>
                  </a:ext>
                </a:extLst>
              </a:tr>
              <a:tr h="135081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chemeClr val="tx1"/>
                          </a:solidFill>
                          <a:latin typeface="Arial" panose="020B0604020202020204" pitchFamily="34" charset="0"/>
                          <a:cs typeface="Arial" panose="020B0604020202020204" pitchFamily="34" charset="0"/>
                        </a:rPr>
                        <a:t>Horizontal stretch of </a:t>
                      </a:r>
                      <a:br>
                        <a:rPr lang="en-US" sz="1400" b="1" dirty="0">
                          <a:solidFill>
                            <a:schemeClr val="tx1"/>
                          </a:solidFill>
                          <a:latin typeface="Arial" panose="020B0604020202020204" pitchFamily="34" charset="0"/>
                          <a:cs typeface="Arial" panose="020B0604020202020204" pitchFamily="34" charset="0"/>
                        </a:rPr>
                      </a:br>
                      <a:r>
                        <a:rPr lang="en-US" sz="1400" b="1" i="1" dirty="0">
                          <a:solidFill>
                            <a:schemeClr val="tx1"/>
                          </a:solidFill>
                          <a:latin typeface="Arial" panose="020B0604020202020204" pitchFamily="34" charset="0"/>
                          <a:cs typeface="Arial" panose="020B0604020202020204" pitchFamily="34" charset="0"/>
                        </a:rPr>
                        <a:t>f</a:t>
                      </a:r>
                      <a:r>
                        <a:rPr lang="en-US" sz="1400" b="1" dirty="0">
                          <a:solidFill>
                            <a:schemeClr val="tx1"/>
                          </a:solidFill>
                          <a:latin typeface="Arial" panose="020B0604020202020204" pitchFamily="34" charset="0"/>
                          <a:cs typeface="Arial" panose="020B0604020202020204" pitchFamily="34" charset="0"/>
                        </a:rPr>
                        <a:t> by the factor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(altering </a:t>
                      </a:r>
                      <a:r>
                        <a:rPr lang="en-US" sz="1400" b="1" i="1" dirty="0">
                          <a:solidFill>
                            <a:schemeClr val="tx1"/>
                          </a:solidFill>
                          <a:latin typeface="Arial" panose="020B0604020202020204" pitchFamily="34" charset="0"/>
                          <a:cs typeface="Arial" panose="020B0604020202020204" pitchFamily="34" charset="0"/>
                        </a:rPr>
                        <a:t>b</a:t>
                      </a:r>
                      <a:r>
                        <a:rPr lang="en-US" sz="1400" b="1" dirty="0">
                          <a:solidFill>
                            <a:schemeClr val="tx1"/>
                          </a:solidFill>
                          <a:latin typeface="Arial" panose="020B0604020202020204" pitchFamily="34" charset="0"/>
                          <a:cs typeface="Arial" panose="020B0604020202020204" pitchFamily="34" charset="0"/>
                        </a:rPr>
                        <a:t>)</a:t>
                      </a: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endParaRPr lang="en-US" sz="1400" b="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tc>
                  <a:txBody>
                    <a:bodyPr/>
                    <a:lstStyle/>
                    <a:p>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ysDash"/>
                      <a:round/>
                      <a:headEnd type="none" w="med" len="med"/>
                      <a:tailEnd type="none" w="med" len="med"/>
                    </a:lnB>
                    <a:noFill/>
                  </a:tcPr>
                </a:tc>
                <a:extLst>
                  <a:ext uri="{0D108BD9-81ED-4DB2-BD59-A6C34878D82A}">
                    <a16:rowId xmlns:a16="http://schemas.microsoft.com/office/drawing/2014/main" val="3361553739"/>
                  </a:ext>
                </a:extLst>
              </a:tr>
              <a:tr h="148936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chemeClr val="tx1"/>
                          </a:solidFill>
                          <a:latin typeface="Arial" panose="020B0604020202020204" pitchFamily="34" charset="0"/>
                          <a:cs typeface="Arial" panose="020B0604020202020204" pitchFamily="34" charset="0"/>
                        </a:rPr>
                        <a:t>Vertical stretch of </a:t>
                      </a:r>
                      <a:r>
                        <a:rPr lang="en-US" sz="1400" b="1" i="1" dirty="0">
                          <a:solidFill>
                            <a:schemeClr val="tx1"/>
                          </a:solidFill>
                          <a:latin typeface="Arial" panose="020B0604020202020204" pitchFamily="34" charset="0"/>
                          <a:cs typeface="Arial" panose="020B0604020202020204" pitchFamily="34" charset="0"/>
                        </a:rPr>
                        <a:t>f</a:t>
                      </a:r>
                      <a:r>
                        <a:rPr lang="en-US" sz="1400" b="1" dirty="0">
                          <a:solidFill>
                            <a:schemeClr val="tx1"/>
                          </a:solidFill>
                          <a:latin typeface="Arial" panose="020B0604020202020204" pitchFamily="34" charset="0"/>
                          <a:cs typeface="Arial" panose="020B0604020202020204" pitchFamily="34" charset="0"/>
                        </a:rPr>
                        <a:t> by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the factor 2 </a:t>
                      </a:r>
                      <a:br>
                        <a:rPr lang="en-US" sz="1400" b="1" dirty="0">
                          <a:solidFill>
                            <a:schemeClr val="tx1"/>
                          </a:solidFill>
                          <a:latin typeface="Arial" panose="020B0604020202020204" pitchFamily="34" charset="0"/>
                          <a:cs typeface="Arial" panose="020B0604020202020204" pitchFamily="34" charset="0"/>
                        </a:rPr>
                      </a:br>
                      <a:r>
                        <a:rPr lang="en-US" sz="1400" b="1" dirty="0">
                          <a:solidFill>
                            <a:schemeClr val="tx1"/>
                          </a:solidFill>
                          <a:latin typeface="Arial" panose="020B0604020202020204" pitchFamily="34" charset="0"/>
                          <a:cs typeface="Arial" panose="020B0604020202020204" pitchFamily="34" charset="0"/>
                        </a:rPr>
                        <a:t>(altering </a:t>
                      </a:r>
                      <a:r>
                        <a:rPr lang="en-US" sz="1400" b="1" i="1" dirty="0">
                          <a:solidFill>
                            <a:schemeClr val="tx1"/>
                          </a:solidFill>
                          <a:latin typeface="Arial" panose="020B0604020202020204" pitchFamily="34" charset="0"/>
                          <a:cs typeface="Arial" panose="020B0604020202020204" pitchFamily="34" charset="0"/>
                        </a:rPr>
                        <a:t>a</a:t>
                      </a:r>
                      <a:r>
                        <a:rPr lang="en-US" sz="1400" b="1" dirty="0">
                          <a:solidFill>
                            <a:schemeClr val="tx1"/>
                          </a:solidFill>
                          <a:latin typeface="Arial" panose="020B0604020202020204" pitchFamily="34" charset="0"/>
                          <a:cs typeface="Arial" panose="020B0604020202020204" pitchFamily="34" charset="0"/>
                        </a:rPr>
                        <a:t>)</a:t>
                      </a:r>
                    </a:p>
                  </a:txBody>
                  <a:tcPr>
                    <a:lnL w="12700" cap="flat" cmpd="sng" algn="ctr">
                      <a:solidFill>
                        <a:srgbClr val="137F97"/>
                      </a:solidFill>
                      <a:prstDash val="solid"/>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olid"/>
                      <a:round/>
                      <a:headEnd type="none" w="med" len="med"/>
                      <a:tailEnd type="none" w="med" len="med"/>
                    </a:lnB>
                    <a:noFill/>
                  </a:tcPr>
                </a:tc>
                <a:tc>
                  <a:txBody>
                    <a:bodyPr/>
                    <a:lstStyle/>
                    <a:p>
                      <a:pPr>
                        <a:spcAft>
                          <a:spcPts val="600"/>
                        </a:spcAft>
                      </a:pPr>
                      <a:r>
                        <a:rPr lang="pt-BR" sz="1400" b="0" i="1" dirty="0">
                          <a:solidFill>
                            <a:schemeClr val="tx1"/>
                          </a:solidFill>
                          <a:latin typeface="Arial" panose="020B0604020202020204" pitchFamily="34" charset="0"/>
                          <a:cs typeface="Arial" panose="020B0604020202020204" pitchFamily="34" charset="0"/>
                        </a:rPr>
                        <a:t>h</a:t>
                      </a:r>
                      <a:r>
                        <a:rPr lang="pt-BR" sz="1400" b="0" i="0" dirty="0">
                          <a:solidFill>
                            <a:schemeClr val="tx1"/>
                          </a:solidFill>
                          <a:latin typeface="Arial" panose="020B0604020202020204" pitchFamily="34" charset="0"/>
                          <a:cs typeface="Arial" panose="020B0604020202020204" pitchFamily="34" charset="0"/>
                        </a:rPr>
                        <a:t>(</a:t>
                      </a:r>
                      <a:r>
                        <a:rPr lang="pt-BR" sz="1400" b="0" i="1" dirty="0">
                          <a:solidFill>
                            <a:schemeClr val="tx1"/>
                          </a:solidFill>
                          <a:latin typeface="Arial" panose="020B0604020202020204" pitchFamily="34" charset="0"/>
                          <a:cs typeface="Arial" panose="020B0604020202020204" pitchFamily="34" charset="0"/>
                        </a:rPr>
                        <a:t>x</a:t>
                      </a:r>
                      <a:r>
                        <a:rPr lang="pt-BR" sz="1400" b="0" i="0" dirty="0">
                          <a:solidFill>
                            <a:schemeClr val="tx1"/>
                          </a:solidFill>
                          <a:latin typeface="Arial" panose="020B0604020202020204" pitchFamily="34" charset="0"/>
                          <a:cs typeface="Arial" panose="020B0604020202020204" pitchFamily="34" charset="0"/>
                        </a:rPr>
                        <a:t>) = 2</a:t>
                      </a:r>
                      <a:r>
                        <a:rPr lang="pt-BR" sz="1400" b="0" i="1" dirty="0">
                          <a:solidFill>
                            <a:schemeClr val="tx1"/>
                          </a:solidFill>
                          <a:latin typeface="Arial" panose="020B0604020202020204" pitchFamily="34" charset="0"/>
                          <a:cs typeface="Arial" panose="020B0604020202020204" pitchFamily="34" charset="0"/>
                        </a:rPr>
                        <a:t>f</a:t>
                      </a:r>
                      <a:r>
                        <a:rPr lang="pt-BR" sz="1400" b="0" i="0" dirty="0">
                          <a:solidFill>
                            <a:schemeClr val="tx1"/>
                          </a:solidFill>
                          <a:latin typeface="Arial" panose="020B0604020202020204" pitchFamily="34" charset="0"/>
                          <a:cs typeface="Arial" panose="020B0604020202020204" pitchFamily="34" charset="0"/>
                        </a:rPr>
                        <a:t>(</a:t>
                      </a:r>
                      <a:r>
                        <a:rPr lang="pt-BR" sz="1400" b="0" i="1" dirty="0">
                          <a:solidFill>
                            <a:schemeClr val="tx1"/>
                          </a:solidFill>
                          <a:latin typeface="Arial" panose="020B0604020202020204" pitchFamily="34" charset="0"/>
                          <a:cs typeface="Arial" panose="020B0604020202020204" pitchFamily="34" charset="0"/>
                        </a:rPr>
                        <a:t>x</a:t>
                      </a:r>
                      <a:r>
                        <a:rPr lang="pt-BR" sz="1400" b="0" i="0" dirty="0">
                          <a:solidFill>
                            <a:schemeClr val="tx1"/>
                          </a:solidFill>
                          <a:latin typeface="Arial" panose="020B0604020202020204" pitchFamily="34" charset="0"/>
                          <a:cs typeface="Arial" panose="020B0604020202020204" pitchFamily="34" charset="0"/>
                        </a:rPr>
                        <a:t>)</a:t>
                      </a:r>
                    </a:p>
                    <a:p>
                      <a:pPr>
                        <a:spcAft>
                          <a:spcPts val="600"/>
                        </a:spcAft>
                      </a:pPr>
                      <a:r>
                        <a:rPr lang="pt-BR" sz="1400" b="0" i="1" dirty="0">
                          <a:solidFill>
                            <a:srgbClr val="D92B30"/>
                          </a:solidFill>
                          <a:latin typeface="Arial" panose="020B0604020202020204" pitchFamily="34" charset="0"/>
                          <a:cs typeface="Arial" panose="020B0604020202020204" pitchFamily="34" charset="0"/>
                        </a:rPr>
                        <a:t>f</a:t>
                      </a:r>
                      <a:r>
                        <a:rPr lang="pt-BR" sz="1400" b="0" i="0" dirty="0">
                          <a:solidFill>
                            <a:srgbClr val="D92B30"/>
                          </a:solidFill>
                          <a:latin typeface="Arial" panose="020B0604020202020204" pitchFamily="34" charset="0"/>
                          <a:cs typeface="Arial" panose="020B0604020202020204" pitchFamily="34" charset="0"/>
                        </a:rPr>
                        <a:t>(</a:t>
                      </a:r>
                      <a:r>
                        <a:rPr lang="pt-BR" sz="1400" b="0" i="1" dirty="0">
                          <a:solidFill>
                            <a:srgbClr val="D92B30"/>
                          </a:solidFill>
                          <a:latin typeface="Arial" panose="020B0604020202020204" pitchFamily="34" charset="0"/>
                          <a:cs typeface="Arial" panose="020B0604020202020204" pitchFamily="34" charset="0"/>
                        </a:rPr>
                        <a:t>x</a:t>
                      </a:r>
                      <a:r>
                        <a:rPr lang="pt-BR" sz="1400" b="0" i="0" dirty="0">
                          <a:solidFill>
                            <a:srgbClr val="D92B30"/>
                          </a:solidFill>
                          <a:latin typeface="Arial" panose="020B0604020202020204" pitchFamily="34" charset="0"/>
                          <a:cs typeface="Arial" panose="020B0604020202020204" pitchFamily="34" charset="0"/>
                        </a:rPr>
                        <a:t>) = </a:t>
                      </a:r>
                      <a:r>
                        <a:rPr lang="pt-BR" sz="1400" b="0" i="1" dirty="0">
                          <a:solidFill>
                            <a:srgbClr val="D92B30"/>
                          </a:solidFill>
                          <a:latin typeface="Arial" panose="020B0604020202020204" pitchFamily="34" charset="0"/>
                          <a:cs typeface="Arial" panose="020B0604020202020204" pitchFamily="34" charset="0"/>
                        </a:rPr>
                        <a:t>x</a:t>
                      </a:r>
                      <a:r>
                        <a:rPr lang="pt-BR" sz="1400" b="0" i="0" baseline="30000" dirty="0">
                          <a:solidFill>
                            <a:srgbClr val="D92B30"/>
                          </a:solidFill>
                          <a:latin typeface="Arial" panose="020B0604020202020204" pitchFamily="34" charset="0"/>
                          <a:cs typeface="Arial" panose="020B0604020202020204" pitchFamily="34" charset="0"/>
                        </a:rPr>
                        <a:t>2</a:t>
                      </a:r>
                      <a:r>
                        <a:rPr lang="pt-BR" sz="1400" b="0" i="0" dirty="0">
                          <a:solidFill>
                            <a:srgbClr val="D92B30"/>
                          </a:solidFill>
                          <a:latin typeface="Arial" panose="020B0604020202020204" pitchFamily="34" charset="0"/>
                          <a:cs typeface="Arial" panose="020B0604020202020204" pitchFamily="34" charset="0"/>
                        </a:rPr>
                        <a:t> + </a:t>
                      </a:r>
                      <a:r>
                        <a:rPr lang="pt-BR" sz="1400" b="0" i="1" dirty="0">
                          <a:solidFill>
                            <a:srgbClr val="D92B30"/>
                          </a:solidFill>
                          <a:latin typeface="Arial" panose="020B0604020202020204" pitchFamily="34" charset="0"/>
                          <a:cs typeface="Arial" panose="020B0604020202020204" pitchFamily="34" charset="0"/>
                        </a:rPr>
                        <a:t>x</a:t>
                      </a:r>
                    </a:p>
                    <a:p>
                      <a:pPr>
                        <a:spcAft>
                          <a:spcPts val="600"/>
                        </a:spcAft>
                      </a:pPr>
                      <a:r>
                        <a:rPr lang="pt-BR" sz="1400" b="0" i="0" dirty="0">
                          <a:solidFill>
                            <a:srgbClr val="168446"/>
                          </a:solidFill>
                          <a:latin typeface="Arial" panose="020B0604020202020204" pitchFamily="34" charset="0"/>
                          <a:cs typeface="Arial" panose="020B0604020202020204" pitchFamily="34" charset="0"/>
                        </a:rPr>
                        <a:t>2</a:t>
                      </a:r>
                      <a:r>
                        <a:rPr lang="pt-BR" sz="1400" b="0" i="1" dirty="0">
                          <a:solidFill>
                            <a:srgbClr val="168446"/>
                          </a:solidFill>
                          <a:latin typeface="Arial" panose="020B0604020202020204" pitchFamily="34" charset="0"/>
                          <a:cs typeface="Arial" panose="020B0604020202020204" pitchFamily="34" charset="0"/>
                        </a:rPr>
                        <a:t>f</a:t>
                      </a:r>
                      <a:r>
                        <a:rPr lang="pt-BR" sz="1400" b="0" i="0" dirty="0">
                          <a:solidFill>
                            <a:srgbClr val="168446"/>
                          </a:solidFill>
                          <a:latin typeface="Arial" panose="020B0604020202020204" pitchFamily="34" charset="0"/>
                          <a:cs typeface="Arial" panose="020B0604020202020204" pitchFamily="34" charset="0"/>
                        </a:rPr>
                        <a:t>(</a:t>
                      </a:r>
                      <a:r>
                        <a:rPr lang="pt-BR" sz="1400" b="0" i="1" dirty="0">
                          <a:solidFill>
                            <a:srgbClr val="168446"/>
                          </a:solidFill>
                          <a:latin typeface="Arial" panose="020B0604020202020204" pitchFamily="34" charset="0"/>
                          <a:cs typeface="Arial" panose="020B0604020202020204" pitchFamily="34" charset="0"/>
                        </a:rPr>
                        <a:t>x</a:t>
                      </a:r>
                      <a:r>
                        <a:rPr lang="pt-BR" sz="1400" b="0" i="0" dirty="0">
                          <a:solidFill>
                            <a:srgbClr val="168446"/>
                          </a:solidFill>
                          <a:latin typeface="Arial" panose="020B0604020202020204" pitchFamily="34" charset="0"/>
                          <a:cs typeface="Arial" panose="020B0604020202020204" pitchFamily="34" charset="0"/>
                        </a:rPr>
                        <a:t>) = 2(</a:t>
                      </a:r>
                      <a:r>
                        <a:rPr lang="pt-BR" sz="1400" b="0" i="1" dirty="0">
                          <a:solidFill>
                            <a:srgbClr val="168446"/>
                          </a:solidFill>
                          <a:latin typeface="Arial" panose="020B0604020202020204" pitchFamily="34" charset="0"/>
                          <a:cs typeface="Arial" panose="020B0604020202020204" pitchFamily="34" charset="0"/>
                        </a:rPr>
                        <a:t>x</a:t>
                      </a:r>
                      <a:r>
                        <a:rPr lang="pt-BR" sz="1400" b="0" i="0" baseline="30000" dirty="0">
                          <a:solidFill>
                            <a:srgbClr val="168446"/>
                          </a:solidFill>
                          <a:latin typeface="Arial" panose="020B0604020202020204" pitchFamily="34" charset="0"/>
                          <a:cs typeface="Arial" panose="020B0604020202020204" pitchFamily="34" charset="0"/>
                        </a:rPr>
                        <a:t>2</a:t>
                      </a:r>
                      <a:r>
                        <a:rPr lang="pt-BR" sz="1400" b="0" i="0" dirty="0">
                          <a:solidFill>
                            <a:srgbClr val="168446"/>
                          </a:solidFill>
                          <a:latin typeface="Arial" panose="020B0604020202020204" pitchFamily="34" charset="0"/>
                          <a:cs typeface="Arial" panose="020B0604020202020204" pitchFamily="34" charset="0"/>
                        </a:rPr>
                        <a:t> + </a:t>
                      </a:r>
                      <a:r>
                        <a:rPr lang="pt-BR" sz="1400" b="0" i="1" dirty="0">
                          <a:solidFill>
                            <a:srgbClr val="168446"/>
                          </a:solidFill>
                          <a:latin typeface="Arial" panose="020B0604020202020204" pitchFamily="34" charset="0"/>
                          <a:cs typeface="Arial" panose="020B0604020202020204" pitchFamily="34" charset="0"/>
                        </a:rPr>
                        <a:t>x</a:t>
                      </a:r>
                      <a:r>
                        <a:rPr lang="pt-BR" sz="1400" b="0" i="0" dirty="0">
                          <a:solidFill>
                            <a:srgbClr val="168446"/>
                          </a:solidFill>
                          <a:latin typeface="Arial" panose="020B0604020202020204" pitchFamily="34" charset="0"/>
                          <a:cs typeface="Arial" panose="020B0604020202020204" pitchFamily="34" charset="0"/>
                        </a:rPr>
                        <a:t>) = 2</a:t>
                      </a:r>
                      <a:r>
                        <a:rPr lang="pt-BR" sz="1400" b="0" i="1" dirty="0">
                          <a:solidFill>
                            <a:srgbClr val="168446"/>
                          </a:solidFill>
                          <a:latin typeface="Arial" panose="020B0604020202020204" pitchFamily="34" charset="0"/>
                          <a:cs typeface="Arial" panose="020B0604020202020204" pitchFamily="34" charset="0"/>
                        </a:rPr>
                        <a:t>x</a:t>
                      </a:r>
                      <a:r>
                        <a:rPr lang="pt-BR" sz="1400" b="0" i="0" baseline="30000" dirty="0">
                          <a:solidFill>
                            <a:srgbClr val="168446"/>
                          </a:solidFill>
                          <a:latin typeface="Arial" panose="020B0604020202020204" pitchFamily="34" charset="0"/>
                          <a:cs typeface="Arial" panose="020B0604020202020204" pitchFamily="34" charset="0"/>
                        </a:rPr>
                        <a:t>2</a:t>
                      </a:r>
                      <a:r>
                        <a:rPr lang="pt-BR" sz="1400" b="0" i="0" dirty="0">
                          <a:solidFill>
                            <a:srgbClr val="168446"/>
                          </a:solidFill>
                          <a:latin typeface="Arial" panose="020B0604020202020204" pitchFamily="34" charset="0"/>
                          <a:cs typeface="Arial" panose="020B0604020202020204" pitchFamily="34" charset="0"/>
                        </a:rPr>
                        <a:t> + 2</a:t>
                      </a:r>
                      <a:r>
                        <a:rPr lang="pt-BR" sz="1400" b="0" i="1" dirty="0">
                          <a:solidFill>
                            <a:srgbClr val="168446"/>
                          </a:solidFill>
                          <a:latin typeface="Arial" panose="020B0604020202020204" pitchFamily="34" charset="0"/>
                          <a:cs typeface="Arial" panose="020B0604020202020204" pitchFamily="34" charset="0"/>
                        </a:rPr>
                        <a:t>x</a:t>
                      </a:r>
                      <a:endParaRPr lang="en-US" sz="1400" b="0" i="1" dirty="0">
                        <a:solidFill>
                          <a:srgbClr val="168446"/>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olid"/>
                      <a:round/>
                      <a:headEnd type="none" w="med" len="med"/>
                      <a:tailEnd type="none" w="med" len="med"/>
                    </a:lnB>
                    <a:noFill/>
                  </a:tcPr>
                </a:tc>
                <a:tc>
                  <a:txBody>
                    <a:bodyPr/>
                    <a:lstStyle/>
                    <a:p>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noFill/>
                      <a:prstDash val="sysDash"/>
                      <a:round/>
                      <a:headEnd type="none" w="med" len="med"/>
                      <a:tailEnd type="none" w="med" len="med"/>
                    </a:lnL>
                    <a:lnR w="12700" cap="flat" cmpd="sng" algn="ctr">
                      <a:solidFill>
                        <a:srgbClr val="137F97"/>
                      </a:solidFill>
                      <a:prstDash val="solid"/>
                      <a:round/>
                      <a:headEnd type="none" w="med" len="med"/>
                      <a:tailEnd type="none" w="med" len="med"/>
                    </a:lnR>
                    <a:lnT w="12700" cap="flat" cmpd="sng" algn="ctr">
                      <a:solidFill>
                        <a:srgbClr val="137F97"/>
                      </a:solidFill>
                      <a:prstDash val="sysDash"/>
                      <a:round/>
                      <a:headEnd type="none" w="med" len="med"/>
                      <a:tailEnd type="none" w="med" len="med"/>
                    </a:lnT>
                    <a:lnB w="12700" cap="flat" cmpd="sng" algn="ctr">
                      <a:solidFill>
                        <a:srgbClr val="137F97"/>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pic>
        <p:nvPicPr>
          <p:cNvPr id="3" name="Picture 2">
            <a:extLst>
              <a:ext uri="{FF2B5EF4-FFF2-40B4-BE49-F238E27FC236}">
                <a16:creationId xmlns:a16="http://schemas.microsoft.com/office/drawing/2014/main" id="{B82FEDCD-5553-BFD2-1027-BD41D68CE558}"/>
              </a:ext>
            </a:extLst>
          </p:cNvPr>
          <p:cNvPicPr>
            <a:picLocks noChangeAspect="1"/>
          </p:cNvPicPr>
          <p:nvPr/>
        </p:nvPicPr>
        <p:blipFill>
          <a:blip r:embed="rId3"/>
          <a:stretch>
            <a:fillRect/>
          </a:stretch>
        </p:blipFill>
        <p:spPr>
          <a:xfrm>
            <a:off x="1725426" y="2333285"/>
            <a:ext cx="175044" cy="341335"/>
          </a:xfrm>
          <a:prstGeom prst="rect">
            <a:avLst/>
          </a:prstGeom>
        </p:spPr>
      </p:pic>
      <p:pic>
        <p:nvPicPr>
          <p:cNvPr id="10" name="Picture 9">
            <a:extLst>
              <a:ext uri="{FF2B5EF4-FFF2-40B4-BE49-F238E27FC236}">
                <a16:creationId xmlns:a16="http://schemas.microsoft.com/office/drawing/2014/main" id="{87B212EF-4709-DAA3-6F3B-CEB481C5BAFA}"/>
              </a:ext>
            </a:extLst>
          </p:cNvPr>
          <p:cNvPicPr>
            <a:picLocks noChangeAspect="1"/>
          </p:cNvPicPr>
          <p:nvPr/>
        </p:nvPicPr>
        <p:blipFill>
          <a:blip r:embed="rId4"/>
          <a:stretch>
            <a:fillRect/>
          </a:stretch>
        </p:blipFill>
        <p:spPr>
          <a:xfrm>
            <a:off x="3064823" y="2041698"/>
            <a:ext cx="2636982" cy="1294150"/>
          </a:xfrm>
          <a:prstGeom prst="rect">
            <a:avLst/>
          </a:prstGeom>
        </p:spPr>
      </p:pic>
      <p:pic>
        <p:nvPicPr>
          <p:cNvPr id="13" name="Picture 12">
            <a:extLst>
              <a:ext uri="{FF2B5EF4-FFF2-40B4-BE49-F238E27FC236}">
                <a16:creationId xmlns:a16="http://schemas.microsoft.com/office/drawing/2014/main" id="{741A394D-7D14-9308-ADB0-FFB6BF885797}"/>
              </a:ext>
            </a:extLst>
          </p:cNvPr>
          <p:cNvPicPr>
            <a:picLocks noChangeAspect="1"/>
          </p:cNvPicPr>
          <p:nvPr/>
        </p:nvPicPr>
        <p:blipFill>
          <a:blip r:embed="rId5"/>
          <a:stretch>
            <a:fillRect/>
          </a:stretch>
        </p:blipFill>
        <p:spPr>
          <a:xfrm>
            <a:off x="6479158" y="2350320"/>
            <a:ext cx="2154211" cy="2012220"/>
          </a:xfrm>
          <a:prstGeom prst="rect">
            <a:avLst/>
          </a:prstGeom>
        </p:spPr>
      </p:pic>
    </p:spTree>
    <p:extLst>
      <p:ext uri="{BB962C8B-B14F-4D97-AF65-F5344CB8AC3E}">
        <p14:creationId xmlns:p14="http://schemas.microsoft.com/office/powerpoint/2010/main" val="861332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0" name="TextBox 9">
            <a:extLst>
              <a:ext uri="{FF2B5EF4-FFF2-40B4-BE49-F238E27FC236}">
                <a16:creationId xmlns:a16="http://schemas.microsoft.com/office/drawing/2014/main" id="{5E033CF7-964E-904E-B8F6-4DC8B0D5C047}"/>
              </a:ext>
            </a:extLst>
          </p:cNvPr>
          <p:cNvSpPr txBox="1"/>
          <p:nvPr/>
        </p:nvSpPr>
        <p:spPr>
          <a:xfrm>
            <a:off x="353088" y="344265"/>
            <a:ext cx="8321209" cy="2477601"/>
          </a:xfrm>
          <a:prstGeom prst="rect">
            <a:avLst/>
          </a:prstGeom>
          <a:noFill/>
        </p:spPr>
        <p:txBody>
          <a:bodyPr wrap="square" rIns="36000" rtlCol="0">
            <a:spAutoFit/>
          </a:bodyPr>
          <a:lstStyle/>
          <a:p>
            <a:pPr>
              <a:spcAft>
                <a:spcPts val="600"/>
              </a:spcAft>
              <a:tabLst>
                <a:tab pos="2041525" algn="l"/>
              </a:tabLst>
            </a:pPr>
            <a:r>
              <a:rPr lang="en-IN" sz="1800" b="1" dirty="0">
                <a:solidFill>
                  <a:srgbClr val="C61938"/>
                </a:solidFill>
              </a:rPr>
              <a:t>Do You </a:t>
            </a:r>
            <a:r>
              <a:rPr lang="en-IN" sz="1800" b="1" cap="all" dirty="0">
                <a:solidFill>
                  <a:srgbClr val="C61938"/>
                </a:solidFill>
              </a:rPr>
              <a:t>Understand</a:t>
            </a:r>
            <a:r>
              <a:rPr lang="en-IN" sz="1800" b="1" dirty="0">
                <a:solidFill>
                  <a:srgbClr val="C61938"/>
                </a:solidFill>
              </a:rPr>
              <a:t>?</a:t>
            </a:r>
          </a:p>
          <a:p>
            <a:pPr marL="360000" indent="-360000">
              <a:spcAft>
                <a:spcPts val="1200"/>
              </a:spcAft>
              <a:buFont typeface="+mj-lt"/>
              <a:buAutoNum type="arabicPeriod"/>
            </a:pPr>
            <a:r>
              <a:rPr lang="en-US" sz="1600" b="1" dirty="0">
                <a:solidFill>
                  <a:schemeClr val="bg1"/>
                </a:solidFill>
                <a:highlight>
                  <a:srgbClr val="168446"/>
                </a:highlight>
              </a:rPr>
              <a:t> </a:t>
            </a:r>
            <a:r>
              <a:rPr lang="en-IN" sz="1600" b="1" dirty="0">
                <a:solidFill>
                  <a:schemeClr val="bg1"/>
                </a:solidFill>
                <a:highlight>
                  <a:srgbClr val="168446"/>
                </a:highlight>
              </a:rPr>
              <a:t> </a:t>
            </a:r>
            <a:r>
              <a:rPr lang="en-IN" sz="1600" b="1" cap="all" dirty="0">
                <a:solidFill>
                  <a:schemeClr val="bg1"/>
                </a:solidFill>
                <a:highlight>
                  <a:srgbClr val="168446"/>
                </a:highlight>
              </a:rPr>
              <a:t>Essential Question</a:t>
            </a:r>
            <a:r>
              <a:rPr lang="en-IN" sz="1600" b="1" dirty="0">
                <a:solidFill>
                  <a:schemeClr val="bg1"/>
                </a:solidFill>
                <a:highlight>
                  <a:srgbClr val="168446"/>
                </a:highlight>
              </a:rPr>
              <a:t> </a:t>
            </a:r>
            <a:r>
              <a:rPr lang="en-US" sz="1600" dirty="0"/>
              <a:t> How do the values </a:t>
            </a:r>
            <a:r>
              <a:rPr lang="en-US" sz="1600" i="1" dirty="0"/>
              <a:t>a, b, h,</a:t>
            </a:r>
            <a:r>
              <a:rPr lang="en-US" sz="1600" dirty="0"/>
              <a:t> and </a:t>
            </a:r>
            <a:r>
              <a:rPr lang="en-US" sz="1600" i="1" dirty="0"/>
              <a:t>k</a:t>
            </a:r>
            <a:r>
              <a:rPr lang="en-US" sz="1600" dirty="0"/>
              <a:t> in </a:t>
            </a:r>
            <a:r>
              <a:rPr lang="en-US" sz="1600" i="1" dirty="0"/>
              <a:t>a </a:t>
            </a:r>
            <a:r>
              <a:rPr lang="en-IN" sz="1600" i="1" dirty="0">
                <a:solidFill>
                  <a:schemeClr val="tx1"/>
                </a:solidFill>
              </a:rPr>
              <a:t>•</a:t>
            </a:r>
            <a:r>
              <a:rPr lang="en-US" sz="1600" i="1" dirty="0"/>
              <a:t> f</a:t>
            </a:r>
            <a:r>
              <a:rPr lang="en-US" sz="1600" dirty="0"/>
              <a:t>[</a:t>
            </a:r>
            <a:r>
              <a:rPr lang="en-US" sz="1600" i="1" dirty="0"/>
              <a:t>b</a:t>
            </a:r>
            <a:r>
              <a:rPr lang="en-US" sz="1600" dirty="0"/>
              <a:t>(</a:t>
            </a:r>
            <a:r>
              <a:rPr lang="en-US" sz="1600" i="1" dirty="0"/>
              <a:t>x</a:t>
            </a:r>
            <a:r>
              <a:rPr lang="en-US" sz="1600" dirty="0"/>
              <a:t> − </a:t>
            </a:r>
            <a:r>
              <a:rPr lang="en-US" sz="1600" i="1" dirty="0"/>
              <a:t>h</a:t>
            </a:r>
            <a:r>
              <a:rPr lang="en-US" sz="1600" dirty="0"/>
              <a:t>)] + </a:t>
            </a:r>
            <a:r>
              <a:rPr lang="en-US" sz="1600" i="1" dirty="0"/>
              <a:t>k</a:t>
            </a:r>
            <a:r>
              <a:rPr lang="en-US" sz="1600" dirty="0"/>
              <a:t> transform the graph of a parent function, </a:t>
            </a:r>
            <a:r>
              <a:rPr lang="en-US" sz="1600" i="1" dirty="0"/>
              <a:t>f(x)</a:t>
            </a:r>
            <a:r>
              <a:rPr lang="en-US" sz="1600" dirty="0"/>
              <a:t>?</a:t>
            </a:r>
            <a:endParaRPr lang="en-IN" sz="1600" dirty="0">
              <a:solidFill>
                <a:schemeClr val="tx1"/>
              </a:solidFill>
            </a:endParaRPr>
          </a:p>
          <a:p>
            <a:pPr marL="360000" indent="-360000">
              <a:spcAft>
                <a:spcPts val="1200"/>
              </a:spcAft>
              <a:buFont typeface="+mj-lt"/>
              <a:buAutoNum type="arabicPeriod"/>
            </a:pPr>
            <a:r>
              <a:rPr lang="en-IN" sz="1600" b="1" dirty="0">
                <a:solidFill>
                  <a:srgbClr val="C02B43"/>
                </a:solidFill>
              </a:rPr>
              <a:t>Reason </a:t>
            </a:r>
            <a:r>
              <a:rPr lang="en-US" sz="1600" dirty="0"/>
              <a:t>Do </a:t>
            </a:r>
            <a:r>
              <a:rPr lang="en-US" sz="1600" i="1" dirty="0"/>
              <a:t>k</a:t>
            </a:r>
            <a:r>
              <a:rPr lang="en-US" sz="1600" dirty="0"/>
              <a:t> and </a:t>
            </a:r>
            <a:r>
              <a:rPr lang="en-US" sz="1600" i="1" dirty="0"/>
              <a:t>h</a:t>
            </a:r>
            <a:r>
              <a:rPr lang="en-US" sz="1600" dirty="0"/>
              <a:t> affect the input or output for </a:t>
            </a:r>
            <a:r>
              <a:rPr lang="en-US" sz="1600" i="1" dirty="0"/>
              <a:t>g</a:t>
            </a:r>
            <a:r>
              <a:rPr lang="en-US" sz="1600" dirty="0"/>
              <a:t>(</a:t>
            </a:r>
            <a:r>
              <a:rPr lang="en-US" sz="1600" i="1" dirty="0"/>
              <a:t>x</a:t>
            </a:r>
            <a:r>
              <a:rPr lang="en-US" sz="1600" dirty="0"/>
              <a:t>) = </a:t>
            </a:r>
            <a:r>
              <a:rPr lang="en-US" sz="1600" i="1" dirty="0"/>
              <a:t>f</a:t>
            </a:r>
            <a:r>
              <a:rPr lang="en-US" sz="1600" dirty="0"/>
              <a:t>(</a:t>
            </a:r>
            <a:r>
              <a:rPr lang="en-US" sz="1600" i="1" dirty="0"/>
              <a:t>x</a:t>
            </a:r>
            <a:r>
              <a:rPr lang="en-US" sz="1600" dirty="0"/>
              <a:t>) + </a:t>
            </a:r>
            <a:r>
              <a:rPr lang="en-US" sz="1600" i="1" dirty="0"/>
              <a:t>k</a:t>
            </a:r>
            <a:r>
              <a:rPr lang="en-US" sz="1600" dirty="0"/>
              <a:t> and </a:t>
            </a:r>
            <a:r>
              <a:rPr lang="en-US" sz="1600" i="1" dirty="0"/>
              <a:t>g</a:t>
            </a:r>
            <a:r>
              <a:rPr lang="en-US" sz="1600" dirty="0"/>
              <a:t>(</a:t>
            </a:r>
            <a:r>
              <a:rPr lang="en-US" sz="1600" i="1" dirty="0"/>
              <a:t>x</a:t>
            </a:r>
            <a:r>
              <a:rPr lang="en-US" sz="1600" dirty="0"/>
              <a:t>) = </a:t>
            </a:r>
            <a:r>
              <a:rPr lang="en-US" sz="1600" i="1" dirty="0"/>
              <a:t>f</a:t>
            </a:r>
            <a:r>
              <a:rPr lang="en-US" sz="1600" dirty="0"/>
              <a:t>(</a:t>
            </a:r>
            <a:r>
              <a:rPr lang="en-US" sz="1600" i="1" dirty="0"/>
              <a:t>x</a:t>
            </a:r>
            <a:r>
              <a:rPr lang="en-US" sz="1600" dirty="0"/>
              <a:t> − </a:t>
            </a:r>
            <a:r>
              <a:rPr lang="en-US" sz="1600" i="1" dirty="0"/>
              <a:t>h</a:t>
            </a:r>
            <a:r>
              <a:rPr lang="en-US" sz="1600" dirty="0"/>
              <a:t>)? Explain. </a:t>
            </a:r>
          </a:p>
          <a:p>
            <a:pPr marL="360000" indent="-360000">
              <a:spcAft>
                <a:spcPts val="1200"/>
              </a:spcAft>
              <a:buFont typeface="+mj-lt"/>
              <a:buAutoNum type="arabicPeriod"/>
            </a:pPr>
            <a:r>
              <a:rPr lang="en-US" sz="1600" b="1" dirty="0">
                <a:solidFill>
                  <a:srgbClr val="C02B43"/>
                </a:solidFill>
              </a:rPr>
              <a:t>Error Analysis</a:t>
            </a:r>
            <a:r>
              <a:rPr lang="en-US" sz="1600" dirty="0"/>
              <a:t> Margo is comparing the functions </a:t>
            </a:r>
            <a:r>
              <a:rPr lang="en-US" sz="1600" i="1" dirty="0"/>
              <a:t>f</a:t>
            </a:r>
            <a:r>
              <a:rPr lang="en-US" sz="1600" dirty="0"/>
              <a:t>(</a:t>
            </a:r>
            <a:r>
              <a:rPr lang="en-US" sz="1600" i="1" dirty="0"/>
              <a:t>x</a:t>
            </a:r>
            <a:r>
              <a:rPr lang="en-US" sz="1600" dirty="0"/>
              <a:t>) = ∣</a:t>
            </a:r>
            <a:r>
              <a:rPr lang="en-US" sz="1600" i="1" dirty="0"/>
              <a:t>x</a:t>
            </a:r>
            <a:r>
              <a:rPr lang="en-US" sz="1600" dirty="0"/>
              <a:t>∣ and </a:t>
            </a:r>
            <a:r>
              <a:rPr lang="en-US" sz="1600" i="1" dirty="0"/>
              <a:t>g</a:t>
            </a:r>
            <a:r>
              <a:rPr lang="en-US" sz="1600" dirty="0"/>
              <a:t>(</a:t>
            </a:r>
            <a:r>
              <a:rPr lang="en-US" sz="1600" i="1" dirty="0"/>
              <a:t>x</a:t>
            </a:r>
            <a:r>
              <a:rPr lang="en-US" sz="1600" dirty="0"/>
              <a:t>) = ∣</a:t>
            </a:r>
            <a:r>
              <a:rPr lang="en-US" sz="1600" i="1" dirty="0"/>
              <a:t>x</a:t>
            </a:r>
            <a:r>
              <a:rPr lang="en-US" sz="1600" dirty="0"/>
              <a:t> + 1∣ − 5. She said the graph of </a:t>
            </a:r>
            <a:r>
              <a:rPr lang="en-US" sz="1600" i="1" dirty="0"/>
              <a:t>g</a:t>
            </a:r>
            <a:r>
              <a:rPr lang="en-US" sz="1600" dirty="0"/>
              <a:t> is a vertical translation of the graph of </a:t>
            </a:r>
            <a:r>
              <a:rPr lang="en-US" sz="1600" i="1" dirty="0"/>
              <a:t>f</a:t>
            </a:r>
            <a:r>
              <a:rPr lang="en-US" sz="1600" dirty="0"/>
              <a:t> 5 units down and a horizontal translation of the graph of </a:t>
            </a:r>
            <a:r>
              <a:rPr lang="en-US" sz="1600" i="1" dirty="0"/>
              <a:t>f</a:t>
            </a:r>
            <a:r>
              <a:rPr lang="en-US" sz="1600" dirty="0"/>
              <a:t> 1 unit right. What is Margo’s error?</a:t>
            </a:r>
            <a:endParaRPr lang="en-IN" sz="1600" dirty="0">
              <a:solidFill>
                <a:schemeClr val="tx1"/>
              </a:solidFill>
            </a:endParaRPr>
          </a:p>
        </p:txBody>
      </p:sp>
    </p:spTree>
    <p:extLst>
      <p:ext uri="{BB962C8B-B14F-4D97-AF65-F5344CB8AC3E}">
        <p14:creationId xmlns:p14="http://schemas.microsoft.com/office/powerpoint/2010/main" val="1087053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0" name="TextBox 9">
            <a:extLst>
              <a:ext uri="{FF2B5EF4-FFF2-40B4-BE49-F238E27FC236}">
                <a16:creationId xmlns:a16="http://schemas.microsoft.com/office/drawing/2014/main" id="{5E033CF7-964E-904E-B8F6-4DC8B0D5C047}"/>
              </a:ext>
            </a:extLst>
          </p:cNvPr>
          <p:cNvSpPr txBox="1"/>
          <p:nvPr/>
        </p:nvSpPr>
        <p:spPr>
          <a:xfrm>
            <a:off x="355758" y="344265"/>
            <a:ext cx="8152975" cy="4462760"/>
          </a:xfrm>
          <a:prstGeom prst="rect">
            <a:avLst/>
          </a:prstGeom>
          <a:noFill/>
        </p:spPr>
        <p:txBody>
          <a:bodyPr wrap="square" rIns="36000" rtlCol="0">
            <a:spAutoFit/>
          </a:bodyPr>
          <a:lstStyle/>
          <a:p>
            <a:pPr>
              <a:spcAft>
                <a:spcPts val="600"/>
              </a:spcAft>
              <a:tabLst>
                <a:tab pos="2041525" algn="l"/>
              </a:tabLst>
            </a:pPr>
            <a:r>
              <a:rPr lang="en-IN" sz="1800" b="1" dirty="0">
                <a:solidFill>
                  <a:srgbClr val="C61938"/>
                </a:solidFill>
              </a:rPr>
              <a:t>Do You </a:t>
            </a:r>
            <a:r>
              <a:rPr lang="en-IN" sz="1800" b="1" cap="all" dirty="0">
                <a:solidFill>
                  <a:srgbClr val="C61938"/>
                </a:solidFill>
              </a:rPr>
              <a:t>Know How</a:t>
            </a:r>
            <a:r>
              <a:rPr lang="en-IN" sz="1800" b="1" dirty="0">
                <a:solidFill>
                  <a:srgbClr val="C61938"/>
                </a:solidFill>
              </a:rPr>
              <a:t>?</a:t>
            </a:r>
          </a:p>
          <a:p>
            <a:pPr>
              <a:spcAft>
                <a:spcPts val="600"/>
              </a:spcAft>
              <a:buClr>
                <a:srgbClr val="0078AE"/>
              </a:buClr>
              <a:tabLst>
                <a:tab pos="2041525" algn="l"/>
              </a:tabLst>
            </a:pPr>
            <a:r>
              <a:rPr lang="en-US" sz="1600" b="1" dirty="0"/>
              <a:t>Graph each function and its parent function.</a:t>
            </a:r>
          </a:p>
          <a:p>
            <a:pPr>
              <a:spcAft>
                <a:spcPts val="1200"/>
              </a:spcAft>
            </a:pPr>
            <a:r>
              <a:rPr lang="en-IN" sz="1600" b="1" dirty="0">
                <a:solidFill>
                  <a:schemeClr val="tx1"/>
                </a:solidFill>
              </a:rPr>
              <a:t>  4.   </a:t>
            </a:r>
            <a:r>
              <a:rPr lang="de-DE" sz="1600" i="1" dirty="0" err="1"/>
              <a:t>g</a:t>
            </a:r>
            <a:r>
              <a:rPr lang="de-DE" sz="1600" dirty="0"/>
              <a:t>(</a:t>
            </a:r>
            <a:r>
              <a:rPr lang="de-DE" sz="1600" i="1" dirty="0"/>
              <a:t>x</a:t>
            </a:r>
            <a:r>
              <a:rPr lang="de-DE" sz="1600" dirty="0"/>
              <a:t>) = ∣</a:t>
            </a:r>
            <a:r>
              <a:rPr lang="de-DE" sz="1600" i="1" dirty="0"/>
              <a:t>x</a:t>
            </a:r>
            <a:r>
              <a:rPr lang="de-DE" sz="1600" dirty="0"/>
              <a:t>∣ − 1</a:t>
            </a:r>
            <a:r>
              <a:rPr lang="en-US" sz="1600" dirty="0"/>
              <a:t> </a:t>
            </a:r>
            <a:r>
              <a:rPr lang="de-DE" sz="1600" dirty="0"/>
              <a:t> </a:t>
            </a:r>
          </a:p>
          <a:p>
            <a:pPr>
              <a:spcAft>
                <a:spcPts val="1200"/>
              </a:spcAft>
            </a:pPr>
            <a:r>
              <a:rPr lang="en-IN" sz="1600" b="1" dirty="0">
                <a:solidFill>
                  <a:schemeClr val="tx1"/>
                </a:solidFill>
              </a:rPr>
              <a:t>​​  5. </a:t>
            </a:r>
            <a:r>
              <a:rPr lang="en-IN" sz="1600" b="1" i="1" dirty="0">
                <a:solidFill>
                  <a:schemeClr val="tx1"/>
                </a:solidFill>
              </a:rPr>
              <a:t>  </a:t>
            </a:r>
            <a:r>
              <a:rPr lang="en-IN" sz="1600" i="1" dirty="0">
                <a:solidFill>
                  <a:schemeClr val="tx1"/>
                </a:solidFill>
              </a:rPr>
              <a:t>g(x)</a:t>
            </a:r>
            <a:r>
              <a:rPr lang="en-IN" sz="1600" dirty="0">
                <a:solidFill>
                  <a:schemeClr val="tx1"/>
                </a:solidFill>
              </a:rPr>
              <a:t> = </a:t>
            </a:r>
            <a:r>
              <a:rPr lang="en-IN" sz="1600" i="1" dirty="0">
                <a:solidFill>
                  <a:schemeClr val="tx1"/>
                </a:solidFill>
              </a:rPr>
              <a:t>(x </a:t>
            </a:r>
            <a:r>
              <a:rPr lang="en-IN" sz="1600" dirty="0">
                <a:solidFill>
                  <a:schemeClr val="tx1"/>
                </a:solidFill>
              </a:rPr>
              <a:t>− 3</a:t>
            </a:r>
            <a:r>
              <a:rPr lang="en-IN" sz="1600" i="1" dirty="0">
                <a:solidFill>
                  <a:schemeClr val="tx1"/>
                </a:solidFill>
              </a:rPr>
              <a:t>)</a:t>
            </a:r>
            <a:r>
              <a:rPr lang="en-IN" sz="1600" baseline="30000" dirty="0">
                <a:solidFill>
                  <a:schemeClr val="tx1"/>
                </a:solidFill>
              </a:rPr>
              <a:t>2</a:t>
            </a:r>
            <a:endParaRPr lang="de-DE" sz="1600" baseline="30000" dirty="0"/>
          </a:p>
          <a:p>
            <a:pPr>
              <a:spcAft>
                <a:spcPts val="1200"/>
              </a:spcAft>
            </a:pPr>
            <a:r>
              <a:rPr lang="en-IN" sz="1600" b="1" dirty="0">
                <a:solidFill>
                  <a:schemeClr val="tx1"/>
                </a:solidFill>
              </a:rPr>
              <a:t>​​  6.   </a:t>
            </a:r>
            <a:r>
              <a:rPr lang="de-DE" sz="1600" i="1" dirty="0" err="1"/>
              <a:t>g</a:t>
            </a:r>
            <a:r>
              <a:rPr lang="de-DE" sz="1600" dirty="0"/>
              <a:t>(</a:t>
            </a:r>
            <a:r>
              <a:rPr lang="de-DE" sz="1600" i="1" dirty="0"/>
              <a:t>x</a:t>
            </a:r>
            <a:r>
              <a:rPr lang="de-DE" sz="1600" dirty="0"/>
              <a:t>) = −∣</a:t>
            </a:r>
            <a:r>
              <a:rPr lang="de-DE" sz="1600" i="1" dirty="0"/>
              <a:t>x</a:t>
            </a:r>
            <a:r>
              <a:rPr lang="de-DE" sz="1600" dirty="0"/>
              <a:t>∣</a:t>
            </a:r>
            <a:r>
              <a:rPr lang="en-US" sz="1600" dirty="0"/>
              <a:t>  </a:t>
            </a:r>
            <a:endParaRPr lang="de-DE" sz="1600" dirty="0"/>
          </a:p>
          <a:p>
            <a:pPr>
              <a:spcAft>
                <a:spcPts val="1200"/>
              </a:spcAft>
            </a:pPr>
            <a:r>
              <a:rPr lang="en-IN" sz="1600" b="1" dirty="0">
                <a:solidFill>
                  <a:schemeClr val="tx1"/>
                </a:solidFill>
              </a:rPr>
              <a:t>​​  7.   </a:t>
            </a:r>
            <a:r>
              <a:rPr lang="de-DE" sz="1600" i="1" dirty="0" err="1"/>
              <a:t>g</a:t>
            </a:r>
            <a:r>
              <a:rPr lang="de-DE" sz="1600" dirty="0"/>
              <a:t>(</a:t>
            </a:r>
            <a:r>
              <a:rPr lang="de-DE" sz="1600" i="1" dirty="0"/>
              <a:t>x</a:t>
            </a:r>
            <a:r>
              <a:rPr lang="de-DE" sz="1600" dirty="0"/>
              <a:t>) = −</a:t>
            </a:r>
            <a:r>
              <a:rPr lang="de-DE" sz="1600" i="1" dirty="0"/>
              <a:t>x</a:t>
            </a:r>
            <a:r>
              <a:rPr lang="de-DE" sz="1600" dirty="0"/>
              <a:t> </a:t>
            </a:r>
          </a:p>
          <a:p>
            <a:pPr>
              <a:spcAft>
                <a:spcPts val="1200"/>
              </a:spcAft>
            </a:pPr>
            <a:r>
              <a:rPr lang="en-IN" sz="1600" b="1" dirty="0">
                <a:solidFill>
                  <a:schemeClr val="tx1"/>
                </a:solidFill>
              </a:rPr>
              <a:t>  8​. </a:t>
            </a:r>
            <a:r>
              <a:rPr lang="en-IN" sz="1600" b="1" i="1" dirty="0">
                <a:solidFill>
                  <a:schemeClr val="tx1"/>
                </a:solidFill>
              </a:rPr>
              <a:t>  </a:t>
            </a:r>
            <a:r>
              <a:rPr lang="en-IN" sz="1600" i="1" dirty="0">
                <a:solidFill>
                  <a:schemeClr val="tx1"/>
                </a:solidFill>
              </a:rPr>
              <a:t>g(x)</a:t>
            </a:r>
            <a:r>
              <a:rPr lang="en-IN" sz="1600" dirty="0">
                <a:solidFill>
                  <a:schemeClr val="tx1"/>
                </a:solidFill>
              </a:rPr>
              <a:t> = </a:t>
            </a:r>
            <a:r>
              <a:rPr lang="en-IN" sz="1600" i="1" dirty="0">
                <a:solidFill>
                  <a:schemeClr val="tx1"/>
                </a:solidFill>
              </a:rPr>
              <a:t>x</a:t>
            </a:r>
            <a:r>
              <a:rPr lang="en-IN" sz="1600" baseline="30000" dirty="0">
                <a:solidFill>
                  <a:schemeClr val="tx1"/>
                </a:solidFill>
              </a:rPr>
              <a:t>2</a:t>
            </a:r>
            <a:r>
              <a:rPr lang="en-IN" sz="1600" dirty="0">
                <a:solidFill>
                  <a:schemeClr val="tx1"/>
                </a:solidFill>
              </a:rPr>
              <a:t> − 2</a:t>
            </a:r>
            <a:endParaRPr lang="de-DE" sz="1600" dirty="0"/>
          </a:p>
          <a:p>
            <a:pPr>
              <a:spcAft>
                <a:spcPts val="1200"/>
              </a:spcAft>
            </a:pPr>
            <a:r>
              <a:rPr lang="en-IN" sz="1600" b="1" dirty="0">
                <a:solidFill>
                  <a:schemeClr val="tx1"/>
                </a:solidFill>
              </a:rPr>
              <a:t>  9​.</a:t>
            </a:r>
            <a:r>
              <a:rPr lang="en-IN" sz="1600" b="1" i="1" dirty="0">
                <a:solidFill>
                  <a:schemeClr val="tx1"/>
                </a:solidFill>
              </a:rPr>
              <a:t>   </a:t>
            </a:r>
            <a:r>
              <a:rPr lang="en-IN" sz="1600" i="1" dirty="0">
                <a:solidFill>
                  <a:schemeClr val="tx1"/>
                </a:solidFill>
              </a:rPr>
              <a:t>g(x)</a:t>
            </a:r>
            <a:r>
              <a:rPr lang="en-IN" sz="1600" dirty="0">
                <a:solidFill>
                  <a:schemeClr val="tx1"/>
                </a:solidFill>
              </a:rPr>
              <a:t> =   </a:t>
            </a:r>
            <a:r>
              <a:rPr lang="de-DE" sz="1600" dirty="0"/>
              <a:t>∣</a:t>
            </a:r>
            <a:r>
              <a:rPr lang="de-DE" sz="1600" i="1" dirty="0"/>
              <a:t>x</a:t>
            </a:r>
            <a:r>
              <a:rPr lang="de-DE" sz="1600" dirty="0"/>
              <a:t>∣</a:t>
            </a:r>
          </a:p>
          <a:p>
            <a:pPr>
              <a:spcAft>
                <a:spcPts val="1200"/>
              </a:spcAft>
            </a:pPr>
            <a:r>
              <a:rPr lang="en-IN" sz="1600" b="1" dirty="0">
                <a:solidFill>
                  <a:schemeClr val="tx1"/>
                </a:solidFill>
              </a:rPr>
              <a:t>10. ​ ​ </a:t>
            </a:r>
            <a:r>
              <a:rPr lang="de-DE" sz="1600" i="1" dirty="0" err="1"/>
              <a:t>g</a:t>
            </a:r>
            <a:r>
              <a:rPr lang="de-DE" sz="1600" dirty="0"/>
              <a:t>(</a:t>
            </a:r>
            <a:r>
              <a:rPr lang="de-DE" sz="1600" i="1" dirty="0"/>
              <a:t>x</a:t>
            </a:r>
            <a:r>
              <a:rPr lang="de-DE" sz="1600" dirty="0"/>
              <a:t>) = 4</a:t>
            </a:r>
            <a:r>
              <a:rPr lang="de-DE" sz="1600" i="1" dirty="0"/>
              <a:t>x</a:t>
            </a:r>
            <a:r>
              <a:rPr lang="en-US" sz="1600" dirty="0"/>
              <a:t>  </a:t>
            </a:r>
            <a:endParaRPr lang="de-DE" sz="1600" dirty="0"/>
          </a:p>
          <a:p>
            <a:pPr>
              <a:spcAft>
                <a:spcPts val="1200"/>
              </a:spcAft>
            </a:pPr>
            <a:r>
              <a:rPr lang="en-IN" sz="1600" b="1" dirty="0">
                <a:solidFill>
                  <a:schemeClr val="tx1"/>
                </a:solidFill>
              </a:rPr>
              <a:t>11. ​  </a:t>
            </a:r>
            <a:r>
              <a:rPr lang="de-DE" sz="1600" i="1" dirty="0" err="1"/>
              <a:t>g</a:t>
            </a:r>
            <a:r>
              <a:rPr lang="de-DE" sz="1600" dirty="0"/>
              <a:t>(</a:t>
            </a:r>
            <a:r>
              <a:rPr lang="de-DE" sz="1600" i="1" dirty="0"/>
              <a:t>x</a:t>
            </a:r>
            <a:r>
              <a:rPr lang="de-DE" sz="1600" dirty="0"/>
              <a:t>) = ∣5</a:t>
            </a:r>
            <a:r>
              <a:rPr lang="de-DE" sz="1600" i="1" dirty="0"/>
              <a:t>x</a:t>
            </a:r>
            <a:r>
              <a:rPr lang="de-DE" sz="1600" dirty="0"/>
              <a:t>∣ </a:t>
            </a:r>
          </a:p>
          <a:p>
            <a:pPr>
              <a:spcAft>
                <a:spcPts val="1200"/>
              </a:spcAft>
            </a:pPr>
            <a:r>
              <a:rPr lang="en-IN" sz="1600" b="1" dirty="0">
                <a:solidFill>
                  <a:schemeClr val="tx1"/>
                </a:solidFill>
              </a:rPr>
              <a:t>12.  ​ </a:t>
            </a:r>
            <a:r>
              <a:rPr lang="de-DE" sz="1600" dirty="0"/>
              <a:t>Which types of transformations in Exercises 4–11 do not change the shape of a</a:t>
            </a:r>
            <a:br>
              <a:rPr lang="de-DE" sz="1600" dirty="0"/>
            </a:br>
            <a:r>
              <a:rPr lang="de-DE" sz="1600" dirty="0"/>
              <a:t>        graph? </a:t>
            </a:r>
            <a:r>
              <a:rPr lang="de-DE" sz="1600" dirty="0" err="1"/>
              <a:t>Which</a:t>
            </a:r>
            <a:r>
              <a:rPr lang="de-DE" sz="1600" dirty="0"/>
              <a:t> </a:t>
            </a:r>
            <a:r>
              <a:rPr lang="de-DE" sz="1600" dirty="0" err="1"/>
              <a:t>types</a:t>
            </a:r>
            <a:r>
              <a:rPr lang="de-DE" sz="1600" dirty="0"/>
              <a:t> </a:t>
            </a:r>
            <a:r>
              <a:rPr lang="de-DE" sz="1600" dirty="0" err="1"/>
              <a:t>of</a:t>
            </a:r>
            <a:r>
              <a:rPr lang="de-DE" sz="1600" dirty="0"/>
              <a:t> </a:t>
            </a:r>
            <a:r>
              <a:rPr lang="de-DE" sz="1600" dirty="0" err="1"/>
              <a:t>transformations</a:t>
            </a:r>
            <a:r>
              <a:rPr lang="de-DE" sz="1600" dirty="0"/>
              <a:t> </a:t>
            </a:r>
            <a:r>
              <a:rPr lang="de-DE" sz="1600" dirty="0" err="1"/>
              <a:t>change</a:t>
            </a:r>
            <a:r>
              <a:rPr lang="de-DE" sz="1600" dirty="0"/>
              <a:t> </a:t>
            </a:r>
            <a:r>
              <a:rPr lang="de-DE" sz="1600" dirty="0" err="1"/>
              <a:t>the</a:t>
            </a:r>
            <a:r>
              <a:rPr lang="de-DE" sz="1600" dirty="0"/>
              <a:t> </a:t>
            </a:r>
            <a:r>
              <a:rPr lang="de-DE" sz="1600" dirty="0" err="1"/>
              <a:t>shape</a:t>
            </a:r>
            <a:r>
              <a:rPr lang="de-DE" sz="1600" dirty="0"/>
              <a:t> </a:t>
            </a:r>
            <a:r>
              <a:rPr lang="de-DE" sz="1600" dirty="0" err="1"/>
              <a:t>of</a:t>
            </a:r>
            <a:r>
              <a:rPr lang="de-DE" sz="1600" dirty="0"/>
              <a:t> a </a:t>
            </a:r>
            <a:r>
              <a:rPr lang="de-DE" sz="1600" dirty="0" err="1"/>
              <a:t>graph</a:t>
            </a:r>
            <a:r>
              <a:rPr lang="de-DE" sz="1600" dirty="0"/>
              <a:t>? </a:t>
            </a:r>
            <a:r>
              <a:rPr lang="de-DE" sz="1600" dirty="0" err="1"/>
              <a:t>Explain</a:t>
            </a:r>
            <a:r>
              <a:rPr lang="de-DE" sz="1600" dirty="0"/>
              <a:t>.</a:t>
            </a:r>
            <a:endParaRPr lang="en-IN" sz="1600" dirty="0">
              <a:solidFill>
                <a:schemeClr val="tx1"/>
              </a:solidFill>
            </a:endParaRPr>
          </a:p>
        </p:txBody>
      </p:sp>
      <p:sp>
        <p:nvSpPr>
          <p:cNvPr id="16" name="TextBox 15"/>
          <p:cNvSpPr txBox="1"/>
          <p:nvPr/>
        </p:nvSpPr>
        <p:spPr>
          <a:xfrm>
            <a:off x="5200316" y="-200526"/>
            <a:ext cx="184666" cy="307777"/>
          </a:xfrm>
          <a:prstGeom prst="rect">
            <a:avLst/>
          </a:prstGeom>
          <a:noFill/>
        </p:spPr>
        <p:txBody>
          <a:bodyPr wrap="none" rtlCol="0">
            <a:spAutoFit/>
          </a:bodyPr>
          <a:lstStyle/>
          <a:p>
            <a:endParaRPr lang="en-US"/>
          </a:p>
        </p:txBody>
      </p:sp>
      <p:pic>
        <p:nvPicPr>
          <p:cNvPr id="2" name="Picture 1">
            <a:extLst>
              <a:ext uri="{FF2B5EF4-FFF2-40B4-BE49-F238E27FC236}">
                <a16:creationId xmlns:a16="http://schemas.microsoft.com/office/drawing/2014/main" id="{B2A87526-57FC-B0DF-9606-DFDB898F7669}"/>
              </a:ext>
            </a:extLst>
          </p:cNvPr>
          <p:cNvPicPr>
            <a:picLocks noChangeAspect="1"/>
          </p:cNvPicPr>
          <p:nvPr/>
        </p:nvPicPr>
        <p:blipFill>
          <a:blip r:embed="rId3"/>
          <a:stretch>
            <a:fillRect/>
          </a:stretch>
        </p:blipFill>
        <p:spPr>
          <a:xfrm>
            <a:off x="1417671" y="3002922"/>
            <a:ext cx="192548" cy="375468"/>
          </a:xfrm>
          <a:prstGeom prst="rect">
            <a:avLst/>
          </a:prstGeom>
        </p:spPr>
      </p:pic>
    </p:spTree>
    <p:extLst>
      <p:ext uri="{BB962C8B-B14F-4D97-AF65-F5344CB8AC3E}">
        <p14:creationId xmlns:p14="http://schemas.microsoft.com/office/powerpoint/2010/main" val="1389967839"/>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6E777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2920</TotalTime>
  <Words>3270</Words>
  <Application>Microsoft Macintosh PowerPoint</Application>
  <PresentationFormat>On-screen Show (4:3)</PresentationFormat>
  <Paragraphs>267</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Hamilton, Thomas C</dc:creator>
  <cp:lastModifiedBy>Microsoft Office User</cp:lastModifiedBy>
  <cp:revision>450</cp:revision>
  <dcterms:created xsi:type="dcterms:W3CDTF">2021-10-25T14:33:33Z</dcterms:created>
  <dcterms:modified xsi:type="dcterms:W3CDTF">2022-11-09T03:09:58Z</dcterms:modified>
</cp:coreProperties>
</file>